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4A372D"/>
          </a:solidFill>
          <a:ln w="12700">
            <a:solidFill>
              <a:srgbClr val="4A37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37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БСБД • Slop-Bakery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2EA"/>
          </a:solidFill>
          <a:ln w="12700">
            <a:solidFill>
              <a:srgbClr val="F8F2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372D"/>
          </a:solidFill>
          <a:ln w="12700">
            <a:solidFill>
              <a:srgbClr val="4A372D"/>
            </a:solidFill>
            <a:prstDash val="solid"/>
          </a:ln>
        </p:spPr>
      </p:sp>
      <p:pic>
        <p:nvPicPr>
          <p:cNvPr id="4" name="Image 0" descr="/mnt/data/latest_report_media/image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759" y="1554480"/>
            <a:ext cx="1132202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65960" y="1627632"/>
            <a:ext cx="8595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4A372D"/>
                </a:solidFill>
              </a:rPr>
              <a:t>Разработка защищенной БД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4A372D"/>
                </a:solidFill>
              </a:rPr>
              <a:t>информационной системы «Хлебозавод»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993392" y="28895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5B53"/>
                </a:solidFill>
              </a:rPr>
              <a:t>Курсовая работа по дисциплине «Безопасность систем баз данных»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993392" y="388620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2240280" y="4169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372D"/>
                </a:solidFill>
              </a:rPr>
              <a:t>Slop-Bakery • PostgreSQL • FastAPI • Docker Compose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240280" y="44988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65B53"/>
                </a:solidFill>
              </a:rPr>
              <a:t>Е. Д. Девяткин, ИУ8-84 • Москва, 2026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4A372D"/>
                </a:solidFill>
              </a:rPr>
              <a:t>Требования задания и вопросы защиты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Проверка соответствия презентации методическим указаниям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2E7DA"/>
                </a:solidFill>
              </a:rPr>
              <a:t>Задание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94360" y="1600200"/>
            <a:ext cx="3429000" cy="4343400"/>
          </a:xfrm>
          <a:prstGeom prst="roundRect">
            <a:avLst>
              <a:gd name="adj" fmla="val 2133"/>
            </a:avLst>
          </a:prstGeom>
          <a:solidFill>
            <a:srgbClr val="FEFCF8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72D"/>
                </a:solidFill>
              </a:rPr>
              <a:t>В презентации обязательно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2743200" cy="2240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назначение БД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модели данных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ограничения целостности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запросы и отчёты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интерфейс и защита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43400" y="1600200"/>
            <a:ext cx="71780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18288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72D"/>
                </a:solidFill>
              </a:rPr>
              <a:t>Контрольные вопросы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617720" y="2331720"/>
            <a:ext cx="2880360" cy="530352"/>
          </a:xfrm>
          <a:prstGeom prst="roundRect">
            <a:avLst>
              <a:gd name="adj" fmla="val 6897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45973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A17"/>
                </a:solidFill>
              </a:rPr>
              <a:t>Какие задачи решают пользователи?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617720" y="3154680"/>
            <a:ext cx="2880360" cy="530352"/>
          </a:xfrm>
          <a:prstGeom prst="roundRect">
            <a:avLst>
              <a:gd name="adj" fmla="val 6897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28269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A17"/>
                </a:solidFill>
              </a:rPr>
              <a:t>Какая модель данных выбрана?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17720" y="3977640"/>
            <a:ext cx="2880360" cy="530352"/>
          </a:xfrm>
          <a:prstGeom prst="roundRect">
            <a:avLst>
              <a:gd name="adj" fmla="val 6897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410565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A17"/>
                </a:solidFill>
              </a:rPr>
              <a:t>Как структурируются сведения?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955280" y="2331720"/>
            <a:ext cx="2880360" cy="530352"/>
          </a:xfrm>
          <a:prstGeom prst="roundRect">
            <a:avLst>
              <a:gd name="adj" fmla="val 6897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92440" y="245973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A17"/>
                </a:solidFill>
              </a:rPr>
              <a:t>Какие запросы доступны?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955280" y="3154680"/>
            <a:ext cx="2880360" cy="530352"/>
          </a:xfrm>
          <a:prstGeom prst="roundRect">
            <a:avLst>
              <a:gd name="adj" fmla="val 6897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92440" y="328269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A17"/>
                </a:solidFill>
              </a:rPr>
              <a:t>Как ограничен доступ?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955280" y="3977640"/>
            <a:ext cx="2880360" cy="530352"/>
          </a:xfrm>
          <a:prstGeom prst="roundRect">
            <a:avLst>
              <a:gd name="adj" fmla="val 6897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92440" y="410565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A17"/>
                </a:solidFill>
              </a:rPr>
              <a:t>Какие средства защиты реализованы?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4A372D"/>
                </a:solidFill>
              </a:rPr>
              <a:t>Цель и задачи проекта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Защищённая база данных для автоматизации хлебозавода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2E7DA"/>
                </a:solidFill>
              </a:rPr>
              <a:t>Цель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94360" y="1554480"/>
            <a:ext cx="3749040" cy="4480560"/>
          </a:xfrm>
          <a:prstGeom prst="roundRect">
            <a:avLst>
              <a:gd name="adj" fmla="val 1951"/>
            </a:avLst>
          </a:prstGeom>
          <a:solidFill>
            <a:srgbClr val="4A372D"/>
          </a:solidFill>
          <a:ln w="12700">
            <a:solidFill>
              <a:srgbClr val="4A372D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874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Цель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2971800" cy="1143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Разработать систему Slop-Bakery с контролем доступа, целостности данных и бизнес-операций.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4069080"/>
            <a:ext cx="1463040" cy="347472"/>
          </a:xfrm>
          <a:prstGeom prst="roundRect">
            <a:avLst>
              <a:gd name="adj" fmla="val 18421"/>
            </a:avLst>
          </a:prstGeom>
          <a:solidFill>
            <a:srgbClr val="9A6B4F"/>
          </a:solidFill>
          <a:ln w="12700">
            <a:solidFill>
              <a:srgbClr val="9A6B4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87552" y="4142232"/>
            <a:ext cx="1316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Безопасность БД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606040" y="4069080"/>
            <a:ext cx="914400" cy="347472"/>
          </a:xfrm>
          <a:prstGeom prst="roundRect">
            <a:avLst>
              <a:gd name="adj" fmla="val 18421"/>
            </a:avLst>
          </a:prstGeom>
          <a:solidFill>
            <a:srgbClr val="9A6B4F"/>
          </a:solidFill>
          <a:ln w="12700">
            <a:solidFill>
              <a:srgbClr val="9A6B4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679192" y="4142232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Аудит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155448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EFCF8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8348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372D"/>
                </a:solidFill>
              </a:rPr>
              <a:t>Задачи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74920" y="2423160"/>
            <a:ext cx="5669280" cy="2468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t>• построить модели предметной области</a:t>
            </a:r>
          </a:p>
          <a:p>
            <a:r>
              <a:t>• реализовать PostgreSQL-схему</a:t>
            </a:r>
          </a:p>
          <a:p>
            <a:r>
              <a:t>• создать веб-интерфейс</a:t>
            </a:r>
          </a:p>
          <a:p>
            <a:r>
              <a:t>• настроить роли и права</a:t>
            </a:r>
          </a:p>
          <a:p>
            <a:r>
              <a:t>• ппроверить негативные сценарии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4A372D"/>
                </a:solidFill>
              </a:rPr>
              <a:t>Предметная область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Полный цикл движения сырья, продукции и документов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2E7DA"/>
                </a:solidFill>
              </a:rPr>
              <a:t>Анализ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1101852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pic>
        <p:nvPicPr>
          <p:cNvPr id="6" name="Image 0" descr="/mnt/data/latest_report_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1805" y="1618488"/>
            <a:ext cx="5223630" cy="18379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" y="384048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EFCF8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0690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372D"/>
                </a:solidFill>
              </a:rPr>
              <a:t>Поставки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4434840"/>
            <a:ext cx="246888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1A17"/>
                </a:solidFill>
              </a:rPr>
              <a:t>• поставщик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A17"/>
                </a:solidFill>
              </a:rPr>
              <a:t>• сырьё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A17"/>
                </a:solidFill>
              </a:rPr>
              <a:t>• приёмка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434840" y="384048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EFCF8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709160" y="40690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372D"/>
                </a:solidFill>
              </a:rPr>
              <a:t>Производство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709160" y="4434840"/>
            <a:ext cx="246888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1A17"/>
                </a:solidFill>
              </a:rPr>
              <a:t>• техкарта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A17"/>
                </a:solidFill>
              </a:rPr>
              <a:t>• партия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A17"/>
                </a:solidFill>
              </a:rPr>
              <a:t>• качество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75320" y="384048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EFCF8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549640" y="40690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372D"/>
                </a:solidFill>
              </a:rPr>
              <a:t>Реализация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549640" y="4434840"/>
            <a:ext cx="246888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1A17"/>
                </a:solidFill>
              </a:rPr>
              <a:t>• заказ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A17"/>
                </a:solidFill>
              </a:rPr>
              <a:t>• оплата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1A17"/>
                </a:solidFill>
              </a:rPr>
              <a:t>• отгрузка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4A372D"/>
                </a:solidFill>
              </a:rPr>
              <a:t>Роли пользователей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Интерфейс и действия разделены по зонам ответственности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2E7DA"/>
                </a:solidFill>
              </a:rPr>
              <a:t>Доступ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85800" y="1737360"/>
            <a:ext cx="1920240" cy="3474720"/>
          </a:xfrm>
          <a:prstGeom prst="roundRect">
            <a:avLst>
              <a:gd name="adj" fmla="val 3810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933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372D"/>
                </a:solidFill>
              </a:rPr>
              <a:t>admin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743200"/>
            <a:ext cx="1554480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1A17"/>
                </a:solidFill>
              </a:rPr>
              <a:t>пользователи • аудит • статусы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2468880"/>
            <a:ext cx="1280160" cy="0"/>
          </a:xfrm>
          <a:prstGeom prst="line">
            <a:avLst/>
          </a:prstGeom>
          <a:noFill/>
          <a:ln w="15240">
            <a:solidFill>
              <a:srgbClr val="9A6B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80" y="1737360"/>
            <a:ext cx="1920240" cy="34747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063240" y="19933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372D"/>
                </a:solidFill>
              </a:rPr>
              <a:t>client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108960" y="2743200"/>
            <a:ext cx="1554480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1A17"/>
                </a:solidFill>
              </a:rPr>
              <a:t>свои заказы • счета • отгрузки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46120" y="2468880"/>
            <a:ext cx="1280160" cy="0"/>
          </a:xfrm>
          <a:prstGeom prst="line">
            <a:avLst/>
          </a:prstGeom>
          <a:noFill/>
          <a:ln w="15240">
            <a:solidFill>
              <a:srgbClr val="9A6B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66360" y="1737360"/>
            <a:ext cx="1920240" cy="34747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03520" y="19933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372D"/>
                </a:solidFill>
              </a:rPr>
              <a:t>technologist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49240" y="2743200"/>
            <a:ext cx="1554480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1A17"/>
                </a:solidFill>
              </a:rPr>
              <a:t>техкарты • производство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0" y="2468880"/>
            <a:ext cx="1280160" cy="0"/>
          </a:xfrm>
          <a:prstGeom prst="line">
            <a:avLst/>
          </a:prstGeom>
          <a:noFill/>
          <a:ln w="15240">
            <a:solidFill>
              <a:srgbClr val="9A6B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06640" y="1737360"/>
            <a:ext cx="1920240" cy="34747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543800" y="19933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372D"/>
                </a:solidFill>
              </a:rPr>
              <a:t>warehouse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589520" y="2743200"/>
            <a:ext cx="1554480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1A17"/>
                </a:solidFill>
              </a:rPr>
              <a:t>поставки • склад • отгрузки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726680" y="2468880"/>
            <a:ext cx="1280160" cy="0"/>
          </a:xfrm>
          <a:prstGeom prst="line">
            <a:avLst/>
          </a:prstGeom>
          <a:noFill/>
          <a:ln w="15240">
            <a:solidFill>
              <a:srgbClr val="9A6B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46920" y="1737360"/>
            <a:ext cx="1920240" cy="34747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784080" y="19933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372D"/>
                </a:solidFill>
              </a:rPr>
              <a:t>quality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829800" y="2743200"/>
            <a:ext cx="1554480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1A17"/>
                </a:solidFill>
              </a:rPr>
              <a:t>проверки качества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966960" y="2468880"/>
            <a:ext cx="1280160" cy="0"/>
          </a:xfrm>
          <a:prstGeom prst="line">
            <a:avLst/>
          </a:prstGeom>
          <a:noFill/>
          <a:ln w="15240">
            <a:solidFill>
              <a:srgbClr val="9A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11680" y="57150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A372D"/>
                </a:solidFill>
              </a:rPr>
              <a:t>Проверяется не только раздел, но и конкретное действие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4A372D"/>
                </a:solidFill>
              </a:rPr>
              <a:t>Модель угроз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Защита от НСД, ошибок пользователя и нарушения целостности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2E7DA"/>
                </a:solidFill>
              </a:rPr>
              <a:t>Угрозы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154680" cy="420624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18745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372D"/>
                </a:solidFill>
              </a:rPr>
              <a:t>Внутренние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2697480"/>
            <a:ext cx="228600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превышение прав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прямые URL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подмена POST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444752" y="4617720"/>
            <a:ext cx="1874520" cy="347472"/>
          </a:xfrm>
          <a:prstGeom prst="roundRect">
            <a:avLst>
              <a:gd name="adj" fmla="val 18421"/>
            </a:avLst>
          </a:prstGeom>
          <a:solidFill>
            <a:srgbClr val="9A6B4F"/>
          </a:solidFill>
          <a:ln w="12700">
            <a:solidFill>
              <a:srgbClr val="9A6B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17904" y="4690872"/>
            <a:ext cx="1728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access control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26280" y="1600200"/>
            <a:ext cx="3154680" cy="4206240"/>
          </a:xfrm>
          <a:prstGeom prst="roundRect">
            <a:avLst>
              <a:gd name="adj" fmla="val 2319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18745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372D"/>
                </a:solidFill>
              </a:rPr>
              <a:t>Внешние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83480" y="2697480"/>
            <a:ext cx="228600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SQL-инъекции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подбор паролей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сканирование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148072" y="4617720"/>
            <a:ext cx="1874520" cy="347472"/>
          </a:xfrm>
          <a:prstGeom prst="roundRect">
            <a:avLst>
              <a:gd name="adj" fmla="val 18421"/>
            </a:avLst>
          </a:prstGeom>
          <a:solidFill>
            <a:srgbClr val="526B7E"/>
          </a:solidFill>
          <a:ln w="12700">
            <a:solidFill>
              <a:srgbClr val="526B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1224" y="4690872"/>
            <a:ext cx="1728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validation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0" y="1600200"/>
            <a:ext cx="3154680" cy="420624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58200" y="18745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372D"/>
                </a:solidFill>
              </a:rPr>
              <a:t>Целостность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686800" y="2697480"/>
            <a:ext cx="228600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ошибочные статусы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отрицательные остатки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дубли документов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851392" y="4617720"/>
            <a:ext cx="1874520" cy="347472"/>
          </a:xfrm>
          <a:prstGeom prst="roundRect">
            <a:avLst>
              <a:gd name="adj" fmla="val 18421"/>
            </a:avLst>
          </a:prstGeom>
          <a:solidFill>
            <a:srgbClr val="9A6B4F"/>
          </a:solidFill>
          <a:ln w="12700">
            <a:solidFill>
              <a:srgbClr val="9A6B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24544" y="4690872"/>
            <a:ext cx="1728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constraints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algn="l">
              <a:buNone/>
            </a:pPr>
            <a:r>
              <a:rPr sz="2400" b="0">
                <a:solidFill>
                  <a:srgbClr val="4A372D"/>
                </a:solidFill>
                <a:latin typeface="Arial"/>
              </a:rPr>
              <a:t>Инфологическая модель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algn="l">
              <a:buNone/>
            </a:pPr>
            <a:r>
              <a:rPr sz="1300" b="0">
                <a:solidFill>
                  <a:srgbClr val="665B53"/>
                </a:solidFill>
                <a:latin typeface="Arial"/>
              </a:rPr>
              <a:t>Схема предметной области описана через четыре связанных контура данных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sz="1200" b="1">
                <a:solidFill>
                  <a:srgbClr val="FFFFFF"/>
                </a:solidFill>
                <a:latin typeface="Arial"/>
              </a:rPr>
              <a:t>Модель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94360" y="1417320"/>
            <a:ext cx="4754880" cy="777240"/>
          </a:xfrm>
          <a:prstGeom prst="roundRect">
            <a:avLst/>
          </a:prstGeom>
          <a:solidFill>
            <a:srgbClr val="DFE7F3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1545336"/>
            <a:ext cx="44256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Клиентский контур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1920240"/>
            <a:ext cx="4425696" cy="1828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/>
              </a:rPr>
              <a:t>customers → customer_orders → order_items → invoices → shipments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23560" y="1417320"/>
            <a:ext cx="4754880" cy="777240"/>
          </a:xfrm>
          <a:prstGeom prst="roundRect">
            <a:avLst/>
          </a:prstGeom>
          <a:solidFill>
            <a:srgbClr val="F6E8C9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88152" y="1545336"/>
            <a:ext cx="44256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Поставочный контур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88152" y="1920240"/>
            <a:ext cx="4425696" cy="1828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/>
              </a:rPr>
              <a:t>suppliers → supplier_materials → deliveries → raw_material_stock → supplier_invoices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2487168"/>
            <a:ext cx="4754880" cy="777240"/>
          </a:xfrm>
          <a:prstGeom prst="roundRect">
            <a:avLst/>
          </a:prstGeom>
          <a:solidFill>
            <a:srgbClr val="D9EDE7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" y="2615184"/>
            <a:ext cx="44256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Производственный контур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" y="2990088"/>
            <a:ext cx="4425696" cy="1828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/>
              </a:rPr>
              <a:t>products → tech_cards → recipe_items → production_batches → finished_goods_stock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23560" y="2487168"/>
            <a:ext cx="4754880" cy="777240"/>
          </a:xfrm>
          <a:prstGeom prst="roundRect">
            <a:avLst/>
          </a:prstGeom>
          <a:solidFill>
            <a:srgbClr val="F6D7DA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88152" y="2615184"/>
            <a:ext cx="44256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Контур качества и безопасности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88152" y="2990088"/>
            <a:ext cx="4425696" cy="1828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/>
              </a:rPr>
              <a:t>quality_checks контролируют допуск партий; users, roles и audit_log фиксируют доступ и действия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0120" y="3703320"/>
            <a:ext cx="91440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" y="3831335"/>
            <a:ext cx="881481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Главная идея модели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4712" y="4206240"/>
            <a:ext cx="8814816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242220"/>
                </a:solidFill>
                <a:latin typeface="Arial"/>
              </a:rPr>
              <a:t>Каждая операция привязана к документу и партии: заказ связан со счётом и отгрузкой, поставка — с поставщиком и сырьём, производство — с техкартой и контролем качества.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03120" y="5230368"/>
            <a:ext cx="7132320" cy="411480"/>
          </a:xfrm>
          <a:prstGeom prst="roundRect">
            <a:avLst/>
          </a:prstGeom>
          <a:solidFill>
            <a:srgbClr val="4A372D"/>
          </a:solidFill>
          <a:ln>
            <a:solidFill>
              <a:srgbClr val="4A3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модель обеспечивает трассируемость: пользователь → действие → документ → партия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4A372D"/>
                </a:solidFill>
              </a:rPr>
              <a:t>Логическая структура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Трёхуровневая архитектура с изолированным запуском через Docker Compose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2E7DA"/>
                </a:solidFill>
              </a:rPr>
              <a:t>Архитектура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67665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pic>
        <p:nvPicPr>
          <p:cNvPr id="6" name="Image 0" descr="/mnt/data/latest_report_media/imag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700602"/>
            <a:ext cx="6547104" cy="299959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26680" y="1463040"/>
            <a:ext cx="3566160" cy="3474720"/>
          </a:xfrm>
          <a:prstGeom prst="roundRect">
            <a:avLst>
              <a:gd name="adj" fmla="val 2105"/>
            </a:avLst>
          </a:prstGeom>
          <a:solidFill>
            <a:srgbClr val="FEFCF8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001000" y="1737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72D"/>
                </a:solidFill>
              </a:rPr>
              <a:t>Роли уровней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092440" y="2240280"/>
            <a:ext cx="274320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F1A17"/>
                </a:solidFill>
              </a:rPr>
              <a:t>• Jinja2: интерфейс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1F1A17"/>
                </a:solidFill>
              </a:rPr>
              <a:t>• FastAPI: бизнес-логика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1F1A17"/>
                </a:solidFill>
              </a:rPr>
              <a:t>• PostgreSQL: данные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1F1A17"/>
                </a:solidFill>
              </a:rPr>
              <a:t>• Docker: воспроизводимость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94360" y="5212080"/>
            <a:ext cx="10698480" cy="566928"/>
          </a:xfrm>
          <a:prstGeom prst="roundRect">
            <a:avLst>
              <a:gd name="adj" fmla="val 12903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5394960"/>
            <a:ext cx="10241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F1A17"/>
                </a:solidFill>
              </a:rPr>
              <a:t>Параметризованные SQL-запросы и серверная валидация разделяют данные, логику и представление.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4A372D"/>
                </a:solidFill>
              </a:rPr>
              <a:t>Физическая модель PostgreSQL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Схема БД опирается на ключи, индексы, CHECK и статусные справочники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2E7DA"/>
                </a:solidFill>
              </a:rPr>
              <a:t>БД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48006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19202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72D"/>
                </a:solidFill>
              </a:rPr>
              <a:t>Ключи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514600" y="19476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F1A17"/>
                </a:solidFill>
              </a:rPr>
              <a:t>PK/FK для связей документов и партий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4800600" cy="1078992"/>
          </a:xfrm>
          <a:prstGeom prst="roundRect">
            <a:avLst>
              <a:gd name="adj" fmla="val 6780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9202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72D"/>
                </a:solidFill>
              </a:rPr>
              <a:t>Индексы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001000" y="19476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F1A17"/>
                </a:solidFill>
              </a:rPr>
              <a:t>уникальность номеров и запрет дублей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77240" y="3291840"/>
            <a:ext cx="48006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05840" y="35204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72D"/>
                </a:solidFill>
              </a:rPr>
              <a:t>CHECK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514600" y="35478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F1A17"/>
                </a:solidFill>
              </a:rPr>
              <a:t>количества, даты, paid_at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263640" y="3291840"/>
            <a:ext cx="4800600" cy="1078992"/>
          </a:xfrm>
          <a:prstGeom prst="roundRect">
            <a:avLst>
              <a:gd name="adj" fmla="val 6780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92240" y="35204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72D"/>
                </a:solidFill>
              </a:rPr>
              <a:t>JSONB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001000" y="35478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F1A17"/>
                </a:solidFill>
              </a:rPr>
              <a:t>снимки old_data/new_data в аудите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77240" y="5074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372D"/>
                </a:solidFill>
              </a:rPr>
              <a:t>Пример ограничения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926080" y="50566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526B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 invoice(order_id) WHERE status IN (issued, overdue, paid)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4A372D"/>
                </a:solidFill>
              </a:rPr>
              <a:t>Жизненные циклы документов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Переходы статусов ограничены матрицами на сервере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2E7DA"/>
                </a:solidFill>
              </a:rPr>
              <a:t>Статусы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pic>
        <p:nvPicPr>
          <p:cNvPr id="6" name="Image 0" descr="/mnt/data/latest_report_media/imag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49717"/>
            <a:ext cx="5349240" cy="130116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309360" y="1645920"/>
            <a:ext cx="5257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pic>
        <p:nvPicPr>
          <p:cNvPr id="8" name="Image 1" descr="/mnt/data/latest_report_media/image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526" y="1691640"/>
            <a:ext cx="2071468" cy="1417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40080" y="3520440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pic>
        <p:nvPicPr>
          <p:cNvPr id="10" name="Image 2" descr="/mnt/data/latest_report_media/image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4360" y="3566160"/>
            <a:ext cx="2992120" cy="141732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309360" y="3520440"/>
            <a:ext cx="52578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pic>
        <p:nvPicPr>
          <p:cNvPr id="12" name="Image 3" descr="/mnt/data/latest_report_media/imag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2200" y="3566160"/>
            <a:ext cx="2992120" cy="141732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5623560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4A372D"/>
                </a:solidFill>
              </a:rPr>
              <a:t>Статус нельзя изменить “в обход” формы: проверка выполняется в обработчике действия.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4A372D"/>
                </a:solidFill>
              </a:rPr>
              <a:t>Выбор инструментов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Стек выбран для воспроизводимой реализации защищённой БД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2E7DA"/>
                </a:solidFill>
              </a:rPr>
              <a:t>Стек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3154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01168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372D"/>
                </a:solidFill>
              </a:rPr>
              <a:t>PostgreSQL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359152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ограничения • транзакции • роли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34840" y="1828800"/>
            <a:ext cx="3154680" cy="960120"/>
          </a:xfrm>
          <a:prstGeom prst="roundRect">
            <a:avLst>
              <a:gd name="adj" fmla="val 7619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01168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372D"/>
                </a:solidFill>
              </a:rPr>
              <a:t>FastAPI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63440" y="2359152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роутеры • middleware •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92440" y="1828800"/>
            <a:ext cx="3154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75320" y="201168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372D"/>
                </a:solidFill>
              </a:rPr>
              <a:t>Jinja2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21040" y="2359152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серверный HTML-интерфейс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651760" y="3977640"/>
            <a:ext cx="3154680" cy="960120"/>
          </a:xfrm>
          <a:prstGeom prst="roundRect">
            <a:avLst>
              <a:gd name="adj" fmla="val 7619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834640" y="416052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372D"/>
                </a:solidFill>
              </a:rPr>
              <a:t>Docker Compose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880360" y="4507992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db + web + healthcheck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92240" y="3977640"/>
            <a:ext cx="3154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75120" y="416052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372D"/>
                </a:solidFill>
              </a:rPr>
              <a:t>PowerShell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20840" y="4507992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reset_db.ps1 • start_web.ps1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4A372D"/>
                </a:solidFill>
              </a:rPr>
              <a:t>Средства защиты БД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Защита реализована на уровне СУБД и прикладной логики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2E7DA"/>
                </a:solidFill>
              </a:rPr>
              <a:t>Защита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85800" y="1600200"/>
            <a:ext cx="3337560" cy="429768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372D"/>
                </a:solidFill>
              </a:rPr>
              <a:t>СУБД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2560320"/>
            <a:ext cx="256032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SQL-роли и GRANT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PK/FK/CHECK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аудит через JSONB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34840" y="1600200"/>
            <a:ext cx="3337560" cy="4297680"/>
          </a:xfrm>
          <a:prstGeom prst="roundRect">
            <a:avLst>
              <a:gd name="adj" fmla="val 2192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0916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372D"/>
                </a:solidFill>
              </a:rPr>
              <a:t>Приложение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709160" y="2560320"/>
            <a:ext cx="256032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action-level permissions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object-level checks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обработка 403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83880" y="1600200"/>
            <a:ext cx="3337560" cy="429768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5820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372D"/>
                </a:solidFill>
              </a:rPr>
              <a:t>Данные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458200" y="2560320"/>
            <a:ext cx="256032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bcrypt-хэши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параметризованный SQL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валидация форм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algn="l">
              <a:buNone/>
            </a:pPr>
            <a:r>
              <a:rPr sz="2400" b="0">
                <a:solidFill>
                  <a:srgbClr val="4A372D"/>
                </a:solidFill>
                <a:latin typeface="Arial"/>
              </a:rPr>
              <a:t>Интерфейс по ролям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algn="l">
              <a:buNone/>
            </a:pPr>
            <a:r>
              <a:rPr sz="1300" b="0">
                <a:solidFill>
                  <a:srgbClr val="665B53"/>
                </a:solidFill>
                <a:latin typeface="Arial"/>
              </a:rPr>
              <a:t>Экранные формы показывают только те действия, которые нужны конкретному пользователю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sz="1200" b="1">
                <a:solidFill>
                  <a:srgbClr val="FFFFFF"/>
                </a:solidFill>
                <a:latin typeface="Arial"/>
              </a:rPr>
              <a:t>UI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94360" y="1417320"/>
            <a:ext cx="4754880" cy="1051560"/>
          </a:xfrm>
          <a:prstGeom prst="roundRect">
            <a:avLst/>
          </a:prstGeom>
          <a:solidFill>
            <a:srgbClr val="DFE7F3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1545336"/>
            <a:ext cx="44256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Клиент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1920240"/>
            <a:ext cx="4425696" cy="4571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/>
              </a:rPr>
              <a:t>Личный кабинет, каталог продукции, собственные заказы, счета и отгрузки. Внутренняя статистика и аудит скрыты.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23560" y="1417320"/>
            <a:ext cx="4754880" cy="1051560"/>
          </a:xfrm>
          <a:prstGeom prst="roundRect">
            <a:avLst/>
          </a:prstGeom>
          <a:solidFill>
            <a:srgbClr val="F2E7DA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88152" y="1545336"/>
            <a:ext cx="44256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Администратор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88152" y="1920240"/>
            <a:ext cx="4425696" cy="4571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/>
              </a:rPr>
              <a:t>Полный контроль пользователей, статусов, счетов, отчётов и журнала аудита в рамках бизнес-правил.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2761488"/>
            <a:ext cx="4754880" cy="1051560"/>
          </a:xfrm>
          <a:prstGeom prst="roundRect">
            <a:avLst/>
          </a:prstGeom>
          <a:solidFill>
            <a:srgbClr val="D9EDE7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" y="2889504"/>
            <a:ext cx="44256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Технолог и ОТК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" y="3264408"/>
            <a:ext cx="4425696" cy="4571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/>
              </a:rPr>
              <a:t>Техкарты, производство и проверки качества разделены по зонам ответственности.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23560" y="2761488"/>
            <a:ext cx="4754880" cy="1051560"/>
          </a:xfrm>
          <a:prstGeom prst="roundRect">
            <a:avLst/>
          </a:prstGeom>
          <a:solidFill>
            <a:srgbClr val="F6E8C9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88152" y="2889504"/>
            <a:ext cx="44256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Склад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88152" y="3264408"/>
            <a:ext cx="4425696" cy="4571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/>
              </a:rPr>
              <a:t>Поставки, складские остатки, закрепление сырья за поставщиками и отгрузки клиентам.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4297680"/>
            <a:ext cx="85953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3312" y="4425696"/>
            <a:ext cx="82661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Назначение интерфейса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53312" y="4800600"/>
            <a:ext cx="8266176" cy="2743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242220"/>
                </a:solidFill>
                <a:latin typeface="Arial"/>
              </a:rPr>
              <a:t>Интерфейс не является единственным уровнем защиты: все критичные операции дополнительно проверяются на сервере.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algn="l">
              <a:buNone/>
            </a:pPr>
            <a:r>
              <a:rPr sz="2400" b="0">
                <a:solidFill>
                  <a:srgbClr val="4A372D"/>
                </a:solidFill>
                <a:latin typeface="Arial"/>
              </a:rPr>
              <a:t>Заказ и оплата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algn="l">
              <a:buNone/>
            </a:pPr>
            <a:r>
              <a:rPr sz="1300" b="0">
                <a:solidFill>
                  <a:srgbClr val="665B53"/>
                </a:solidFill>
                <a:latin typeface="Arial"/>
              </a:rPr>
              <a:t>Клиентский контур построен так, чтобы цена и статус не задавались пользователем вручную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sz="1200" b="1">
                <a:solidFill>
                  <a:srgbClr val="FFFFFF"/>
                </a:solidFill>
                <a:latin typeface="Arial"/>
              </a:rPr>
              <a:t>Заказ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85800" y="1645920"/>
            <a:ext cx="2011680" cy="438912"/>
          </a:xfrm>
          <a:prstGeom prst="roundRect">
            <a:avLst/>
          </a:prstGeom>
          <a:solidFill>
            <a:srgbClr val="865D44"/>
          </a:solidFill>
          <a:ln>
            <a:solidFill>
              <a:srgbClr val="865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1. Каталог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212848"/>
            <a:ext cx="201168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50" b="0">
                <a:solidFill>
                  <a:srgbClr val="242220"/>
                </a:solidFill>
                <a:latin typeface="Arial"/>
              </a:rPr>
              <a:t>клиент выбирает активную продукцию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46120" y="1645920"/>
            <a:ext cx="2011680" cy="438912"/>
          </a:xfrm>
          <a:prstGeom prst="roundRect">
            <a:avLst/>
          </a:prstGeom>
          <a:solidFill>
            <a:srgbClr val="865D44"/>
          </a:solidFill>
          <a:ln>
            <a:solidFill>
              <a:srgbClr val="865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2. Draft-заказ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2212848"/>
            <a:ext cx="201168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50" b="0">
                <a:solidFill>
                  <a:srgbClr val="242220"/>
                </a:solidFill>
                <a:latin typeface="Arial"/>
              </a:rPr>
              <a:t>создаётся только для текущего клиента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06440" y="1645920"/>
            <a:ext cx="2011680" cy="438912"/>
          </a:xfrm>
          <a:prstGeom prst="roundRect">
            <a:avLst/>
          </a:prstGeom>
          <a:solidFill>
            <a:srgbClr val="865D44"/>
          </a:solidFill>
          <a:ln>
            <a:solidFill>
              <a:srgbClr val="865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3. Счёт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6440" y="2212848"/>
            <a:ext cx="201168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50" b="0">
                <a:solidFill>
                  <a:srgbClr val="242220"/>
                </a:solidFill>
                <a:latin typeface="Arial"/>
              </a:rPr>
              <a:t>сумма считается по позициям заказа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1645920"/>
            <a:ext cx="2011680" cy="438912"/>
          </a:xfrm>
          <a:prstGeom prst="roundRect">
            <a:avLst/>
          </a:prstGeom>
          <a:solidFill>
            <a:srgbClr val="865D44"/>
          </a:solidFill>
          <a:ln>
            <a:solidFill>
              <a:srgbClr val="865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4. Оплата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2212848"/>
            <a:ext cx="201168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50" b="0">
                <a:solidFill>
                  <a:srgbClr val="242220"/>
                </a:solidFill>
                <a:latin typeface="Arial"/>
              </a:rPr>
              <a:t>paid_at заполняется при оплате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3337560"/>
            <a:ext cx="2926080" cy="1143000"/>
          </a:xfrm>
          <a:prstGeom prst="roundRect">
            <a:avLst/>
          </a:prstGeom>
          <a:solidFill>
            <a:srgbClr val="DFE7F3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392" y="3465576"/>
            <a:ext cx="25968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Защита от подмены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" y="3840480"/>
            <a:ext cx="2596896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/>
              </a:rPr>
              <a:t>customer_id, status_code и unit_price игнорируются или назначаются сервером.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77639" y="3337560"/>
            <a:ext cx="2926080" cy="1143000"/>
          </a:xfrm>
          <a:prstGeom prst="roundRect">
            <a:avLst/>
          </a:prstGeom>
          <a:solidFill>
            <a:srgbClr val="D9EDE7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42231" y="3465576"/>
            <a:ext cx="25968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Целостность счёта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42231" y="3840480"/>
            <a:ext cx="2596896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/>
              </a:rPr>
              <a:t>второй активный счёт по заказу блокируется индексом и проверкой приложения.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69480" y="3337560"/>
            <a:ext cx="2926080" cy="1143000"/>
          </a:xfrm>
          <a:prstGeom prst="roundRect">
            <a:avLst/>
          </a:prstGeom>
          <a:solidFill>
            <a:srgbClr val="F6E8C9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34072" y="3465576"/>
            <a:ext cx="25968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Доступ клиента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34072" y="3840480"/>
            <a:ext cx="2596896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/>
              </a:rPr>
              <a:t>оплата разрешена только для собственного issued или overdue invoice.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algn="l">
              <a:buNone/>
            </a:pPr>
            <a:r>
              <a:rPr sz="2400" b="0">
                <a:solidFill>
                  <a:srgbClr val="4A372D"/>
                </a:solidFill>
                <a:latin typeface="Arial"/>
              </a:rPr>
              <a:t>Поставки и производство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algn="l">
              <a:buNone/>
            </a:pPr>
            <a:r>
              <a:rPr sz="1300" b="0">
                <a:solidFill>
                  <a:srgbClr val="665B53"/>
                </a:solidFill>
                <a:latin typeface="Arial"/>
              </a:rPr>
              <a:t>Материальный поток контролируется через поставщика, качество, техкарту и складские остатки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sz="1200" b="1">
                <a:solidFill>
                  <a:srgbClr val="FFFFFF"/>
                </a:solidFill>
                <a:latin typeface="Arial"/>
              </a:rPr>
              <a:t>Процессы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94360" y="1417320"/>
            <a:ext cx="3063240" cy="1417320"/>
          </a:xfrm>
          <a:prstGeom prst="roundRect">
            <a:avLst/>
          </a:prstGeom>
          <a:solidFill>
            <a:srgbClr val="F6E8C9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1545336"/>
            <a:ext cx="273405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Поставка сырья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1920240"/>
            <a:ext cx="2734056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/>
              </a:rPr>
              <a:t>Сырьё добавляется только если оно закреплено за поставщиком. Цена и срок поставки берутся из supplier_materials.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6200" y="1417320"/>
            <a:ext cx="3063240" cy="1417320"/>
          </a:xfrm>
          <a:prstGeom prst="roundRect">
            <a:avLst/>
          </a:prstGeom>
          <a:solidFill>
            <a:srgbClr val="DFE7F3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50791" y="1545336"/>
            <a:ext cx="273405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Склад сырья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50791" y="1920240"/>
            <a:ext cx="2734056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/>
              </a:rPr>
              <a:t>planned-поставка не увеличивает остатки; партия появляется после приёмки и расчёта срока годности.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78040" y="1417320"/>
            <a:ext cx="3063240" cy="1417320"/>
          </a:xfrm>
          <a:prstGeom prst="roundRect">
            <a:avLst/>
          </a:prstGeom>
          <a:solidFill>
            <a:srgbClr val="D9EDE7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42631" y="1545336"/>
            <a:ext cx="273405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Производство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2631" y="1920240"/>
            <a:ext cx="2734056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242220"/>
                </a:solidFill>
                <a:latin typeface="Arial"/>
              </a:rPr>
              <a:t>Запуск возможен только по active tech card и при достаточном объёме проверенного сырья.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3337560"/>
            <a:ext cx="4480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8992" y="3465576"/>
            <a:ext cx="41513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Зачем это нужно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8992" y="3840480"/>
            <a:ext cx="4151376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0">
                <a:solidFill>
                  <a:srgbClr val="242220"/>
                </a:solidFill>
                <a:latin typeface="Arial"/>
              </a:rPr>
              <a:t>Исключаются поставки неподходящего сырья, ручная подмена цены и производство без реального сырьевого обеспечения.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15000" y="3337560"/>
            <a:ext cx="4480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79592" y="3465576"/>
            <a:ext cx="41513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Результат операции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79592" y="3840480"/>
            <a:ext cx="4151376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0">
                <a:solidFill>
                  <a:srgbClr val="242220"/>
                </a:solidFill>
                <a:latin typeface="Arial"/>
              </a:rPr>
              <a:t>После completed-производства списывается сырьё и создаётся партия готовой продукции, доступная для контроля качества.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20240" y="5074920"/>
            <a:ext cx="8138160" cy="411480"/>
          </a:xfrm>
          <a:prstGeom prst="roundRect">
            <a:avLst/>
          </a:prstGeom>
          <a:solidFill>
            <a:srgbClr val="4A372D"/>
          </a:solidFill>
          <a:ln>
            <a:solidFill>
              <a:srgbClr val="4A3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поставка → качество сырья → производство → качество готовой продукции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algn="l">
              <a:buNone/>
            </a:pPr>
            <a:r>
              <a:rPr sz="2400" b="0">
                <a:solidFill>
                  <a:srgbClr val="4A372D"/>
                </a:solidFill>
                <a:latin typeface="Arial"/>
              </a:rPr>
              <a:t>Качество и отгрузка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 algn="l">
              <a:buNone/>
            </a:pPr>
            <a:r>
              <a:rPr sz="1300" b="0">
                <a:solidFill>
                  <a:srgbClr val="665B53"/>
                </a:solidFill>
                <a:latin typeface="Arial"/>
              </a:rPr>
              <a:t>Отгрузка разрешается только после оплаты, проверки качества и наличия остатка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sz="1200" b="1">
                <a:solidFill>
                  <a:srgbClr val="FFFFFF"/>
                </a:solidFill>
                <a:latin typeface="Arial"/>
              </a:rPr>
              <a:t>Контроль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85800" y="1508760"/>
            <a:ext cx="2240280" cy="1188720"/>
          </a:xfrm>
          <a:prstGeom prst="roundRect">
            <a:avLst/>
          </a:prstGeom>
          <a:solidFill>
            <a:srgbClr val="D9EDE7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1636776"/>
            <a:ext cx="19110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1. Проверка качества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2011680"/>
            <a:ext cx="1911096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242220"/>
                </a:solidFill>
                <a:latin typeface="Arial"/>
              </a:rPr>
              <a:t>passed quality check обязателен для сырья и готовой продукции.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46120" y="1508760"/>
            <a:ext cx="2240280" cy="1188720"/>
          </a:xfrm>
          <a:prstGeom prst="roundRect">
            <a:avLst/>
          </a:prstGeom>
          <a:solidFill>
            <a:srgbClr val="DFE7F3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10712" y="1636776"/>
            <a:ext cx="19110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2. Оплата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2011680"/>
            <a:ext cx="1911096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242220"/>
                </a:solidFill>
                <a:latin typeface="Arial"/>
              </a:rPr>
              <a:t>заказ нельзя отгрузить без paid invoice.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06440" y="1508760"/>
            <a:ext cx="2240280" cy="1188720"/>
          </a:xfrm>
          <a:prstGeom prst="roundRect">
            <a:avLst/>
          </a:prstGeom>
          <a:solidFill>
            <a:srgbClr val="F6E8C9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71031" y="1636776"/>
            <a:ext cx="19110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3. Склад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71031" y="2011680"/>
            <a:ext cx="1911096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242220"/>
                </a:solidFill>
                <a:latin typeface="Arial"/>
              </a:rPr>
              <a:t>учитываются только непросроченные партии с положительным остатком.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1508760"/>
            <a:ext cx="2240280" cy="1188720"/>
          </a:xfrm>
          <a:prstGeom prst="roundRect">
            <a:avLst/>
          </a:prstGeom>
          <a:solidFill>
            <a:srgbClr val="F6D7DA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31352" y="1636776"/>
            <a:ext cx="19110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4. Отгрузка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1352" y="2011680"/>
            <a:ext cx="1911096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50" b="0">
                <a:solidFill>
                  <a:srgbClr val="242220"/>
                </a:solidFill>
                <a:latin typeface="Arial"/>
              </a:rPr>
              <a:t>shipment item списывает finished_goods_stock транзакционно.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" y="3246120"/>
            <a:ext cx="45262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3271" y="3374136"/>
            <a:ext cx="41970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Серверные проверки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1" y="3749039"/>
            <a:ext cx="4197096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0">
                <a:solidFill>
                  <a:srgbClr val="242220"/>
                </a:solidFill>
                <a:latin typeface="Arial"/>
              </a:rPr>
              <a:t>нельзя отгрузить больше заказанного, выбрать партию другого продукта или провести shipment без покрытия позиций.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715000" y="3246120"/>
            <a:ext cx="45262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79592" y="3374136"/>
            <a:ext cx="419709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4A372D"/>
                </a:solidFill>
                <a:latin typeface="Arial"/>
              </a:rPr>
              <a:t>Печатная форма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79592" y="3749039"/>
            <a:ext cx="4197096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0">
                <a:solidFill>
                  <a:srgbClr val="242220"/>
                </a:solidFill>
                <a:latin typeface="Arial"/>
              </a:rPr>
              <a:t>отчёт по конкретной отгрузке доступен складу, администратору и клиенту только для своих данных.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645920" y="5074920"/>
            <a:ext cx="8595360" cy="411480"/>
          </a:xfrm>
          <a:prstGeom prst="roundRect">
            <a:avLst/>
          </a:prstGeom>
          <a:solidFill>
            <a:srgbClr val="4A372D"/>
          </a:solidFill>
          <a:ln>
            <a:solidFill>
              <a:srgbClr val="4A3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ready + paid invoice + passed quality + sufficient stock = shipment allowed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4A372D"/>
                </a:solidFill>
              </a:rPr>
              <a:t>Запросы и отчёты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Реализованы операции ввода, выборки, группировки и отчётные формы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2E7DA"/>
                </a:solidFill>
              </a:rPr>
              <a:t>Отчёты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85800" y="1508760"/>
            <a:ext cx="5120640" cy="4480560"/>
          </a:xfrm>
          <a:prstGeom prst="roundRect">
            <a:avLst>
              <a:gd name="adj" fmla="val 1633"/>
            </a:avLst>
          </a:prstGeom>
          <a:solidFill>
            <a:srgbClr val="FEFCF8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372D"/>
                </a:solidFill>
              </a:rPr>
              <a:t>SQL-запросы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2514600"/>
            <a:ext cx="434340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3 запроса ввода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DISTINCT и сортировки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группировка и агрегаты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дата и строковые функции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355080" y="1508760"/>
            <a:ext cx="4892040" cy="4480560"/>
          </a:xfrm>
          <a:prstGeom prst="roundRect">
            <a:avLst>
              <a:gd name="adj" fmla="val 1633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29400" y="17830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372D"/>
                </a:solidFill>
              </a:rPr>
              <a:t>Отчёты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675120" y="2514600"/>
            <a:ext cx="402336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склад сырья и ГП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заказы и продажи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производство и качество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1A17"/>
                </a:solidFill>
              </a:rPr>
              <a:t>• отгрузка и аудит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4A372D"/>
                </a:solidFill>
              </a:rPr>
              <a:t>Исследование защищённости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Негативные сценарии подтверждают работу ограничений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2E7DA"/>
                </a:solidFill>
              </a:rPr>
              <a:t>Тесты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22960" y="155448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177393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1A17"/>
                </a:solidFill>
              </a:rPr>
              <a:t>client → /audit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4297680" y="177393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B7C64"/>
                </a:solidFill>
              </a:rPr>
              <a:t>403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51560" y="296265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1A17"/>
                </a:solidFill>
              </a:rPr>
              <a:t>unit_price в POST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297680" y="296265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B7C64"/>
                </a:solidFill>
              </a:rPr>
              <a:t>игнорируется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22960" y="393192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51560" y="415137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1A17"/>
                </a:solidFill>
              </a:rPr>
              <a:t>отгрузка без оплаты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29768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B7C64"/>
                </a:solidFill>
              </a:rPr>
              <a:t>запрещена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0" y="155448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29400" y="177393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1A17"/>
                </a:solidFill>
              </a:rPr>
              <a:t>сырьё без QC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9875520" y="177393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B7C64"/>
                </a:solidFill>
              </a:rPr>
              <a:t>запрещено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0" y="274320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29400" y="296265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1A17"/>
                </a:solidFill>
              </a:rPr>
              <a:t>дубль invoice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9875520" y="296265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B7C64"/>
                </a:solidFill>
              </a:rPr>
              <a:t>блокируется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400800" y="393192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629400" y="4151376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1A17"/>
                </a:solidFill>
              </a:rPr>
              <a:t>нет supplier_materials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987552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B7C64"/>
                </a:solidFill>
              </a:rPr>
              <a:t>ошибка формы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949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4A372D"/>
                </a:solidFill>
              </a:rPr>
              <a:t>Демонстрационный сценарий и результат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1152144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65B53"/>
                </a:solidFill>
              </a:rPr>
              <a:t>Система проходит цикл от заказа до аудита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966960" y="1554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2E7DA"/>
                </a:solidFill>
              </a:rPr>
              <a:t>Итоги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94360" y="16002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67512" y="178308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B4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76479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4A372D"/>
                </a:solidFill>
              </a:rPr>
              <a:t>client: заказ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2194560" y="16002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67712" y="178308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B4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514600" y="176479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4A372D"/>
                </a:solidFill>
              </a:rPr>
              <a:t>admin: счёт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3794760" y="16002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867912" y="178308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B4F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14800" y="176479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4A372D"/>
                </a:solidFill>
              </a:rPr>
              <a:t>client: оплата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5394960" y="16002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68112" y="178308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B4F"/>
                </a:solidFill>
              </a:rPr>
              <a:t>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715000" y="176479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4A372D"/>
                </a:solidFill>
              </a:rPr>
              <a:t>technologist: выпуск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6995160" y="16002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068312" y="178308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B4F"/>
                </a:solidFill>
              </a:rPr>
              <a:t>5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0" y="176479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4A372D"/>
                </a:solidFill>
              </a:rPr>
              <a:t>quality: проверка</a:t>
            </a:r>
            <a:endParaRPr lang="en-US" sz="1180" dirty="0"/>
          </a:p>
        </p:txBody>
      </p:sp>
      <p:sp>
        <p:nvSpPr>
          <p:cNvPr id="20" name="Shape 18"/>
          <p:cNvSpPr/>
          <p:nvPr/>
        </p:nvSpPr>
        <p:spPr>
          <a:xfrm>
            <a:off x="8595360" y="16002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68512" y="178308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B4F"/>
                </a:solidFill>
              </a:rPr>
              <a:t>6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915400" y="176479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4A372D"/>
                </a:solidFill>
              </a:rPr>
              <a:t>warehouse: отгрузка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>
            <a:off x="10195560" y="1600200"/>
            <a:ext cx="13258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268712" y="178308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B4F"/>
                </a:solidFill>
              </a:rPr>
              <a:t>7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515600" y="176479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4A372D"/>
                </a:solidFill>
              </a:rPr>
              <a:t>admin: аудит</a:t>
            </a:r>
            <a:endParaRPr lang="en-US" sz="1180" dirty="0"/>
          </a:p>
        </p:txBody>
      </p:sp>
      <p:sp>
        <p:nvSpPr>
          <p:cNvPr id="26" name="Shape 24"/>
          <p:cNvSpPr/>
          <p:nvPr/>
        </p:nvSpPr>
        <p:spPr>
          <a:xfrm>
            <a:off x="777240" y="3246120"/>
            <a:ext cx="4937760" cy="2057400"/>
          </a:xfrm>
          <a:prstGeom prst="roundRect">
            <a:avLst>
              <a:gd name="adj" fmla="val 3556"/>
            </a:avLst>
          </a:prstGeom>
          <a:solidFill>
            <a:srgbClr val="FEFCF8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51560" y="3566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372D"/>
                </a:solidFill>
              </a:rPr>
              <a:t>Результаты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143000" y="4069080"/>
            <a:ext cx="416052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реализована защищённая БД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разделены роли и действия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контролируется целостность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46520" y="3246120"/>
            <a:ext cx="4434840" cy="2057400"/>
          </a:xfrm>
          <a:prstGeom prst="roundRect">
            <a:avLst>
              <a:gd name="adj" fmla="val 3556"/>
            </a:avLst>
          </a:prstGeom>
          <a:solidFill>
            <a:srgbClr val="F2E7DA"/>
          </a:solidFill>
          <a:ln w="12700">
            <a:solidFill>
              <a:srgbClr val="D8C7B7"/>
            </a:solidFill>
            <a:prstDash val="solid"/>
          </a:ln>
          <a:effectLst>
            <a:outerShdw sx="100000" sy="100000" kx="0" ky="0" algn="bl" rotWithShape="0" blurRad="12700" dist="50800" dir="2700000">
              <a:srgbClr val="A89483">
                <a:alpha val="14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720840" y="35661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372D"/>
                </a:solidFill>
              </a:rPr>
              <a:t>Развитие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812280" y="4069080"/>
            <a:ext cx="365760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sequences/IDENTITY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резервное копирование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A17"/>
                </a:solidFill>
              </a:rPr>
              <a:t>• PDF-отчёты и автотесты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766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МГТУ им. Н.Э. Баумана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защищенной БД информационной системы «Хлебозавод»</dc:title>
  <dc:subject>БСБД — презентация</dc:subject>
  <dc:creator>OpenAI</dc:creator>
  <cp:lastModifiedBy>OpenAI</cp:lastModifiedBy>
  <cp:revision>1</cp:revision>
  <dcterms:created xsi:type="dcterms:W3CDTF">2026-05-11T22:26:22Z</dcterms:created>
  <dcterms:modified xsi:type="dcterms:W3CDTF">2026-05-11T22:26:22Z</dcterms:modified>
</cp:coreProperties>
</file>