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</p:sldIdLst>
  <p:notesMasterIdLst>
    <p:notesMasterId r:id="rId21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notesMaster" Target="notesMasters/notesMaster1.xml"/><Relationship Id="rId22" Type="http://schemas.openxmlformats.org/officeDocument/2006/relationships/presProps" Target="presProps.xml"/><Relationship Id="rId23" Type="http://schemas.openxmlformats.org/officeDocument/2006/relationships/viewProps" Target="viewProps.xml"/><Relationship Id="rId24" Type="http://schemas.openxmlformats.org/officeDocument/2006/relationships/theme" Target="theme/theme1.xml"/><Relationship Id="rId2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Слайд раскрывает цель из введения отчёта: безопасное хранение данных, разграничение доступа, контроль бизнес-операций и демонстрация работы через веб-интерфейс.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В отчёте предметная область описана как учет клиентов, поставщиков, сырья, технологических карт, производственных партий, контроля качества, готовой продукции, счетов, отгрузок, ролей и аудита.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В роли включены admin, client, technologist, warehouse_worker и quality_control. Для них в отчёте указаны видимые разделы и action-level permissions.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Перечень угроз взят из раздела 1.3 отчёта: прямые URL, SQL-инъекции, подмена цены, произвольные статусы, отгрузка без оплаты, сырьё без проверки качества и отрицательные остатки.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Нечитаемая ER-диаграмма заменена группами сущностей: пользователи и роли, клиенты и заказы, поставщики и сырьё, производство, качество, отгрузки, аудит.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Архитектура соответствует разделу 3 отчёта: Jinja2/HTML на уровне представления, FastAPI как уровень приложения и PostgreSQL как уровень хранения. Docker Compose выделен как среда запуска.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Из отчёта: физическая модель реализована в PostgreSQL через SQL-скрипты схемы, ограничений, индексов, ролей и аудита.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Слайд заменяет мелкие схемы жизненных циклов единообразными строками статусов, чтобы переходы читались с экрана.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PostgreSQL выбран из-за внешних ключей, CHECK, индексов, ролей, триггеров, транзакций и JSONB; FastAPI — для роутеров, middleware, прав и бизнес-валидаторов.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Защита от внутренних угроз строится на совмещении двух уровней контроля: SQL-роли, GRANT, ограничения, аудит и прикладные проверки.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Слайд выделен отдельно, чтобы не перегружать физическую модель и одновременно показать требования курсового задания по ограничениям целостности.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Слайды со скриншотами не используются. Вместо них приведено обобщённое описание интерфейса: какие разделы есть и кто ими пользуется.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Слайд заменяет подробные описания форм короткими пользовательскими сценариями для каждой роли.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Отчёты включают склад сырья, сырьё ниже минимума, остатки готовой продукции, заказы, продажи, производство, качество, отгрузку, счета поставщиков и аудит.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Слайд сжато отражает таблицу исследования защищённости: прямой доступ, подмена цены и статуса, отгрузка без оплаты, сырьё без проверки качества, повторный счёт и нарушение supplier_materials.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Слайд сокращает большую таблицу апробации до итогов по ролям и оставляет только наиболее значимые проверки.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Демонстрационный сценарий построен по требованию: заказ → счёт → оплата → производство → качество → отгрузка → аудит.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Заключение отражает итог отчёта: разработана защищённая система базы данных с PostgreSQL, FastAPI, Jinja2, Docker Compose, ролями, ограничениями целостности, аудитом и отчётами.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blank">
    <p:bg>
      <p:bgPr>
        <a:solidFill>
          <a:srgbClr val="F4EFE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jpe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4EFE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310896"/>
          </a:xfrm>
          <a:prstGeom prst="rect">
            <a:avLst/>
          </a:prstGeom>
          <a:solidFill>
            <a:srgbClr val="3A2924"/>
          </a:solidFill>
          <a:ln w="12700">
            <a:solidFill>
              <a:srgbClr val="3A2924"/>
            </a:solidFill>
            <a:prstDash val="solid"/>
          </a:ln>
        </p:spPr>
      </p:sp>
      <p:pic>
        <p:nvPicPr>
          <p:cNvPr id="3" name="Image 0" descr="/mnt/data/pptx_unzip/ppt/media/image-1-1.jpe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58368" y="1444752"/>
            <a:ext cx="1115568" cy="109728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993392" y="1234440"/>
            <a:ext cx="786384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2C25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Разработка защищённой БД</a:t>
            </a:r>
            <a:endParaRPr lang="en-US" sz="2400" dirty="0"/>
          </a:p>
          <a:p>
            <a:pPr indent="0" marL="0">
              <a:buNone/>
            </a:pPr>
            <a:r>
              <a:rPr lang="en-US" sz="2400" b="1" dirty="0">
                <a:solidFill>
                  <a:srgbClr val="2C25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информационной системы «Хлебозавод»</a:t>
            </a:r>
            <a:endParaRPr lang="en-US" sz="2400" dirty="0"/>
          </a:p>
        </p:txBody>
      </p:sp>
      <p:sp>
        <p:nvSpPr>
          <p:cNvPr id="5" name="Text 2"/>
          <p:cNvSpPr/>
          <p:nvPr/>
        </p:nvSpPr>
        <p:spPr>
          <a:xfrm>
            <a:off x="2011680" y="2194560"/>
            <a:ext cx="79552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A5A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Курсовая работа по дисциплине «Безопасность систем баз данных»</a:t>
            </a:r>
            <a:endParaRPr lang="en-US" sz="950" dirty="0"/>
          </a:p>
        </p:txBody>
      </p:sp>
      <p:sp>
        <p:nvSpPr>
          <p:cNvPr id="6" name="Text 3"/>
          <p:cNvSpPr/>
          <p:nvPr/>
        </p:nvSpPr>
        <p:spPr>
          <a:xfrm>
            <a:off x="2011680" y="2971800"/>
            <a:ext cx="5394960" cy="566928"/>
          </a:xfrm>
          <a:prstGeom prst="rect">
            <a:avLst/>
          </a:prstGeom>
          <a:solidFill>
            <a:srgbClr val="FFFDF8"/>
          </a:solidFill>
          <a:ln>
            <a:solidFill>
              <a:srgbClr val="D8C9BB"/>
            </a:solidFill>
          </a:ln>
        </p:spPr>
        <p:txBody>
          <a:bodyPr wrap="square" lIns="1270" tIns="1270" rIns="1270" bIns="1270" rtlCol="0" anchor="ctr">
            <a:normAutofit/>
          </a:bodyPr>
          <a:lstStyle/>
          <a:p>
            <a:pPr algn="ctr" indent="0" marL="0">
              <a:buNone/>
            </a:pPr>
            <a:r>
              <a:rPr lang="en-US" sz="1020" dirty="0">
                <a:solidFill>
                  <a:srgbClr val="2C25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Slop-Bakery • PostgreSQL • FastAPI • Docker Compose</a:t>
            </a:r>
            <a:endParaRPr lang="en-US" sz="1020" dirty="0"/>
          </a:p>
          <a:p>
            <a:pPr algn="ctr" indent="0" marL="0">
              <a:buNone/>
            </a:pPr>
            <a:r>
              <a:rPr lang="en-US" sz="1020" dirty="0">
                <a:solidFill>
                  <a:srgbClr val="2C25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Е. Д. Девяткин, ИУ8-84 • Москва, 2026</a:t>
            </a:r>
            <a:endParaRPr lang="en-US" sz="1020" dirty="0"/>
          </a:p>
        </p:txBody>
      </p:sp>
      <p:sp>
        <p:nvSpPr>
          <p:cNvPr id="7" name="Text 4"/>
          <p:cNvSpPr/>
          <p:nvPr/>
        </p:nvSpPr>
        <p:spPr>
          <a:xfrm>
            <a:off x="2011680" y="3675888"/>
            <a:ext cx="53949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20" dirty="0">
                <a:solidFill>
                  <a:srgbClr val="6A5A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МГТУ им. Н. Э. Баумана • ИУ8</a:t>
            </a:r>
            <a:endParaRPr lang="en-US" sz="820" dirty="0"/>
          </a:p>
        </p:txBody>
      </p:sp>
      <p:sp>
        <p:nvSpPr>
          <p:cNvPr id="8" name="Text 5"/>
          <p:cNvSpPr/>
          <p:nvPr/>
        </p:nvSpPr>
        <p:spPr>
          <a:xfrm>
            <a:off x="11868912" y="6565392"/>
            <a:ext cx="164592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650" dirty="0">
                <a:solidFill>
                  <a:srgbClr val="6A5A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6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4EFE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237744"/>
          </a:xfrm>
          <a:prstGeom prst="rect">
            <a:avLst/>
          </a:prstGeom>
          <a:solidFill>
            <a:srgbClr val="3A2924"/>
          </a:solidFill>
          <a:ln w="12700">
            <a:solidFill>
              <a:srgbClr val="3A2924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56032" y="50292"/>
            <a:ext cx="292608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БСБД • Slop-Bakery</a:t>
            </a:r>
            <a:endParaRPr lang="en-US" sz="650" dirty="0"/>
          </a:p>
        </p:txBody>
      </p:sp>
      <p:sp>
        <p:nvSpPr>
          <p:cNvPr id="4" name="Text 2"/>
          <p:cNvSpPr/>
          <p:nvPr/>
        </p:nvSpPr>
        <p:spPr>
          <a:xfrm>
            <a:off x="9326880" y="50292"/>
            <a:ext cx="256032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630" dirty="0">
                <a:solidFill>
                  <a:srgbClr val="E9DDD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Цель</a:t>
            </a:r>
            <a:endParaRPr lang="en-US" sz="630" dirty="0"/>
          </a:p>
        </p:txBody>
      </p:sp>
      <p:sp>
        <p:nvSpPr>
          <p:cNvPr id="5" name="Text 3"/>
          <p:cNvSpPr/>
          <p:nvPr/>
        </p:nvSpPr>
        <p:spPr>
          <a:xfrm>
            <a:off x="11868912" y="6565392"/>
            <a:ext cx="164592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650" dirty="0">
                <a:solidFill>
                  <a:srgbClr val="6A5A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650" dirty="0"/>
          </a:p>
        </p:txBody>
      </p:sp>
      <p:sp>
        <p:nvSpPr>
          <p:cNvPr id="6" name="Text 4"/>
          <p:cNvSpPr/>
          <p:nvPr/>
        </p:nvSpPr>
        <p:spPr>
          <a:xfrm>
            <a:off x="384048" y="475488"/>
            <a:ext cx="98755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2C25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Цель и задачи проекта</a:t>
            </a:r>
            <a:endParaRPr lang="en-US" sz="2500" dirty="0"/>
          </a:p>
        </p:txBody>
      </p:sp>
      <p:sp>
        <p:nvSpPr>
          <p:cNvPr id="7" name="Text 5"/>
          <p:cNvSpPr/>
          <p:nvPr/>
        </p:nvSpPr>
        <p:spPr>
          <a:xfrm>
            <a:off x="393192" y="859536"/>
            <a:ext cx="9875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A5A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Защищённая база данных для автоматизации хлебозавода</a:t>
            </a:r>
            <a:endParaRPr lang="en-US" sz="950" dirty="0"/>
          </a:p>
        </p:txBody>
      </p:sp>
      <p:sp>
        <p:nvSpPr>
          <p:cNvPr id="8" name="Text 6"/>
          <p:cNvSpPr/>
          <p:nvPr/>
        </p:nvSpPr>
        <p:spPr>
          <a:xfrm>
            <a:off x="384048" y="1124712"/>
            <a:ext cx="1051560" cy="219456"/>
          </a:xfrm>
          <a:prstGeom prst="rect">
            <a:avLst/>
          </a:prstGeom>
          <a:solidFill>
            <a:srgbClr val="5A3C31"/>
          </a:solidFill>
          <a:ln>
            <a:solidFill>
              <a:srgbClr val="5A3C31"/>
            </a:solidFill>
          </a:ln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82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Цель</a:t>
            </a:r>
            <a:endParaRPr lang="en-US" sz="820" dirty="0"/>
          </a:p>
        </p:txBody>
      </p:sp>
      <p:sp>
        <p:nvSpPr>
          <p:cNvPr id="9" name="Shape 7"/>
          <p:cNvSpPr/>
          <p:nvPr/>
        </p:nvSpPr>
        <p:spPr>
          <a:xfrm>
            <a:off x="457200" y="1508760"/>
            <a:ext cx="3246120" cy="3566160"/>
          </a:xfrm>
          <a:prstGeom prst="roundRect">
            <a:avLst>
              <a:gd name="adj" fmla="val 2254"/>
            </a:avLst>
          </a:prstGeom>
          <a:solidFill>
            <a:srgbClr val="E7D7C8"/>
          </a:solidFill>
          <a:ln w="12700">
            <a:solidFill>
              <a:srgbClr val="D8C9BB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85216" y="1600200"/>
            <a:ext cx="299008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5A3C3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Цель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585216" y="1892808"/>
            <a:ext cx="2990088" cy="31089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350" dirty="0">
                <a:solidFill>
                  <a:srgbClr val="2C25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Разработать Slop-Bakery с контролем доступа, целостности данных и бизнес-операций.</a:t>
            </a:r>
            <a:endParaRPr lang="en-US" sz="1350" dirty="0"/>
          </a:p>
        </p:txBody>
      </p:sp>
      <p:sp>
        <p:nvSpPr>
          <p:cNvPr id="12" name="Text 10"/>
          <p:cNvSpPr/>
          <p:nvPr/>
        </p:nvSpPr>
        <p:spPr>
          <a:xfrm>
            <a:off x="731520" y="4251960"/>
            <a:ext cx="1234440" cy="219456"/>
          </a:xfrm>
          <a:prstGeom prst="rect">
            <a:avLst/>
          </a:prstGeom>
          <a:solidFill>
            <a:srgbClr val="8B5A42"/>
          </a:solidFill>
          <a:ln>
            <a:solidFill>
              <a:srgbClr val="8B5A42"/>
            </a:solidFill>
          </a:ln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82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Безопасность БД</a:t>
            </a:r>
            <a:endParaRPr lang="en-US" sz="820" dirty="0"/>
          </a:p>
        </p:txBody>
      </p:sp>
      <p:sp>
        <p:nvSpPr>
          <p:cNvPr id="13" name="Text 11"/>
          <p:cNvSpPr/>
          <p:nvPr/>
        </p:nvSpPr>
        <p:spPr>
          <a:xfrm>
            <a:off x="2148840" y="4251960"/>
            <a:ext cx="749808" cy="219456"/>
          </a:xfrm>
          <a:prstGeom prst="rect">
            <a:avLst/>
          </a:prstGeom>
          <a:solidFill>
            <a:srgbClr val="8B5A42"/>
          </a:solidFill>
          <a:ln>
            <a:solidFill>
              <a:srgbClr val="8B5A42"/>
            </a:solidFill>
          </a:ln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82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Аудит</a:t>
            </a:r>
            <a:endParaRPr lang="en-US" sz="820" dirty="0"/>
          </a:p>
        </p:txBody>
      </p:sp>
      <p:sp>
        <p:nvSpPr>
          <p:cNvPr id="14" name="Text 12"/>
          <p:cNvSpPr/>
          <p:nvPr/>
        </p:nvSpPr>
        <p:spPr>
          <a:xfrm>
            <a:off x="4160520" y="1481328"/>
            <a:ext cx="1828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5A3C31"/>
                </a:solidFill>
              </a:rPr>
              <a:t>Задачи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4160520" y="1847088"/>
            <a:ext cx="2971800" cy="566928"/>
          </a:xfrm>
          <a:prstGeom prst="rect">
            <a:avLst/>
          </a:prstGeom>
          <a:solidFill>
            <a:srgbClr val="FFFDF8"/>
          </a:solidFill>
          <a:ln>
            <a:solidFill>
              <a:srgbClr val="D8C9BB"/>
            </a:solidFill>
          </a:ln>
        </p:spPr>
        <p:txBody>
          <a:bodyPr wrap="square" lIns="1270" tIns="1270" rIns="1270" bIns="1270" rtlCol="0" anchor="ctr">
            <a:normAutofit/>
          </a:bodyPr>
          <a:lstStyle/>
          <a:p>
            <a:pPr algn="l" indent="0" marL="0">
              <a:buNone/>
            </a:pPr>
            <a:r>
              <a:rPr lang="en-US" sz="1220" dirty="0">
                <a:solidFill>
                  <a:srgbClr val="2C25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  проанализировать предметную область</a:t>
            </a:r>
            <a:endParaRPr lang="en-US" sz="1220" dirty="0"/>
          </a:p>
        </p:txBody>
      </p:sp>
      <p:sp>
        <p:nvSpPr>
          <p:cNvPr id="16" name="Text 14"/>
          <p:cNvSpPr/>
          <p:nvPr/>
        </p:nvSpPr>
        <p:spPr>
          <a:xfrm>
            <a:off x="7635240" y="1847088"/>
            <a:ext cx="2971800" cy="566928"/>
          </a:xfrm>
          <a:prstGeom prst="rect">
            <a:avLst/>
          </a:prstGeom>
          <a:solidFill>
            <a:srgbClr val="FFFDF8"/>
          </a:solidFill>
          <a:ln>
            <a:solidFill>
              <a:srgbClr val="D8C9BB"/>
            </a:solidFill>
          </a:ln>
        </p:spPr>
        <p:txBody>
          <a:bodyPr wrap="square" lIns="1270" tIns="1270" rIns="1270" bIns="1270" rtlCol="0" anchor="ctr">
            <a:normAutofit/>
          </a:bodyPr>
          <a:lstStyle/>
          <a:p>
            <a:pPr algn="l" indent="0" marL="0">
              <a:buNone/>
            </a:pPr>
            <a:r>
              <a:rPr lang="en-US" sz="1220" dirty="0">
                <a:solidFill>
                  <a:srgbClr val="2C25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  построить инфологическую модель</a:t>
            </a:r>
            <a:endParaRPr lang="en-US" sz="1220" dirty="0"/>
          </a:p>
        </p:txBody>
      </p:sp>
      <p:sp>
        <p:nvSpPr>
          <p:cNvPr id="17" name="Text 15"/>
          <p:cNvSpPr/>
          <p:nvPr/>
        </p:nvSpPr>
        <p:spPr>
          <a:xfrm>
            <a:off x="4160520" y="2834640"/>
            <a:ext cx="2971800" cy="566928"/>
          </a:xfrm>
          <a:prstGeom prst="rect">
            <a:avLst/>
          </a:prstGeom>
          <a:solidFill>
            <a:srgbClr val="FFFDF8"/>
          </a:solidFill>
          <a:ln>
            <a:solidFill>
              <a:srgbClr val="D8C9BB"/>
            </a:solidFill>
          </a:ln>
        </p:spPr>
        <p:txBody>
          <a:bodyPr wrap="square" lIns="1270" tIns="1270" rIns="1270" bIns="1270" rtlCol="0" anchor="ctr">
            <a:normAutofit/>
          </a:bodyPr>
          <a:lstStyle/>
          <a:p>
            <a:pPr algn="l" indent="0" marL="0">
              <a:buNone/>
            </a:pPr>
            <a:r>
              <a:rPr lang="en-US" sz="1220" dirty="0">
                <a:solidFill>
                  <a:srgbClr val="2C25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  спроектировать логическую структуру</a:t>
            </a:r>
            <a:endParaRPr lang="en-US" sz="1220" dirty="0"/>
          </a:p>
        </p:txBody>
      </p:sp>
      <p:sp>
        <p:nvSpPr>
          <p:cNvPr id="18" name="Text 16"/>
          <p:cNvSpPr/>
          <p:nvPr/>
        </p:nvSpPr>
        <p:spPr>
          <a:xfrm>
            <a:off x="7635240" y="2834640"/>
            <a:ext cx="2971800" cy="566928"/>
          </a:xfrm>
          <a:prstGeom prst="rect">
            <a:avLst/>
          </a:prstGeom>
          <a:solidFill>
            <a:srgbClr val="FFFDF8"/>
          </a:solidFill>
          <a:ln>
            <a:solidFill>
              <a:srgbClr val="D8C9BB"/>
            </a:solidFill>
          </a:ln>
        </p:spPr>
        <p:txBody>
          <a:bodyPr wrap="square" lIns="1270" tIns="1270" rIns="1270" bIns="1270" rtlCol="0" anchor="ctr">
            <a:normAutofit/>
          </a:bodyPr>
          <a:lstStyle/>
          <a:p>
            <a:pPr algn="l" indent="0" marL="0">
              <a:buNone/>
            </a:pPr>
            <a:r>
              <a:rPr lang="en-US" sz="1220" dirty="0">
                <a:solidFill>
                  <a:srgbClr val="2C25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  реализовать PostgreSQL-схему</a:t>
            </a:r>
            <a:endParaRPr lang="en-US" sz="1220" dirty="0"/>
          </a:p>
        </p:txBody>
      </p:sp>
      <p:sp>
        <p:nvSpPr>
          <p:cNvPr id="19" name="Text 17"/>
          <p:cNvSpPr/>
          <p:nvPr/>
        </p:nvSpPr>
        <p:spPr>
          <a:xfrm>
            <a:off x="4160520" y="3822192"/>
            <a:ext cx="2971800" cy="566928"/>
          </a:xfrm>
          <a:prstGeom prst="rect">
            <a:avLst/>
          </a:prstGeom>
          <a:solidFill>
            <a:srgbClr val="FFFDF8"/>
          </a:solidFill>
          <a:ln>
            <a:solidFill>
              <a:srgbClr val="D8C9BB"/>
            </a:solidFill>
          </a:ln>
        </p:spPr>
        <p:txBody>
          <a:bodyPr wrap="square" lIns="1270" tIns="1270" rIns="1270" bIns="1270" rtlCol="0" anchor="ctr">
            <a:normAutofit/>
          </a:bodyPr>
          <a:lstStyle/>
          <a:p>
            <a:pPr algn="l" indent="0" marL="0">
              <a:buNone/>
            </a:pPr>
            <a:r>
              <a:rPr lang="en-US" sz="1220" dirty="0">
                <a:solidFill>
                  <a:srgbClr val="2C25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  настроить роли, права и аудит</a:t>
            </a:r>
            <a:endParaRPr lang="en-US" sz="1220" dirty="0"/>
          </a:p>
        </p:txBody>
      </p:sp>
      <p:sp>
        <p:nvSpPr>
          <p:cNvPr id="20" name="Text 18"/>
          <p:cNvSpPr/>
          <p:nvPr/>
        </p:nvSpPr>
        <p:spPr>
          <a:xfrm>
            <a:off x="7635240" y="3822192"/>
            <a:ext cx="2971800" cy="566928"/>
          </a:xfrm>
          <a:prstGeom prst="rect">
            <a:avLst/>
          </a:prstGeom>
          <a:solidFill>
            <a:srgbClr val="FFFDF8"/>
          </a:solidFill>
          <a:ln>
            <a:solidFill>
              <a:srgbClr val="D8C9BB"/>
            </a:solidFill>
          </a:ln>
        </p:spPr>
        <p:txBody>
          <a:bodyPr wrap="square" lIns="1270" tIns="1270" rIns="1270" bIns="1270" rtlCol="0" anchor="ctr">
            <a:normAutofit/>
          </a:bodyPr>
          <a:lstStyle/>
          <a:p>
            <a:pPr algn="l" indent="0" marL="0">
              <a:buNone/>
            </a:pPr>
            <a:r>
              <a:rPr lang="en-US" sz="1220" dirty="0">
                <a:solidFill>
                  <a:srgbClr val="2C25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  проверить негативные сценарии</a:t>
            </a:r>
            <a:endParaRPr lang="en-US" sz="122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4EFE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237744"/>
          </a:xfrm>
          <a:prstGeom prst="rect">
            <a:avLst/>
          </a:prstGeom>
          <a:solidFill>
            <a:srgbClr val="3A2924"/>
          </a:solidFill>
          <a:ln w="12700">
            <a:solidFill>
              <a:srgbClr val="3A2924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56032" y="50292"/>
            <a:ext cx="292608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БСБД • Slop-Bakery</a:t>
            </a:r>
            <a:endParaRPr lang="en-US" sz="650" dirty="0"/>
          </a:p>
        </p:txBody>
      </p:sp>
      <p:sp>
        <p:nvSpPr>
          <p:cNvPr id="4" name="Text 2"/>
          <p:cNvSpPr/>
          <p:nvPr/>
        </p:nvSpPr>
        <p:spPr>
          <a:xfrm>
            <a:off x="9326880" y="50292"/>
            <a:ext cx="256032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630" dirty="0">
                <a:solidFill>
                  <a:srgbClr val="E9DDD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Анализ</a:t>
            </a:r>
            <a:endParaRPr lang="en-US" sz="630" dirty="0"/>
          </a:p>
        </p:txBody>
      </p:sp>
      <p:sp>
        <p:nvSpPr>
          <p:cNvPr id="5" name="Text 3"/>
          <p:cNvSpPr/>
          <p:nvPr/>
        </p:nvSpPr>
        <p:spPr>
          <a:xfrm>
            <a:off x="11868912" y="6565392"/>
            <a:ext cx="164592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650" dirty="0">
                <a:solidFill>
                  <a:srgbClr val="6A5A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650" dirty="0"/>
          </a:p>
        </p:txBody>
      </p:sp>
      <p:sp>
        <p:nvSpPr>
          <p:cNvPr id="6" name="Text 4"/>
          <p:cNvSpPr/>
          <p:nvPr/>
        </p:nvSpPr>
        <p:spPr>
          <a:xfrm>
            <a:off x="384048" y="475488"/>
            <a:ext cx="98755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2C25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Предметная область</a:t>
            </a:r>
            <a:endParaRPr lang="en-US" sz="2500" dirty="0"/>
          </a:p>
        </p:txBody>
      </p:sp>
      <p:sp>
        <p:nvSpPr>
          <p:cNvPr id="7" name="Text 5"/>
          <p:cNvSpPr/>
          <p:nvPr/>
        </p:nvSpPr>
        <p:spPr>
          <a:xfrm>
            <a:off x="393192" y="859536"/>
            <a:ext cx="9875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A5A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Полный цикл движения сырья, продукции и документов</a:t>
            </a:r>
            <a:endParaRPr lang="en-US" sz="950" dirty="0"/>
          </a:p>
        </p:txBody>
      </p:sp>
      <p:sp>
        <p:nvSpPr>
          <p:cNvPr id="8" name="Text 6"/>
          <p:cNvSpPr/>
          <p:nvPr/>
        </p:nvSpPr>
        <p:spPr>
          <a:xfrm>
            <a:off x="384048" y="1124712"/>
            <a:ext cx="1051560" cy="219456"/>
          </a:xfrm>
          <a:prstGeom prst="rect">
            <a:avLst/>
          </a:prstGeom>
          <a:solidFill>
            <a:srgbClr val="5A3C31"/>
          </a:solidFill>
          <a:ln>
            <a:solidFill>
              <a:srgbClr val="5A3C31"/>
            </a:solidFill>
          </a:ln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82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Область</a:t>
            </a:r>
            <a:endParaRPr lang="en-US" sz="820" dirty="0"/>
          </a:p>
        </p:txBody>
      </p:sp>
      <p:sp>
        <p:nvSpPr>
          <p:cNvPr id="9" name="Text 7"/>
          <p:cNvSpPr/>
          <p:nvPr/>
        </p:nvSpPr>
        <p:spPr>
          <a:xfrm>
            <a:off x="658368" y="1572768"/>
            <a:ext cx="1481328" cy="1097280"/>
          </a:xfrm>
          <a:prstGeom prst="rect">
            <a:avLst/>
          </a:prstGeom>
          <a:solidFill>
            <a:srgbClr val="EFE5DA"/>
          </a:solidFill>
          <a:ln>
            <a:solidFill>
              <a:srgbClr val="D8C9BB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algn="ctr" indent="0" marL="0">
              <a:buNone/>
            </a:pPr>
            <a:r>
              <a:rPr lang="en-US" sz="1040" dirty="0">
                <a:solidFill>
                  <a:srgbClr val="2C25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Поставщики</a:t>
            </a:r>
            <a:endParaRPr lang="en-US" sz="1040" dirty="0"/>
          </a:p>
          <a:p>
            <a:pPr algn="ctr" indent="0" marL="0">
              <a:buNone/>
            </a:pPr>
            <a:r>
              <a:rPr lang="en-US" sz="1040" dirty="0">
                <a:solidFill>
                  <a:srgbClr val="2C25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сырьё</a:t>
            </a:r>
            <a:endParaRPr lang="en-US" sz="1040" dirty="0"/>
          </a:p>
          <a:p>
            <a:pPr algn="ctr" indent="0" marL="0">
              <a:buNone/>
            </a:pPr>
            <a:r>
              <a:rPr lang="en-US" sz="1040" dirty="0">
                <a:solidFill>
                  <a:srgbClr val="2C25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поставка</a:t>
            </a:r>
            <a:endParaRPr lang="en-US" sz="1040" dirty="0"/>
          </a:p>
          <a:p>
            <a:pPr algn="ctr" indent="0" marL="0">
              <a:buNone/>
            </a:pPr>
            <a:r>
              <a:rPr lang="en-US" sz="1040" dirty="0">
                <a:solidFill>
                  <a:srgbClr val="2C25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счёт поставщика</a:t>
            </a:r>
            <a:endParaRPr lang="en-US" sz="1040" dirty="0"/>
          </a:p>
        </p:txBody>
      </p:sp>
      <p:sp>
        <p:nvSpPr>
          <p:cNvPr id="10" name="Text 8"/>
          <p:cNvSpPr/>
          <p:nvPr/>
        </p:nvSpPr>
        <p:spPr>
          <a:xfrm>
            <a:off x="2185416" y="1965960"/>
            <a:ext cx="29260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5A3C3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2505456" y="1572768"/>
            <a:ext cx="1481328" cy="1097280"/>
          </a:xfrm>
          <a:prstGeom prst="rect">
            <a:avLst/>
          </a:prstGeom>
          <a:solidFill>
            <a:srgbClr val="FFFDF8"/>
          </a:solidFill>
          <a:ln>
            <a:solidFill>
              <a:srgbClr val="D8C9BB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algn="ctr" indent="0" marL="0">
              <a:buNone/>
            </a:pPr>
            <a:r>
              <a:rPr lang="en-US" sz="1040" dirty="0">
                <a:solidFill>
                  <a:srgbClr val="2C25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Склад сырья</a:t>
            </a:r>
            <a:endParaRPr lang="en-US" sz="1040" dirty="0"/>
          </a:p>
          <a:p>
            <a:pPr algn="ctr" indent="0" marL="0">
              <a:buNone/>
            </a:pPr>
            <a:r>
              <a:rPr lang="en-US" sz="1040" dirty="0">
                <a:solidFill>
                  <a:srgbClr val="2C25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партии</a:t>
            </a:r>
            <a:endParaRPr lang="en-US" sz="1040" dirty="0"/>
          </a:p>
          <a:p>
            <a:pPr algn="ctr" indent="0" marL="0">
              <a:buNone/>
            </a:pPr>
            <a:r>
              <a:rPr lang="en-US" sz="1040" dirty="0">
                <a:solidFill>
                  <a:srgbClr val="2C25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остатки</a:t>
            </a:r>
            <a:endParaRPr lang="en-US" sz="1040" dirty="0"/>
          </a:p>
          <a:p>
            <a:pPr algn="ctr" indent="0" marL="0">
              <a:buNone/>
            </a:pPr>
            <a:r>
              <a:rPr lang="en-US" sz="1040" dirty="0">
                <a:solidFill>
                  <a:srgbClr val="2C25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срок годности</a:t>
            </a:r>
            <a:endParaRPr lang="en-US" sz="1040" dirty="0"/>
          </a:p>
        </p:txBody>
      </p:sp>
      <p:sp>
        <p:nvSpPr>
          <p:cNvPr id="12" name="Text 10"/>
          <p:cNvSpPr/>
          <p:nvPr/>
        </p:nvSpPr>
        <p:spPr>
          <a:xfrm>
            <a:off x="4032504" y="1965960"/>
            <a:ext cx="29260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5A3C3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4352544" y="1572768"/>
            <a:ext cx="1481328" cy="1097280"/>
          </a:xfrm>
          <a:prstGeom prst="rect">
            <a:avLst/>
          </a:prstGeom>
          <a:solidFill>
            <a:srgbClr val="EFE5DA"/>
          </a:solidFill>
          <a:ln>
            <a:solidFill>
              <a:srgbClr val="D8C9BB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algn="ctr" indent="0" marL="0">
              <a:buNone/>
            </a:pPr>
            <a:r>
              <a:rPr lang="en-US" sz="1040" dirty="0">
                <a:solidFill>
                  <a:srgbClr val="2C25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Производство</a:t>
            </a:r>
            <a:endParaRPr lang="en-US" sz="1040" dirty="0"/>
          </a:p>
          <a:p>
            <a:pPr algn="ctr" indent="0" marL="0">
              <a:buNone/>
            </a:pPr>
            <a:r>
              <a:rPr lang="en-US" sz="1040" dirty="0">
                <a:solidFill>
                  <a:srgbClr val="2C25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техкарта</a:t>
            </a:r>
            <a:endParaRPr lang="en-US" sz="1040" dirty="0"/>
          </a:p>
          <a:p>
            <a:pPr algn="ctr" indent="0" marL="0">
              <a:buNone/>
            </a:pPr>
            <a:r>
              <a:rPr lang="en-US" sz="1040" dirty="0">
                <a:solidFill>
                  <a:srgbClr val="2C25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партия</a:t>
            </a:r>
            <a:endParaRPr lang="en-US" sz="1040" dirty="0"/>
          </a:p>
          <a:p>
            <a:pPr algn="ctr" indent="0" marL="0">
              <a:buNone/>
            </a:pPr>
            <a:r>
              <a:rPr lang="en-US" sz="1040" dirty="0">
                <a:solidFill>
                  <a:srgbClr val="2C25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списание сырья</a:t>
            </a:r>
            <a:endParaRPr lang="en-US" sz="1040" dirty="0"/>
          </a:p>
        </p:txBody>
      </p:sp>
      <p:sp>
        <p:nvSpPr>
          <p:cNvPr id="14" name="Text 12"/>
          <p:cNvSpPr/>
          <p:nvPr/>
        </p:nvSpPr>
        <p:spPr>
          <a:xfrm>
            <a:off x="5879592" y="1965960"/>
            <a:ext cx="29260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5A3C3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6199632" y="1572768"/>
            <a:ext cx="1481328" cy="1097280"/>
          </a:xfrm>
          <a:prstGeom prst="rect">
            <a:avLst/>
          </a:prstGeom>
          <a:solidFill>
            <a:srgbClr val="FFFDF8"/>
          </a:solidFill>
          <a:ln>
            <a:solidFill>
              <a:srgbClr val="D8C9BB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algn="ctr" indent="0" marL="0">
              <a:buNone/>
            </a:pPr>
            <a:r>
              <a:rPr lang="en-US" sz="1040" dirty="0">
                <a:solidFill>
                  <a:srgbClr val="2C25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Качество</a:t>
            </a:r>
            <a:endParaRPr lang="en-US" sz="1040" dirty="0"/>
          </a:p>
          <a:p>
            <a:pPr algn="ctr" indent="0" marL="0">
              <a:buNone/>
            </a:pPr>
            <a:r>
              <a:rPr lang="en-US" sz="1040" dirty="0">
                <a:solidFill>
                  <a:srgbClr val="2C25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проверка сырья</a:t>
            </a:r>
            <a:endParaRPr lang="en-US" sz="1040" dirty="0"/>
          </a:p>
          <a:p>
            <a:pPr algn="ctr" indent="0" marL="0">
              <a:buNone/>
            </a:pPr>
            <a:r>
              <a:rPr lang="en-US" sz="1040" dirty="0">
                <a:solidFill>
                  <a:srgbClr val="2C25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проверка ГП</a:t>
            </a:r>
            <a:endParaRPr lang="en-US" sz="1040" dirty="0"/>
          </a:p>
          <a:p>
            <a:pPr algn="ctr" indent="0" marL="0">
              <a:buNone/>
            </a:pPr>
            <a:r>
              <a:rPr lang="en-US" sz="1040" dirty="0">
                <a:solidFill>
                  <a:srgbClr val="2C25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результат</a:t>
            </a:r>
            <a:endParaRPr lang="en-US" sz="1040" dirty="0"/>
          </a:p>
        </p:txBody>
      </p:sp>
      <p:sp>
        <p:nvSpPr>
          <p:cNvPr id="16" name="Text 14"/>
          <p:cNvSpPr/>
          <p:nvPr/>
        </p:nvSpPr>
        <p:spPr>
          <a:xfrm>
            <a:off x="7726680" y="1965960"/>
            <a:ext cx="29260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5A3C3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8046720" y="1572768"/>
            <a:ext cx="1481328" cy="1097280"/>
          </a:xfrm>
          <a:prstGeom prst="rect">
            <a:avLst/>
          </a:prstGeom>
          <a:solidFill>
            <a:srgbClr val="EFE5DA"/>
          </a:solidFill>
          <a:ln>
            <a:solidFill>
              <a:srgbClr val="D8C9BB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algn="ctr" indent="0" marL="0">
              <a:buNone/>
            </a:pPr>
            <a:r>
              <a:rPr lang="en-US" sz="1040" dirty="0">
                <a:solidFill>
                  <a:srgbClr val="2C25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Клиенты</a:t>
            </a:r>
            <a:endParaRPr lang="en-US" sz="1040" dirty="0"/>
          </a:p>
          <a:p>
            <a:pPr algn="ctr" indent="0" marL="0">
              <a:buNone/>
            </a:pPr>
            <a:r>
              <a:rPr lang="en-US" sz="1040" dirty="0">
                <a:solidFill>
                  <a:srgbClr val="2C25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заказ</a:t>
            </a:r>
            <a:endParaRPr lang="en-US" sz="1040" dirty="0"/>
          </a:p>
          <a:p>
            <a:pPr algn="ctr" indent="0" marL="0">
              <a:buNone/>
            </a:pPr>
            <a:r>
              <a:rPr lang="en-US" sz="1040" dirty="0">
                <a:solidFill>
                  <a:srgbClr val="2C25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счёт</a:t>
            </a:r>
            <a:endParaRPr lang="en-US" sz="1040" dirty="0"/>
          </a:p>
          <a:p>
            <a:pPr algn="ctr" indent="0" marL="0">
              <a:buNone/>
            </a:pPr>
            <a:r>
              <a:rPr lang="en-US" sz="1040" dirty="0">
                <a:solidFill>
                  <a:srgbClr val="2C25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оплата</a:t>
            </a:r>
            <a:endParaRPr lang="en-US" sz="1040" dirty="0"/>
          </a:p>
        </p:txBody>
      </p:sp>
      <p:sp>
        <p:nvSpPr>
          <p:cNvPr id="18" name="Text 16"/>
          <p:cNvSpPr/>
          <p:nvPr/>
        </p:nvSpPr>
        <p:spPr>
          <a:xfrm>
            <a:off x="9573768" y="1965960"/>
            <a:ext cx="29260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5A3C3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9893808" y="1572768"/>
            <a:ext cx="1481328" cy="1097280"/>
          </a:xfrm>
          <a:prstGeom prst="rect">
            <a:avLst/>
          </a:prstGeom>
          <a:solidFill>
            <a:srgbClr val="FFFDF8"/>
          </a:solidFill>
          <a:ln>
            <a:solidFill>
              <a:srgbClr val="D8C9BB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algn="ctr" indent="0" marL="0">
              <a:buNone/>
            </a:pPr>
            <a:r>
              <a:rPr lang="en-US" sz="1040" dirty="0">
                <a:solidFill>
                  <a:srgbClr val="2C25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Отгрузка</a:t>
            </a:r>
            <a:endParaRPr lang="en-US" sz="1040" dirty="0"/>
          </a:p>
          <a:p>
            <a:pPr algn="ctr" indent="0" marL="0">
              <a:buNone/>
            </a:pPr>
            <a:r>
              <a:rPr lang="en-US" sz="1040" dirty="0">
                <a:solidFill>
                  <a:srgbClr val="2C25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shipment</a:t>
            </a:r>
            <a:endParaRPr lang="en-US" sz="1040" dirty="0"/>
          </a:p>
          <a:p>
            <a:pPr algn="ctr" indent="0" marL="0">
              <a:buNone/>
            </a:pPr>
            <a:r>
              <a:rPr lang="en-US" sz="1040" dirty="0">
                <a:solidFill>
                  <a:srgbClr val="2C25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позиции</a:t>
            </a:r>
            <a:endParaRPr lang="en-US" sz="1040" dirty="0"/>
          </a:p>
          <a:p>
            <a:pPr algn="ctr" indent="0" marL="0">
              <a:buNone/>
            </a:pPr>
            <a:r>
              <a:rPr lang="en-US" sz="1040" dirty="0">
                <a:solidFill>
                  <a:srgbClr val="2C25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аудит</a:t>
            </a:r>
            <a:endParaRPr lang="en-US" sz="1040" dirty="0"/>
          </a:p>
        </p:txBody>
      </p:sp>
      <p:sp>
        <p:nvSpPr>
          <p:cNvPr id="20" name="Shape 18"/>
          <p:cNvSpPr/>
          <p:nvPr/>
        </p:nvSpPr>
        <p:spPr>
          <a:xfrm>
            <a:off x="640080" y="3310128"/>
            <a:ext cx="3246120" cy="640080"/>
          </a:xfrm>
          <a:prstGeom prst="roundRect">
            <a:avLst>
              <a:gd name="adj" fmla="val 11429"/>
            </a:avLst>
          </a:prstGeom>
          <a:solidFill>
            <a:srgbClr val="FFFDF8"/>
          </a:solidFill>
          <a:ln w="12700">
            <a:solidFill>
              <a:srgbClr val="D8C9BB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768096" y="3401568"/>
            <a:ext cx="299008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20" b="1" dirty="0">
                <a:solidFill>
                  <a:srgbClr val="5A3C3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Клиентский контур</a:t>
            </a:r>
            <a:endParaRPr lang="en-US" sz="1120" dirty="0"/>
          </a:p>
        </p:txBody>
      </p:sp>
      <p:sp>
        <p:nvSpPr>
          <p:cNvPr id="22" name="Text 20"/>
          <p:cNvSpPr/>
          <p:nvPr/>
        </p:nvSpPr>
        <p:spPr>
          <a:xfrm>
            <a:off x="768096" y="3694176"/>
            <a:ext cx="2990088" cy="1828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060" dirty="0">
                <a:solidFill>
                  <a:srgbClr val="2C25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клиенты, заказы, счета, отгрузки</a:t>
            </a:r>
            <a:endParaRPr lang="en-US" sz="1060" dirty="0"/>
          </a:p>
        </p:txBody>
      </p:sp>
      <p:sp>
        <p:nvSpPr>
          <p:cNvPr id="23" name="Shape 21"/>
          <p:cNvSpPr/>
          <p:nvPr/>
        </p:nvSpPr>
        <p:spPr>
          <a:xfrm>
            <a:off x="4389120" y="3310128"/>
            <a:ext cx="3246120" cy="640080"/>
          </a:xfrm>
          <a:prstGeom prst="roundRect">
            <a:avLst>
              <a:gd name="adj" fmla="val 11429"/>
            </a:avLst>
          </a:prstGeom>
          <a:solidFill>
            <a:srgbClr val="F3E7C5"/>
          </a:solidFill>
          <a:ln w="12700">
            <a:solidFill>
              <a:srgbClr val="D8C9BB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517136" y="3401568"/>
            <a:ext cx="299008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20" b="1" dirty="0">
                <a:solidFill>
                  <a:srgbClr val="5A3C3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Поставочный контур</a:t>
            </a:r>
            <a:endParaRPr lang="en-US" sz="1120" dirty="0"/>
          </a:p>
        </p:txBody>
      </p:sp>
      <p:sp>
        <p:nvSpPr>
          <p:cNvPr id="25" name="Text 23"/>
          <p:cNvSpPr/>
          <p:nvPr/>
        </p:nvSpPr>
        <p:spPr>
          <a:xfrm>
            <a:off x="4517136" y="3694176"/>
            <a:ext cx="2990088" cy="1828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060" dirty="0">
                <a:solidFill>
                  <a:srgbClr val="2C25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поставщики, сырьё, поставки, склад</a:t>
            </a:r>
            <a:endParaRPr lang="en-US" sz="1060" dirty="0"/>
          </a:p>
        </p:txBody>
      </p:sp>
      <p:sp>
        <p:nvSpPr>
          <p:cNvPr id="26" name="Shape 24"/>
          <p:cNvSpPr/>
          <p:nvPr/>
        </p:nvSpPr>
        <p:spPr>
          <a:xfrm>
            <a:off x="8138160" y="3310128"/>
            <a:ext cx="3246120" cy="640080"/>
          </a:xfrm>
          <a:prstGeom prst="roundRect">
            <a:avLst>
              <a:gd name="adj" fmla="val 11429"/>
            </a:avLst>
          </a:prstGeom>
          <a:solidFill>
            <a:srgbClr val="DAE7EA"/>
          </a:solidFill>
          <a:ln w="12700">
            <a:solidFill>
              <a:srgbClr val="D8C9BB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8266176" y="3401568"/>
            <a:ext cx="299008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20" b="1" dirty="0">
                <a:solidFill>
                  <a:srgbClr val="5A3C3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Производственный контур</a:t>
            </a:r>
            <a:endParaRPr lang="en-US" sz="1120" dirty="0"/>
          </a:p>
        </p:txBody>
      </p:sp>
      <p:sp>
        <p:nvSpPr>
          <p:cNvPr id="28" name="Text 26"/>
          <p:cNvSpPr/>
          <p:nvPr/>
        </p:nvSpPr>
        <p:spPr>
          <a:xfrm>
            <a:off x="8266176" y="3694176"/>
            <a:ext cx="2990088" cy="1828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060" dirty="0">
                <a:solidFill>
                  <a:srgbClr val="2C25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продукция, техкарты, партии</a:t>
            </a:r>
            <a:endParaRPr lang="en-US" sz="1060" dirty="0"/>
          </a:p>
        </p:txBody>
      </p:sp>
      <p:sp>
        <p:nvSpPr>
          <p:cNvPr id="29" name="Shape 27"/>
          <p:cNvSpPr/>
          <p:nvPr/>
        </p:nvSpPr>
        <p:spPr>
          <a:xfrm>
            <a:off x="640080" y="4224528"/>
            <a:ext cx="3246120" cy="640080"/>
          </a:xfrm>
          <a:prstGeom prst="roundRect">
            <a:avLst>
              <a:gd name="adj" fmla="val 11429"/>
            </a:avLst>
          </a:prstGeom>
          <a:solidFill>
            <a:srgbClr val="E0E8D6"/>
          </a:solidFill>
          <a:ln w="12700">
            <a:solidFill>
              <a:srgbClr val="D8C9BB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768096" y="4315968"/>
            <a:ext cx="299008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20" b="1" dirty="0">
                <a:solidFill>
                  <a:srgbClr val="5A3C3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Контроль качества</a:t>
            </a:r>
            <a:endParaRPr lang="en-US" sz="1120" dirty="0"/>
          </a:p>
        </p:txBody>
      </p:sp>
      <p:sp>
        <p:nvSpPr>
          <p:cNvPr id="31" name="Text 29"/>
          <p:cNvSpPr/>
          <p:nvPr/>
        </p:nvSpPr>
        <p:spPr>
          <a:xfrm>
            <a:off x="768096" y="4608576"/>
            <a:ext cx="2990088" cy="1828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060" dirty="0">
                <a:solidFill>
                  <a:srgbClr val="2C25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проверки сырья и готовой продукции</a:t>
            </a:r>
            <a:endParaRPr lang="en-US" sz="1060" dirty="0"/>
          </a:p>
        </p:txBody>
      </p:sp>
      <p:sp>
        <p:nvSpPr>
          <p:cNvPr id="32" name="Shape 30"/>
          <p:cNvSpPr/>
          <p:nvPr/>
        </p:nvSpPr>
        <p:spPr>
          <a:xfrm>
            <a:off x="4389120" y="4224528"/>
            <a:ext cx="3246120" cy="640080"/>
          </a:xfrm>
          <a:prstGeom prst="roundRect">
            <a:avLst>
              <a:gd name="adj" fmla="val 11429"/>
            </a:avLst>
          </a:prstGeom>
          <a:solidFill>
            <a:srgbClr val="EAD5D7"/>
          </a:solidFill>
          <a:ln w="12700">
            <a:solidFill>
              <a:srgbClr val="D8C9BB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4517136" y="4315968"/>
            <a:ext cx="299008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20" b="1" dirty="0">
                <a:solidFill>
                  <a:srgbClr val="5A3C3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Безопасность</a:t>
            </a:r>
            <a:endParaRPr lang="en-US" sz="1120" dirty="0"/>
          </a:p>
        </p:txBody>
      </p:sp>
      <p:sp>
        <p:nvSpPr>
          <p:cNvPr id="34" name="Text 32"/>
          <p:cNvSpPr/>
          <p:nvPr/>
        </p:nvSpPr>
        <p:spPr>
          <a:xfrm>
            <a:off x="4517136" y="4608576"/>
            <a:ext cx="2990088" cy="1828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060" dirty="0">
                <a:solidFill>
                  <a:srgbClr val="2C25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пользователи, роли, журнал аудита</a:t>
            </a:r>
            <a:endParaRPr lang="en-US" sz="106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4EFE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237744"/>
          </a:xfrm>
          <a:prstGeom prst="rect">
            <a:avLst/>
          </a:prstGeom>
          <a:solidFill>
            <a:srgbClr val="3A2924"/>
          </a:solidFill>
          <a:ln w="12700">
            <a:solidFill>
              <a:srgbClr val="3A2924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56032" y="50292"/>
            <a:ext cx="292608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БСБД • Slop-Bakery</a:t>
            </a:r>
            <a:endParaRPr lang="en-US" sz="650" dirty="0"/>
          </a:p>
        </p:txBody>
      </p:sp>
      <p:sp>
        <p:nvSpPr>
          <p:cNvPr id="4" name="Text 2"/>
          <p:cNvSpPr/>
          <p:nvPr/>
        </p:nvSpPr>
        <p:spPr>
          <a:xfrm>
            <a:off x="9326880" y="50292"/>
            <a:ext cx="256032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630" dirty="0">
                <a:solidFill>
                  <a:srgbClr val="E9DDD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Доступ</a:t>
            </a:r>
            <a:endParaRPr lang="en-US" sz="630" dirty="0"/>
          </a:p>
        </p:txBody>
      </p:sp>
      <p:sp>
        <p:nvSpPr>
          <p:cNvPr id="5" name="Text 3"/>
          <p:cNvSpPr/>
          <p:nvPr/>
        </p:nvSpPr>
        <p:spPr>
          <a:xfrm>
            <a:off x="11868912" y="6565392"/>
            <a:ext cx="164592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650" dirty="0">
                <a:solidFill>
                  <a:srgbClr val="6A5A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650" dirty="0"/>
          </a:p>
        </p:txBody>
      </p:sp>
      <p:sp>
        <p:nvSpPr>
          <p:cNvPr id="6" name="Text 4"/>
          <p:cNvSpPr/>
          <p:nvPr/>
        </p:nvSpPr>
        <p:spPr>
          <a:xfrm>
            <a:off x="384048" y="475488"/>
            <a:ext cx="98755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2C25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Роли пользователей</a:t>
            </a:r>
            <a:endParaRPr lang="en-US" sz="2500" dirty="0"/>
          </a:p>
        </p:txBody>
      </p:sp>
      <p:sp>
        <p:nvSpPr>
          <p:cNvPr id="7" name="Text 5"/>
          <p:cNvSpPr/>
          <p:nvPr/>
        </p:nvSpPr>
        <p:spPr>
          <a:xfrm>
            <a:off x="393192" y="859536"/>
            <a:ext cx="9875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A5A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Разделы интерфейса и действия разделены по зонам ответственности</a:t>
            </a:r>
            <a:endParaRPr lang="en-US" sz="950" dirty="0"/>
          </a:p>
        </p:txBody>
      </p:sp>
      <p:sp>
        <p:nvSpPr>
          <p:cNvPr id="8" name="Text 6"/>
          <p:cNvSpPr/>
          <p:nvPr/>
        </p:nvSpPr>
        <p:spPr>
          <a:xfrm>
            <a:off x="384048" y="1124712"/>
            <a:ext cx="1051560" cy="219456"/>
          </a:xfrm>
          <a:prstGeom prst="rect">
            <a:avLst/>
          </a:prstGeom>
          <a:solidFill>
            <a:srgbClr val="5A3C31"/>
          </a:solidFill>
          <a:ln>
            <a:solidFill>
              <a:srgbClr val="5A3C31"/>
            </a:solidFill>
          </a:ln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82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Роли</a:t>
            </a:r>
            <a:endParaRPr lang="en-US" sz="820" dirty="0"/>
          </a:p>
        </p:txBody>
      </p:sp>
      <p:sp>
        <p:nvSpPr>
          <p:cNvPr id="9" name="Shape 7"/>
          <p:cNvSpPr/>
          <p:nvPr/>
        </p:nvSpPr>
        <p:spPr>
          <a:xfrm>
            <a:off x="502920" y="1554480"/>
            <a:ext cx="1920240" cy="2999232"/>
          </a:xfrm>
          <a:prstGeom prst="roundRect">
            <a:avLst>
              <a:gd name="adj" fmla="val 3810"/>
            </a:avLst>
          </a:prstGeom>
          <a:solidFill>
            <a:srgbClr val="EFE5DA"/>
          </a:solidFill>
          <a:ln w="12700">
            <a:solidFill>
              <a:srgbClr val="D8C9BB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30936" y="1645920"/>
            <a:ext cx="166420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10" b="1" dirty="0">
                <a:solidFill>
                  <a:srgbClr val="5A3C3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admin</a:t>
            </a:r>
            <a:endParaRPr lang="en-US" sz="1210" dirty="0"/>
          </a:p>
        </p:txBody>
      </p:sp>
      <p:sp>
        <p:nvSpPr>
          <p:cNvPr id="11" name="Text 9"/>
          <p:cNvSpPr/>
          <p:nvPr/>
        </p:nvSpPr>
        <p:spPr>
          <a:xfrm>
            <a:off x="630936" y="1938528"/>
            <a:ext cx="1664208" cy="254203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120" dirty="0">
                <a:solidFill>
                  <a:srgbClr val="2C25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пользователи</a:t>
            </a:r>
            <a:endParaRPr lang="en-US" sz="1120" dirty="0"/>
          </a:p>
          <a:p>
            <a:pPr indent="0" marL="0">
              <a:buNone/>
            </a:pPr>
            <a:r>
              <a:rPr lang="en-US" sz="1120" dirty="0">
                <a:solidFill>
                  <a:srgbClr val="2C25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аудит</a:t>
            </a:r>
            <a:endParaRPr lang="en-US" sz="1120" dirty="0"/>
          </a:p>
          <a:p>
            <a:pPr indent="0" marL="0">
              <a:buNone/>
            </a:pPr>
            <a:r>
              <a:rPr lang="en-US" sz="1120" dirty="0">
                <a:solidFill>
                  <a:srgbClr val="2C25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статусы</a:t>
            </a:r>
            <a:endParaRPr lang="en-US" sz="1120" dirty="0"/>
          </a:p>
          <a:p>
            <a:pPr indent="0" marL="0">
              <a:buNone/>
            </a:pPr>
            <a:r>
              <a:rPr lang="en-US" sz="1120" dirty="0">
                <a:solidFill>
                  <a:srgbClr val="2C25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отчёты</a:t>
            </a:r>
            <a:endParaRPr lang="en-US" sz="1120" dirty="0"/>
          </a:p>
        </p:txBody>
      </p:sp>
      <p:sp>
        <p:nvSpPr>
          <p:cNvPr id="12" name="Shape 10"/>
          <p:cNvSpPr/>
          <p:nvPr/>
        </p:nvSpPr>
        <p:spPr>
          <a:xfrm>
            <a:off x="2816352" y="1554480"/>
            <a:ext cx="1920240" cy="2999232"/>
          </a:xfrm>
          <a:prstGeom prst="roundRect">
            <a:avLst>
              <a:gd name="adj" fmla="val 3810"/>
            </a:avLst>
          </a:prstGeom>
          <a:solidFill>
            <a:srgbClr val="FFFDF8"/>
          </a:solidFill>
          <a:ln w="12700">
            <a:solidFill>
              <a:srgbClr val="D8C9BB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2944368" y="1645920"/>
            <a:ext cx="166420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10" b="1" dirty="0">
                <a:solidFill>
                  <a:srgbClr val="5A3C3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client</a:t>
            </a:r>
            <a:endParaRPr lang="en-US" sz="1210" dirty="0"/>
          </a:p>
        </p:txBody>
      </p:sp>
      <p:sp>
        <p:nvSpPr>
          <p:cNvPr id="14" name="Text 12"/>
          <p:cNvSpPr/>
          <p:nvPr/>
        </p:nvSpPr>
        <p:spPr>
          <a:xfrm>
            <a:off x="2944368" y="1938528"/>
            <a:ext cx="1664208" cy="254203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120" dirty="0">
                <a:solidFill>
                  <a:srgbClr val="2C25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свои заказы</a:t>
            </a:r>
            <a:endParaRPr lang="en-US" sz="1120" dirty="0"/>
          </a:p>
          <a:p>
            <a:pPr indent="0" marL="0">
              <a:buNone/>
            </a:pPr>
            <a:r>
              <a:rPr lang="en-US" sz="1120" dirty="0">
                <a:solidFill>
                  <a:srgbClr val="2C25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свои счета</a:t>
            </a:r>
            <a:endParaRPr lang="en-US" sz="1120" dirty="0"/>
          </a:p>
          <a:p>
            <a:pPr indent="0" marL="0">
              <a:buNone/>
            </a:pPr>
            <a:r>
              <a:rPr lang="en-US" sz="1120" dirty="0">
                <a:solidFill>
                  <a:srgbClr val="2C25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свои отгрузки</a:t>
            </a:r>
            <a:endParaRPr lang="en-US" sz="1120" dirty="0"/>
          </a:p>
          <a:p>
            <a:pPr indent="0" marL="0">
              <a:buNone/>
            </a:pPr>
            <a:r>
              <a:rPr lang="en-US" sz="1120" dirty="0">
                <a:solidFill>
                  <a:srgbClr val="2C25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оплата</a:t>
            </a:r>
            <a:endParaRPr lang="en-US" sz="1120" dirty="0"/>
          </a:p>
        </p:txBody>
      </p:sp>
      <p:sp>
        <p:nvSpPr>
          <p:cNvPr id="15" name="Shape 13"/>
          <p:cNvSpPr/>
          <p:nvPr/>
        </p:nvSpPr>
        <p:spPr>
          <a:xfrm>
            <a:off x="5129784" y="1554480"/>
            <a:ext cx="1920240" cy="2999232"/>
          </a:xfrm>
          <a:prstGeom prst="roundRect">
            <a:avLst>
              <a:gd name="adj" fmla="val 3810"/>
            </a:avLst>
          </a:prstGeom>
          <a:solidFill>
            <a:srgbClr val="EFE5DA"/>
          </a:solidFill>
          <a:ln w="12700">
            <a:solidFill>
              <a:srgbClr val="D8C9BB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257800" y="1645920"/>
            <a:ext cx="166420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10" b="1" dirty="0">
                <a:solidFill>
                  <a:srgbClr val="5A3C3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technologist</a:t>
            </a:r>
            <a:endParaRPr lang="en-US" sz="1210" dirty="0"/>
          </a:p>
        </p:txBody>
      </p:sp>
      <p:sp>
        <p:nvSpPr>
          <p:cNvPr id="17" name="Text 15"/>
          <p:cNvSpPr/>
          <p:nvPr/>
        </p:nvSpPr>
        <p:spPr>
          <a:xfrm>
            <a:off x="5257800" y="1938528"/>
            <a:ext cx="1664208" cy="254203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120" dirty="0">
                <a:solidFill>
                  <a:srgbClr val="2C25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техкарты</a:t>
            </a:r>
            <a:endParaRPr lang="en-US" sz="1120" dirty="0"/>
          </a:p>
          <a:p>
            <a:pPr indent="0" marL="0">
              <a:buNone/>
            </a:pPr>
            <a:r>
              <a:rPr lang="en-US" sz="1120" dirty="0">
                <a:solidFill>
                  <a:srgbClr val="2C25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производство</a:t>
            </a:r>
            <a:endParaRPr lang="en-US" sz="1120" dirty="0"/>
          </a:p>
          <a:p>
            <a:pPr indent="0" marL="0">
              <a:buNone/>
            </a:pPr>
            <a:r>
              <a:rPr lang="en-US" sz="1120" dirty="0">
                <a:solidFill>
                  <a:srgbClr val="2C25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производственные отчёты</a:t>
            </a:r>
            <a:endParaRPr lang="en-US" sz="1120" dirty="0"/>
          </a:p>
        </p:txBody>
      </p:sp>
      <p:sp>
        <p:nvSpPr>
          <p:cNvPr id="18" name="Shape 16"/>
          <p:cNvSpPr/>
          <p:nvPr/>
        </p:nvSpPr>
        <p:spPr>
          <a:xfrm>
            <a:off x="7443216" y="1554480"/>
            <a:ext cx="1920240" cy="2999232"/>
          </a:xfrm>
          <a:prstGeom prst="roundRect">
            <a:avLst>
              <a:gd name="adj" fmla="val 3810"/>
            </a:avLst>
          </a:prstGeom>
          <a:solidFill>
            <a:srgbClr val="FFFDF8"/>
          </a:solidFill>
          <a:ln w="12700">
            <a:solidFill>
              <a:srgbClr val="D8C9BB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7571232" y="1645920"/>
            <a:ext cx="166420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10" b="1" dirty="0">
                <a:solidFill>
                  <a:srgbClr val="5A3C3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warehouse_worker</a:t>
            </a:r>
            <a:endParaRPr lang="en-US" sz="1210" dirty="0"/>
          </a:p>
        </p:txBody>
      </p:sp>
      <p:sp>
        <p:nvSpPr>
          <p:cNvPr id="20" name="Text 18"/>
          <p:cNvSpPr/>
          <p:nvPr/>
        </p:nvSpPr>
        <p:spPr>
          <a:xfrm>
            <a:off x="7571232" y="1938528"/>
            <a:ext cx="1664208" cy="254203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120" dirty="0">
                <a:solidFill>
                  <a:srgbClr val="2C25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поставки</a:t>
            </a:r>
            <a:endParaRPr lang="en-US" sz="1120" dirty="0"/>
          </a:p>
          <a:p>
            <a:pPr indent="0" marL="0">
              <a:buNone/>
            </a:pPr>
            <a:r>
              <a:rPr lang="en-US" sz="1120" dirty="0">
                <a:solidFill>
                  <a:srgbClr val="2C25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склад</a:t>
            </a:r>
            <a:endParaRPr lang="en-US" sz="1120" dirty="0"/>
          </a:p>
          <a:p>
            <a:pPr indent="0" marL="0">
              <a:buNone/>
            </a:pPr>
            <a:r>
              <a:rPr lang="en-US" sz="1120" dirty="0">
                <a:solidFill>
                  <a:srgbClr val="2C25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отгрузки</a:t>
            </a:r>
            <a:endParaRPr lang="en-US" sz="1120" dirty="0"/>
          </a:p>
          <a:p>
            <a:pPr indent="0" marL="0">
              <a:buNone/>
            </a:pPr>
            <a:r>
              <a:rPr lang="en-US" sz="1120" dirty="0">
                <a:solidFill>
                  <a:srgbClr val="2C25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supplier_materials</a:t>
            </a:r>
            <a:endParaRPr lang="en-US" sz="1120" dirty="0"/>
          </a:p>
        </p:txBody>
      </p:sp>
      <p:sp>
        <p:nvSpPr>
          <p:cNvPr id="21" name="Shape 19"/>
          <p:cNvSpPr/>
          <p:nvPr/>
        </p:nvSpPr>
        <p:spPr>
          <a:xfrm>
            <a:off x="9756648" y="1554480"/>
            <a:ext cx="1920240" cy="2999232"/>
          </a:xfrm>
          <a:prstGeom prst="roundRect">
            <a:avLst>
              <a:gd name="adj" fmla="val 3810"/>
            </a:avLst>
          </a:prstGeom>
          <a:solidFill>
            <a:srgbClr val="EFE5DA"/>
          </a:solidFill>
          <a:ln w="12700">
            <a:solidFill>
              <a:srgbClr val="D8C9BB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9884664" y="1645920"/>
            <a:ext cx="166420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10" b="1" dirty="0">
                <a:solidFill>
                  <a:srgbClr val="5A3C3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quality_control</a:t>
            </a:r>
            <a:endParaRPr lang="en-US" sz="1210" dirty="0"/>
          </a:p>
        </p:txBody>
      </p:sp>
      <p:sp>
        <p:nvSpPr>
          <p:cNvPr id="23" name="Text 21"/>
          <p:cNvSpPr/>
          <p:nvPr/>
        </p:nvSpPr>
        <p:spPr>
          <a:xfrm>
            <a:off x="9884664" y="1938528"/>
            <a:ext cx="1664208" cy="254203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120" dirty="0">
                <a:solidFill>
                  <a:srgbClr val="2C25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проверки качества</a:t>
            </a:r>
            <a:endParaRPr lang="en-US" sz="1120" dirty="0"/>
          </a:p>
          <a:p>
            <a:pPr indent="0" marL="0">
              <a:buNone/>
            </a:pPr>
            <a:r>
              <a:rPr lang="en-US" sz="1120" dirty="0">
                <a:solidFill>
                  <a:srgbClr val="2C25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отчёты качества</a:t>
            </a:r>
            <a:endParaRPr lang="en-US" sz="1120" dirty="0"/>
          </a:p>
          <a:p>
            <a:pPr indent="0" marL="0">
              <a:buNone/>
            </a:pPr>
            <a:r>
              <a:rPr lang="en-US" sz="1120" dirty="0">
                <a:solidFill>
                  <a:srgbClr val="2C25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допуск партий</a:t>
            </a:r>
            <a:endParaRPr lang="en-US" sz="1120" dirty="0"/>
          </a:p>
        </p:txBody>
      </p:sp>
      <p:sp>
        <p:nvSpPr>
          <p:cNvPr id="24" name="Text 22"/>
          <p:cNvSpPr/>
          <p:nvPr/>
        </p:nvSpPr>
        <p:spPr>
          <a:xfrm>
            <a:off x="2212848" y="5166360"/>
            <a:ext cx="7726680" cy="384048"/>
          </a:xfrm>
          <a:prstGeom prst="rect">
            <a:avLst/>
          </a:prstGeom>
          <a:solidFill>
            <a:srgbClr val="FFFDF8"/>
          </a:solidFill>
          <a:ln>
            <a:solidFill>
              <a:srgbClr val="D8C9BB"/>
            </a:solidFill>
          </a:ln>
        </p:spPr>
        <p:txBody>
          <a:bodyPr wrap="square" lIns="1270" tIns="1270" rIns="1270" bIns="1270" rtlCol="0" anchor="ctr">
            <a:normAutofit/>
          </a:bodyPr>
          <a:lstStyle/>
          <a:p>
            <a:pPr algn="ctr" indent="0" marL="0">
              <a:buNone/>
            </a:pPr>
            <a:r>
              <a:rPr lang="en-US" sz="1220" dirty="0">
                <a:solidFill>
                  <a:srgbClr val="2C25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Критичные операции проверяются не только по видимому разделу, но и по конкретному действию.</a:t>
            </a:r>
            <a:endParaRPr lang="en-US" sz="122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4EFE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237744"/>
          </a:xfrm>
          <a:prstGeom prst="rect">
            <a:avLst/>
          </a:prstGeom>
          <a:solidFill>
            <a:srgbClr val="3A2924"/>
          </a:solidFill>
          <a:ln w="12700">
            <a:solidFill>
              <a:srgbClr val="3A2924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56032" y="50292"/>
            <a:ext cx="292608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БСБД • Slop-Bakery</a:t>
            </a:r>
            <a:endParaRPr lang="en-US" sz="650" dirty="0"/>
          </a:p>
        </p:txBody>
      </p:sp>
      <p:sp>
        <p:nvSpPr>
          <p:cNvPr id="4" name="Text 2"/>
          <p:cNvSpPr/>
          <p:nvPr/>
        </p:nvSpPr>
        <p:spPr>
          <a:xfrm>
            <a:off x="9326880" y="50292"/>
            <a:ext cx="256032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630" dirty="0">
                <a:solidFill>
                  <a:srgbClr val="E9DDD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Угрозы</a:t>
            </a:r>
            <a:endParaRPr lang="en-US" sz="630" dirty="0"/>
          </a:p>
        </p:txBody>
      </p:sp>
      <p:sp>
        <p:nvSpPr>
          <p:cNvPr id="5" name="Text 3"/>
          <p:cNvSpPr/>
          <p:nvPr/>
        </p:nvSpPr>
        <p:spPr>
          <a:xfrm>
            <a:off x="11868912" y="6565392"/>
            <a:ext cx="164592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650" dirty="0">
                <a:solidFill>
                  <a:srgbClr val="6A5A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650" dirty="0"/>
          </a:p>
        </p:txBody>
      </p:sp>
      <p:sp>
        <p:nvSpPr>
          <p:cNvPr id="6" name="Text 4"/>
          <p:cNvSpPr/>
          <p:nvPr/>
        </p:nvSpPr>
        <p:spPr>
          <a:xfrm>
            <a:off x="384048" y="475488"/>
            <a:ext cx="98755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2C25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Модель угроз</a:t>
            </a:r>
            <a:endParaRPr lang="en-US" sz="2500" dirty="0"/>
          </a:p>
        </p:txBody>
      </p:sp>
      <p:sp>
        <p:nvSpPr>
          <p:cNvPr id="7" name="Text 5"/>
          <p:cNvSpPr/>
          <p:nvPr/>
        </p:nvSpPr>
        <p:spPr>
          <a:xfrm>
            <a:off x="393192" y="859536"/>
            <a:ext cx="9875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A5A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Защита от НСД, ошибок пользователя и нарушения целостности</a:t>
            </a:r>
            <a:endParaRPr lang="en-US" sz="950" dirty="0"/>
          </a:p>
        </p:txBody>
      </p:sp>
      <p:sp>
        <p:nvSpPr>
          <p:cNvPr id="8" name="Text 6"/>
          <p:cNvSpPr/>
          <p:nvPr/>
        </p:nvSpPr>
        <p:spPr>
          <a:xfrm>
            <a:off x="384048" y="1124712"/>
            <a:ext cx="1051560" cy="219456"/>
          </a:xfrm>
          <a:prstGeom prst="rect">
            <a:avLst/>
          </a:prstGeom>
          <a:solidFill>
            <a:srgbClr val="5A3C31"/>
          </a:solidFill>
          <a:ln>
            <a:solidFill>
              <a:srgbClr val="5A3C31"/>
            </a:solidFill>
          </a:ln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82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Угрозы</a:t>
            </a:r>
            <a:endParaRPr lang="en-US" sz="820" dirty="0"/>
          </a:p>
        </p:txBody>
      </p:sp>
      <p:sp>
        <p:nvSpPr>
          <p:cNvPr id="9" name="Shape 7"/>
          <p:cNvSpPr/>
          <p:nvPr/>
        </p:nvSpPr>
        <p:spPr>
          <a:xfrm>
            <a:off x="685800" y="1554480"/>
            <a:ext cx="3063240" cy="3337560"/>
          </a:xfrm>
          <a:prstGeom prst="roundRect">
            <a:avLst>
              <a:gd name="adj" fmla="val 2388"/>
            </a:avLst>
          </a:prstGeom>
          <a:solidFill>
            <a:srgbClr val="FFFDF8"/>
          </a:solidFill>
          <a:ln w="12700">
            <a:solidFill>
              <a:srgbClr val="D8C9BB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13816" y="1645920"/>
            <a:ext cx="280720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40" b="1" dirty="0">
                <a:solidFill>
                  <a:srgbClr val="5A3C3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Внутренние угрозы</a:t>
            </a:r>
            <a:endParaRPr lang="en-US" sz="1340" dirty="0"/>
          </a:p>
        </p:txBody>
      </p:sp>
      <p:sp>
        <p:nvSpPr>
          <p:cNvPr id="11" name="Text 9"/>
          <p:cNvSpPr/>
          <p:nvPr/>
        </p:nvSpPr>
        <p:spPr>
          <a:xfrm>
            <a:off x="813816" y="1938528"/>
            <a:ext cx="2807208" cy="28803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2C25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превышение прав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2C25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прямые URL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2C25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подмена POST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2C25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изменение статуса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4480560" y="1554480"/>
            <a:ext cx="3063240" cy="3337560"/>
          </a:xfrm>
          <a:prstGeom prst="roundRect">
            <a:avLst>
              <a:gd name="adj" fmla="val 2388"/>
            </a:avLst>
          </a:prstGeom>
          <a:solidFill>
            <a:srgbClr val="EFE5DA"/>
          </a:solidFill>
          <a:ln w="12700">
            <a:solidFill>
              <a:srgbClr val="D8C9BB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608576" y="1645920"/>
            <a:ext cx="280720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40" b="1" dirty="0">
                <a:solidFill>
                  <a:srgbClr val="5A3C3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Внешние угрозы</a:t>
            </a:r>
            <a:endParaRPr lang="en-US" sz="1340" dirty="0"/>
          </a:p>
        </p:txBody>
      </p:sp>
      <p:sp>
        <p:nvSpPr>
          <p:cNvPr id="14" name="Text 12"/>
          <p:cNvSpPr/>
          <p:nvPr/>
        </p:nvSpPr>
        <p:spPr>
          <a:xfrm>
            <a:off x="4608576" y="1938528"/>
            <a:ext cx="2807208" cy="28803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2C25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SQL-инъекции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2C25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подбор паролей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2C25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сканирование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2C25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небезопасный ввод</a:t>
            </a:r>
            <a:endParaRPr lang="en-US" sz="1250" dirty="0"/>
          </a:p>
        </p:txBody>
      </p:sp>
      <p:sp>
        <p:nvSpPr>
          <p:cNvPr id="15" name="Shape 13"/>
          <p:cNvSpPr/>
          <p:nvPr/>
        </p:nvSpPr>
        <p:spPr>
          <a:xfrm>
            <a:off x="8275320" y="1554480"/>
            <a:ext cx="3063240" cy="3337560"/>
          </a:xfrm>
          <a:prstGeom prst="roundRect">
            <a:avLst>
              <a:gd name="adj" fmla="val 2388"/>
            </a:avLst>
          </a:prstGeom>
          <a:solidFill>
            <a:srgbClr val="FFFDF8"/>
          </a:solidFill>
          <a:ln w="12700">
            <a:solidFill>
              <a:srgbClr val="D8C9BB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8403336" y="1645920"/>
            <a:ext cx="280720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40" b="1" dirty="0">
                <a:solidFill>
                  <a:srgbClr val="5A3C3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Нарушение целостности</a:t>
            </a:r>
            <a:endParaRPr lang="en-US" sz="1340" dirty="0"/>
          </a:p>
        </p:txBody>
      </p:sp>
      <p:sp>
        <p:nvSpPr>
          <p:cNvPr id="17" name="Text 15"/>
          <p:cNvSpPr/>
          <p:nvPr/>
        </p:nvSpPr>
        <p:spPr>
          <a:xfrm>
            <a:off x="8403336" y="1938528"/>
            <a:ext cx="2807208" cy="28803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2C25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отрицательные остатки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2C25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дубли документов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2C25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некорректные даты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2C25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обход качества</a:t>
            </a:r>
            <a:endParaRPr lang="en-US" sz="1250" dirty="0"/>
          </a:p>
        </p:txBody>
      </p:sp>
      <p:sp>
        <p:nvSpPr>
          <p:cNvPr id="18" name="Text 16"/>
          <p:cNvSpPr/>
          <p:nvPr/>
        </p:nvSpPr>
        <p:spPr>
          <a:xfrm>
            <a:off x="1417320" y="4407408"/>
            <a:ext cx="1097280" cy="219456"/>
          </a:xfrm>
          <a:prstGeom prst="rect">
            <a:avLst/>
          </a:prstGeom>
          <a:solidFill>
            <a:srgbClr val="8B5A42"/>
          </a:solidFill>
          <a:ln>
            <a:solidFill>
              <a:srgbClr val="8B5A42"/>
            </a:solidFill>
          </a:ln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82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access control</a:t>
            </a:r>
            <a:endParaRPr lang="en-US" sz="820" dirty="0"/>
          </a:p>
        </p:txBody>
      </p:sp>
      <p:sp>
        <p:nvSpPr>
          <p:cNvPr id="19" name="Text 17"/>
          <p:cNvSpPr/>
          <p:nvPr/>
        </p:nvSpPr>
        <p:spPr>
          <a:xfrm>
            <a:off x="5257800" y="4407408"/>
            <a:ext cx="987552" cy="219456"/>
          </a:xfrm>
          <a:prstGeom prst="rect">
            <a:avLst/>
          </a:prstGeom>
          <a:solidFill>
            <a:srgbClr val="4D6A72"/>
          </a:solidFill>
          <a:ln>
            <a:solidFill>
              <a:srgbClr val="4D6A72"/>
            </a:solidFill>
          </a:ln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82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validation</a:t>
            </a:r>
            <a:endParaRPr lang="en-US" sz="820" dirty="0"/>
          </a:p>
        </p:txBody>
      </p:sp>
      <p:sp>
        <p:nvSpPr>
          <p:cNvPr id="20" name="Text 18"/>
          <p:cNvSpPr/>
          <p:nvPr/>
        </p:nvSpPr>
        <p:spPr>
          <a:xfrm>
            <a:off x="8942832" y="4407408"/>
            <a:ext cx="1024128" cy="219456"/>
          </a:xfrm>
          <a:prstGeom prst="rect">
            <a:avLst/>
          </a:prstGeom>
          <a:solidFill>
            <a:srgbClr val="8B5A42"/>
          </a:solidFill>
          <a:ln>
            <a:solidFill>
              <a:srgbClr val="8B5A42"/>
            </a:solidFill>
          </a:ln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82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constraints</a:t>
            </a:r>
            <a:endParaRPr lang="en-US" sz="820" dirty="0"/>
          </a:p>
        </p:txBody>
      </p:sp>
      <p:sp>
        <p:nvSpPr>
          <p:cNvPr id="21" name="Text 19"/>
          <p:cNvSpPr/>
          <p:nvPr/>
        </p:nvSpPr>
        <p:spPr>
          <a:xfrm>
            <a:off x="1298448" y="5486400"/>
            <a:ext cx="9601200" cy="347472"/>
          </a:xfrm>
          <a:prstGeom prst="rect">
            <a:avLst/>
          </a:prstGeom>
          <a:solidFill>
            <a:srgbClr val="F3E7C5"/>
          </a:solidFill>
          <a:ln>
            <a:solidFill>
              <a:srgbClr val="D8C9BB"/>
            </a:solidFill>
          </a:ln>
        </p:spPr>
        <p:txBody>
          <a:bodyPr wrap="square" lIns="1270" tIns="1270" rIns="1270" bIns="1270" rtlCol="0" anchor="ctr">
            <a:normAutofit/>
          </a:bodyPr>
          <a:lstStyle/>
          <a:p>
            <a:pPr algn="ctr" indent="0" marL="0">
              <a:buNone/>
            </a:pPr>
            <a:r>
              <a:rPr lang="en-US" sz="1200" dirty="0">
                <a:solidFill>
                  <a:srgbClr val="2C25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Ключевой риск: обход интерфейса не должен давать доступ к запрещённым действиям.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4EFE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237744"/>
          </a:xfrm>
          <a:prstGeom prst="rect">
            <a:avLst/>
          </a:prstGeom>
          <a:solidFill>
            <a:srgbClr val="3A2924"/>
          </a:solidFill>
          <a:ln w="12700">
            <a:solidFill>
              <a:srgbClr val="3A2924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56032" y="50292"/>
            <a:ext cx="292608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БСБД • Slop-Bakery</a:t>
            </a:r>
            <a:endParaRPr lang="en-US" sz="650" dirty="0"/>
          </a:p>
        </p:txBody>
      </p:sp>
      <p:sp>
        <p:nvSpPr>
          <p:cNvPr id="4" name="Text 2"/>
          <p:cNvSpPr/>
          <p:nvPr/>
        </p:nvSpPr>
        <p:spPr>
          <a:xfrm>
            <a:off x="9326880" y="50292"/>
            <a:ext cx="256032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630" dirty="0">
                <a:solidFill>
                  <a:srgbClr val="E9DDD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Модель</a:t>
            </a:r>
            <a:endParaRPr lang="en-US" sz="630" dirty="0"/>
          </a:p>
        </p:txBody>
      </p:sp>
      <p:sp>
        <p:nvSpPr>
          <p:cNvPr id="5" name="Text 3"/>
          <p:cNvSpPr/>
          <p:nvPr/>
        </p:nvSpPr>
        <p:spPr>
          <a:xfrm>
            <a:off x="11868912" y="6565392"/>
            <a:ext cx="164592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650" dirty="0">
                <a:solidFill>
                  <a:srgbClr val="6A5A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endParaRPr lang="en-US" sz="650" dirty="0"/>
          </a:p>
        </p:txBody>
      </p:sp>
      <p:sp>
        <p:nvSpPr>
          <p:cNvPr id="6" name="Text 4"/>
          <p:cNvSpPr/>
          <p:nvPr/>
        </p:nvSpPr>
        <p:spPr>
          <a:xfrm>
            <a:off x="384048" y="475488"/>
            <a:ext cx="98755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2C25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Инфологическая модель</a:t>
            </a:r>
            <a:endParaRPr lang="en-US" sz="2500" dirty="0"/>
          </a:p>
        </p:txBody>
      </p:sp>
      <p:sp>
        <p:nvSpPr>
          <p:cNvPr id="7" name="Text 5"/>
          <p:cNvSpPr/>
          <p:nvPr/>
        </p:nvSpPr>
        <p:spPr>
          <a:xfrm>
            <a:off x="393192" y="859536"/>
            <a:ext cx="9875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A5A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ER-модель представлена через группы сущностей и связи документов</a:t>
            </a:r>
            <a:endParaRPr lang="en-US" sz="950" dirty="0"/>
          </a:p>
        </p:txBody>
      </p:sp>
      <p:sp>
        <p:nvSpPr>
          <p:cNvPr id="8" name="Text 6"/>
          <p:cNvSpPr/>
          <p:nvPr/>
        </p:nvSpPr>
        <p:spPr>
          <a:xfrm>
            <a:off x="384048" y="1124712"/>
            <a:ext cx="1051560" cy="219456"/>
          </a:xfrm>
          <a:prstGeom prst="rect">
            <a:avLst/>
          </a:prstGeom>
          <a:solidFill>
            <a:srgbClr val="5A3C31"/>
          </a:solidFill>
          <a:ln>
            <a:solidFill>
              <a:srgbClr val="5A3C31"/>
            </a:solidFill>
          </a:ln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82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ER</a:t>
            </a:r>
            <a:endParaRPr lang="en-US" sz="820" dirty="0"/>
          </a:p>
        </p:txBody>
      </p:sp>
      <p:sp>
        <p:nvSpPr>
          <p:cNvPr id="9" name="Shape 7"/>
          <p:cNvSpPr/>
          <p:nvPr/>
        </p:nvSpPr>
        <p:spPr>
          <a:xfrm>
            <a:off x="530352" y="1371600"/>
            <a:ext cx="5166360" cy="640080"/>
          </a:xfrm>
          <a:prstGeom prst="roundRect">
            <a:avLst>
              <a:gd name="adj" fmla="val 11429"/>
            </a:avLst>
          </a:prstGeom>
          <a:solidFill>
            <a:srgbClr val="E7D7C8"/>
          </a:solidFill>
          <a:ln w="12700">
            <a:solidFill>
              <a:srgbClr val="D8C9BB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58368" y="1463040"/>
            <a:ext cx="491032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20" b="1" dirty="0">
                <a:solidFill>
                  <a:srgbClr val="5A3C3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Пользователи и роли</a:t>
            </a:r>
            <a:endParaRPr lang="en-US" sz="1120" dirty="0"/>
          </a:p>
        </p:txBody>
      </p:sp>
      <p:sp>
        <p:nvSpPr>
          <p:cNvPr id="11" name="Text 9"/>
          <p:cNvSpPr/>
          <p:nvPr/>
        </p:nvSpPr>
        <p:spPr>
          <a:xfrm>
            <a:off x="658368" y="1755648"/>
            <a:ext cx="4910328" cy="1828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2C25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users • roles • user_roles • audit_log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6199632" y="1371600"/>
            <a:ext cx="5166360" cy="640080"/>
          </a:xfrm>
          <a:prstGeom prst="roundRect">
            <a:avLst>
              <a:gd name="adj" fmla="val 11429"/>
            </a:avLst>
          </a:prstGeom>
          <a:solidFill>
            <a:srgbClr val="DAE7EA"/>
          </a:solidFill>
          <a:ln w="12700">
            <a:solidFill>
              <a:srgbClr val="D8C9BB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327648" y="1463040"/>
            <a:ext cx="491032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20" b="1" dirty="0">
                <a:solidFill>
                  <a:srgbClr val="5A3C3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Клиенты и заказы</a:t>
            </a:r>
            <a:endParaRPr lang="en-US" sz="1120" dirty="0"/>
          </a:p>
        </p:txBody>
      </p:sp>
      <p:sp>
        <p:nvSpPr>
          <p:cNvPr id="14" name="Text 12"/>
          <p:cNvSpPr/>
          <p:nvPr/>
        </p:nvSpPr>
        <p:spPr>
          <a:xfrm>
            <a:off x="6327648" y="1755648"/>
            <a:ext cx="4910328" cy="1828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2C25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customers • customer_orders • order_items • invoices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530352" y="2331720"/>
            <a:ext cx="5166360" cy="640080"/>
          </a:xfrm>
          <a:prstGeom prst="roundRect">
            <a:avLst>
              <a:gd name="adj" fmla="val 11429"/>
            </a:avLst>
          </a:prstGeom>
          <a:solidFill>
            <a:srgbClr val="E0E8D6"/>
          </a:solidFill>
          <a:ln w="12700">
            <a:solidFill>
              <a:srgbClr val="D8C9BB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58368" y="2423160"/>
            <a:ext cx="491032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20" b="1" dirty="0">
                <a:solidFill>
                  <a:srgbClr val="5A3C3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Поставщики и сырьё</a:t>
            </a:r>
            <a:endParaRPr lang="en-US" sz="1120" dirty="0"/>
          </a:p>
        </p:txBody>
      </p:sp>
      <p:sp>
        <p:nvSpPr>
          <p:cNvPr id="17" name="Text 15"/>
          <p:cNvSpPr/>
          <p:nvPr/>
        </p:nvSpPr>
        <p:spPr>
          <a:xfrm>
            <a:off x="658368" y="2715768"/>
            <a:ext cx="4910328" cy="1828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2C25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suppliers • supplier_materials • deliveries • raw_material_stock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6199632" y="2331720"/>
            <a:ext cx="5166360" cy="640080"/>
          </a:xfrm>
          <a:prstGeom prst="roundRect">
            <a:avLst>
              <a:gd name="adj" fmla="val 11429"/>
            </a:avLst>
          </a:prstGeom>
          <a:solidFill>
            <a:srgbClr val="F3E7C5"/>
          </a:solidFill>
          <a:ln w="12700">
            <a:solidFill>
              <a:srgbClr val="D8C9BB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327648" y="2423160"/>
            <a:ext cx="491032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20" b="1" dirty="0">
                <a:solidFill>
                  <a:srgbClr val="5A3C3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Производство и техкарты</a:t>
            </a:r>
            <a:endParaRPr lang="en-US" sz="1120" dirty="0"/>
          </a:p>
        </p:txBody>
      </p:sp>
      <p:sp>
        <p:nvSpPr>
          <p:cNvPr id="20" name="Text 18"/>
          <p:cNvSpPr/>
          <p:nvPr/>
        </p:nvSpPr>
        <p:spPr>
          <a:xfrm>
            <a:off x="6327648" y="2715768"/>
            <a:ext cx="4910328" cy="1828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2C25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products • tech_cards • recipe_items • production_batches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530352" y="3291840"/>
            <a:ext cx="5166360" cy="640080"/>
          </a:xfrm>
          <a:prstGeom prst="roundRect">
            <a:avLst>
              <a:gd name="adj" fmla="val 11429"/>
            </a:avLst>
          </a:prstGeom>
          <a:solidFill>
            <a:srgbClr val="EAD5D7"/>
          </a:solidFill>
          <a:ln w="12700">
            <a:solidFill>
              <a:srgbClr val="D8C9BB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58368" y="3383280"/>
            <a:ext cx="491032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20" b="1" dirty="0">
                <a:solidFill>
                  <a:srgbClr val="5A3C3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Качество</a:t>
            </a:r>
            <a:endParaRPr lang="en-US" sz="1120" dirty="0"/>
          </a:p>
        </p:txBody>
      </p:sp>
      <p:sp>
        <p:nvSpPr>
          <p:cNvPr id="23" name="Text 21"/>
          <p:cNvSpPr/>
          <p:nvPr/>
        </p:nvSpPr>
        <p:spPr>
          <a:xfrm>
            <a:off x="658368" y="3675888"/>
            <a:ext cx="4910328" cy="1828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2C25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quality_checks: сырьё и готовая продукция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6199632" y="3291840"/>
            <a:ext cx="5166360" cy="640080"/>
          </a:xfrm>
          <a:prstGeom prst="roundRect">
            <a:avLst>
              <a:gd name="adj" fmla="val 11429"/>
            </a:avLst>
          </a:prstGeom>
          <a:solidFill>
            <a:srgbClr val="D8ECE7"/>
          </a:solidFill>
          <a:ln w="12700">
            <a:solidFill>
              <a:srgbClr val="D8C9BB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327648" y="3383280"/>
            <a:ext cx="491032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20" b="1" dirty="0">
                <a:solidFill>
                  <a:srgbClr val="5A3C3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Отгрузки</a:t>
            </a:r>
            <a:endParaRPr lang="en-US" sz="1120" dirty="0"/>
          </a:p>
        </p:txBody>
      </p:sp>
      <p:sp>
        <p:nvSpPr>
          <p:cNvPr id="26" name="Text 24"/>
          <p:cNvSpPr/>
          <p:nvPr/>
        </p:nvSpPr>
        <p:spPr>
          <a:xfrm>
            <a:off x="6327648" y="3675888"/>
            <a:ext cx="4910328" cy="1828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2C25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shipments • shipment_items • finished_goods_stock</a:t>
            </a:r>
            <a:endParaRPr lang="en-US" sz="1050" dirty="0"/>
          </a:p>
        </p:txBody>
      </p:sp>
      <p:sp>
        <p:nvSpPr>
          <p:cNvPr id="27" name="Shape 25"/>
          <p:cNvSpPr/>
          <p:nvPr/>
        </p:nvSpPr>
        <p:spPr>
          <a:xfrm>
            <a:off x="530352" y="4251960"/>
            <a:ext cx="5166360" cy="640080"/>
          </a:xfrm>
          <a:prstGeom prst="roundRect">
            <a:avLst>
              <a:gd name="adj" fmla="val 11429"/>
            </a:avLst>
          </a:prstGeom>
          <a:solidFill>
            <a:srgbClr val="EFE5DA"/>
          </a:solidFill>
          <a:ln w="12700">
            <a:solidFill>
              <a:srgbClr val="D8C9BB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658368" y="4343400"/>
            <a:ext cx="491032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20" b="1" dirty="0">
                <a:solidFill>
                  <a:srgbClr val="5A3C3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Аудит</a:t>
            </a:r>
            <a:endParaRPr lang="en-US" sz="1120" dirty="0"/>
          </a:p>
        </p:txBody>
      </p:sp>
      <p:sp>
        <p:nvSpPr>
          <p:cNvPr id="29" name="Text 27"/>
          <p:cNvSpPr/>
          <p:nvPr/>
        </p:nvSpPr>
        <p:spPr>
          <a:xfrm>
            <a:off x="658368" y="4636008"/>
            <a:ext cx="4910328" cy="1828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2C25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user → action → document → batch</a:t>
            </a:r>
            <a:endParaRPr lang="en-US" sz="1050" dirty="0"/>
          </a:p>
        </p:txBody>
      </p:sp>
      <p:sp>
        <p:nvSpPr>
          <p:cNvPr id="30" name="Text 28"/>
          <p:cNvSpPr/>
          <p:nvPr/>
        </p:nvSpPr>
        <p:spPr>
          <a:xfrm>
            <a:off x="1143000" y="5394960"/>
            <a:ext cx="9921240" cy="429768"/>
          </a:xfrm>
          <a:prstGeom prst="rect">
            <a:avLst/>
          </a:prstGeom>
          <a:solidFill>
            <a:srgbClr val="FFFDF8"/>
          </a:solidFill>
          <a:ln>
            <a:solidFill>
              <a:srgbClr val="D8C9BB"/>
            </a:solidFill>
          </a:ln>
        </p:spPr>
        <p:txBody>
          <a:bodyPr wrap="square" lIns="1270" tIns="1270" rIns="1270" bIns="1270" rtlCol="0" anchor="ctr">
            <a:normAutofit/>
          </a:bodyPr>
          <a:lstStyle/>
          <a:p>
            <a:pPr algn="ctr" indent="0" marL="0">
              <a:buNone/>
            </a:pPr>
            <a:r>
              <a:rPr lang="en-US" sz="1220" dirty="0">
                <a:solidFill>
                  <a:srgbClr val="2C25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Главная идея: каждая операция привязана к документу и партии, а действия пользователей трассируются через audit_log.</a:t>
            </a:r>
            <a:endParaRPr lang="en-US" sz="122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4EFE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237744"/>
          </a:xfrm>
          <a:prstGeom prst="rect">
            <a:avLst/>
          </a:prstGeom>
          <a:solidFill>
            <a:srgbClr val="3A2924"/>
          </a:solidFill>
          <a:ln w="12700">
            <a:solidFill>
              <a:srgbClr val="3A2924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56032" y="50292"/>
            <a:ext cx="292608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БСБД • Slop-Bakery</a:t>
            </a:r>
            <a:endParaRPr lang="en-US" sz="650" dirty="0"/>
          </a:p>
        </p:txBody>
      </p:sp>
      <p:sp>
        <p:nvSpPr>
          <p:cNvPr id="4" name="Text 2"/>
          <p:cNvSpPr/>
          <p:nvPr/>
        </p:nvSpPr>
        <p:spPr>
          <a:xfrm>
            <a:off x="9326880" y="50292"/>
            <a:ext cx="256032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630" dirty="0">
                <a:solidFill>
                  <a:srgbClr val="E9DDD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Архитектура</a:t>
            </a:r>
            <a:endParaRPr lang="en-US" sz="630" dirty="0"/>
          </a:p>
        </p:txBody>
      </p:sp>
      <p:sp>
        <p:nvSpPr>
          <p:cNvPr id="5" name="Text 3"/>
          <p:cNvSpPr/>
          <p:nvPr/>
        </p:nvSpPr>
        <p:spPr>
          <a:xfrm>
            <a:off x="11868912" y="6565392"/>
            <a:ext cx="164592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650" dirty="0">
                <a:solidFill>
                  <a:srgbClr val="6A5A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</a:t>
            </a:r>
            <a:endParaRPr lang="en-US" sz="650" dirty="0"/>
          </a:p>
        </p:txBody>
      </p:sp>
      <p:sp>
        <p:nvSpPr>
          <p:cNvPr id="6" name="Text 4"/>
          <p:cNvSpPr/>
          <p:nvPr/>
        </p:nvSpPr>
        <p:spPr>
          <a:xfrm>
            <a:off x="384048" y="475488"/>
            <a:ext cx="98755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2C25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Логическая структура / архитектура</a:t>
            </a:r>
            <a:endParaRPr lang="en-US" sz="2500" dirty="0"/>
          </a:p>
        </p:txBody>
      </p:sp>
      <p:sp>
        <p:nvSpPr>
          <p:cNvPr id="7" name="Text 5"/>
          <p:cNvSpPr/>
          <p:nvPr/>
        </p:nvSpPr>
        <p:spPr>
          <a:xfrm>
            <a:off x="393192" y="859536"/>
            <a:ext cx="9875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A5A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Трёхуровневая система с воспроизводимым запуском</a:t>
            </a:r>
            <a:endParaRPr lang="en-US" sz="950" dirty="0"/>
          </a:p>
        </p:txBody>
      </p:sp>
      <p:sp>
        <p:nvSpPr>
          <p:cNvPr id="8" name="Text 6"/>
          <p:cNvSpPr/>
          <p:nvPr/>
        </p:nvSpPr>
        <p:spPr>
          <a:xfrm>
            <a:off x="384048" y="1124712"/>
            <a:ext cx="1051560" cy="219456"/>
          </a:xfrm>
          <a:prstGeom prst="rect">
            <a:avLst/>
          </a:prstGeom>
          <a:solidFill>
            <a:srgbClr val="5A3C31"/>
          </a:solidFill>
          <a:ln>
            <a:solidFill>
              <a:srgbClr val="5A3C31"/>
            </a:solidFill>
          </a:ln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82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 уровня</a:t>
            </a:r>
            <a:endParaRPr lang="en-US" sz="820" dirty="0"/>
          </a:p>
        </p:txBody>
      </p:sp>
      <p:sp>
        <p:nvSpPr>
          <p:cNvPr id="9" name="Text 7"/>
          <p:cNvSpPr/>
          <p:nvPr/>
        </p:nvSpPr>
        <p:spPr>
          <a:xfrm>
            <a:off x="1097280" y="1554480"/>
            <a:ext cx="2514600" cy="1078992"/>
          </a:xfrm>
          <a:prstGeom prst="rect">
            <a:avLst/>
          </a:prstGeom>
          <a:solidFill>
            <a:srgbClr val="FFFDF8"/>
          </a:solidFill>
          <a:ln>
            <a:solidFill>
              <a:srgbClr val="D8C9BB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algn="ctr" indent="0" marL="0">
              <a:buNone/>
            </a:pPr>
            <a:r>
              <a:rPr lang="en-US" sz="1150" dirty="0">
                <a:solidFill>
                  <a:srgbClr val="2C25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Jinja2 / HTML</a:t>
            </a:r>
            <a:endParaRPr lang="en-US" sz="1150" dirty="0"/>
          </a:p>
          <a:p>
            <a:pPr algn="ctr" indent="0" marL="0">
              <a:buNone/>
            </a:pPr>
            <a:r>
              <a:rPr lang="en-US" sz="1150" dirty="0">
                <a:solidFill>
                  <a:srgbClr val="2C25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серверные шаблоны</a:t>
            </a:r>
            <a:endParaRPr lang="en-US" sz="1150" dirty="0"/>
          </a:p>
          <a:p>
            <a:pPr algn="ctr" indent="0" marL="0">
              <a:buNone/>
            </a:pPr>
            <a:r>
              <a:rPr lang="en-US" sz="1150" dirty="0">
                <a:solidFill>
                  <a:srgbClr val="2C25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формы и навигация</a:t>
            </a:r>
            <a:endParaRPr lang="en-US" sz="1150" dirty="0"/>
          </a:p>
        </p:txBody>
      </p:sp>
      <p:sp>
        <p:nvSpPr>
          <p:cNvPr id="10" name="Text 8"/>
          <p:cNvSpPr/>
          <p:nvPr/>
        </p:nvSpPr>
        <p:spPr>
          <a:xfrm>
            <a:off x="3639312" y="1984248"/>
            <a:ext cx="365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5A3C3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4407408" y="1554480"/>
            <a:ext cx="2514600" cy="1078992"/>
          </a:xfrm>
          <a:prstGeom prst="rect">
            <a:avLst/>
          </a:prstGeom>
          <a:solidFill>
            <a:srgbClr val="DAE7EA"/>
          </a:solidFill>
          <a:ln>
            <a:solidFill>
              <a:srgbClr val="D8C9BB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algn="ctr" indent="0" marL="0">
              <a:buNone/>
            </a:pPr>
            <a:r>
              <a:rPr lang="en-US" sz="1150" dirty="0">
                <a:solidFill>
                  <a:srgbClr val="2C25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FastAPI</a:t>
            </a:r>
            <a:endParaRPr lang="en-US" sz="1150" dirty="0"/>
          </a:p>
          <a:p>
            <a:pPr algn="ctr" indent="0" marL="0">
              <a:buNone/>
            </a:pPr>
            <a:r>
              <a:rPr lang="en-US" sz="1150" dirty="0">
                <a:solidFill>
                  <a:srgbClr val="2C25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авторизация</a:t>
            </a:r>
            <a:endParaRPr lang="en-US" sz="1150" dirty="0"/>
          </a:p>
          <a:p>
            <a:pPr algn="ctr" indent="0" marL="0">
              <a:buNone/>
            </a:pPr>
            <a:r>
              <a:rPr lang="en-US" sz="1150" dirty="0">
                <a:solidFill>
                  <a:srgbClr val="2C25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права и бизнес-валидация</a:t>
            </a:r>
            <a:endParaRPr lang="en-US" sz="1150" dirty="0"/>
          </a:p>
        </p:txBody>
      </p:sp>
      <p:sp>
        <p:nvSpPr>
          <p:cNvPr id="12" name="Text 10"/>
          <p:cNvSpPr/>
          <p:nvPr/>
        </p:nvSpPr>
        <p:spPr>
          <a:xfrm>
            <a:off x="6949440" y="1984248"/>
            <a:ext cx="365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5A3C3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7717536" y="1554480"/>
            <a:ext cx="2514600" cy="1078992"/>
          </a:xfrm>
          <a:prstGeom prst="rect">
            <a:avLst/>
          </a:prstGeom>
          <a:solidFill>
            <a:srgbClr val="E0E8D6"/>
          </a:solidFill>
          <a:ln>
            <a:solidFill>
              <a:srgbClr val="D8C9BB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algn="ctr" indent="0" marL="0">
              <a:buNone/>
            </a:pPr>
            <a:r>
              <a:rPr lang="en-US" sz="1150" dirty="0">
                <a:solidFill>
                  <a:srgbClr val="2C25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PostgreSQL</a:t>
            </a:r>
            <a:endParaRPr lang="en-US" sz="1150" dirty="0"/>
          </a:p>
          <a:p>
            <a:pPr algn="ctr" indent="0" marL="0">
              <a:buNone/>
            </a:pPr>
            <a:r>
              <a:rPr lang="en-US" sz="1150" dirty="0">
                <a:solidFill>
                  <a:srgbClr val="2C25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таблицы, ключи</a:t>
            </a:r>
            <a:endParaRPr lang="en-US" sz="1150" dirty="0"/>
          </a:p>
          <a:p>
            <a:pPr algn="ctr" indent="0" marL="0">
              <a:buNone/>
            </a:pPr>
            <a:r>
              <a:rPr lang="en-US" sz="1150" dirty="0">
                <a:solidFill>
                  <a:srgbClr val="2C25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индексы, роли, аудит</a:t>
            </a:r>
            <a:endParaRPr lang="en-US" sz="1150" dirty="0"/>
          </a:p>
        </p:txBody>
      </p:sp>
      <p:sp>
        <p:nvSpPr>
          <p:cNvPr id="14" name="Text 12"/>
          <p:cNvSpPr/>
          <p:nvPr/>
        </p:nvSpPr>
        <p:spPr>
          <a:xfrm>
            <a:off x="4069080" y="3246120"/>
            <a:ext cx="4069080" cy="502920"/>
          </a:xfrm>
          <a:prstGeom prst="rect">
            <a:avLst/>
          </a:prstGeom>
          <a:solidFill>
            <a:srgbClr val="EFE5DA"/>
          </a:solidFill>
          <a:ln>
            <a:solidFill>
              <a:srgbClr val="D8C9BB"/>
            </a:solidFill>
          </a:ln>
        </p:spPr>
        <p:txBody>
          <a:bodyPr wrap="square" lIns="1270" tIns="1270" rIns="1270" bIns="1270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C25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Docker Compose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4069080" y="3749040"/>
            <a:ext cx="4069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A5A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db + web + healthcheck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731520" y="4617720"/>
            <a:ext cx="3246120" cy="475488"/>
          </a:xfrm>
          <a:prstGeom prst="rect">
            <a:avLst/>
          </a:prstGeom>
          <a:solidFill>
            <a:srgbClr val="FFFDF8"/>
          </a:solidFill>
          <a:ln>
            <a:solidFill>
              <a:srgbClr val="D8C9BB"/>
            </a:solidFill>
          </a:ln>
        </p:spPr>
        <p:txBody>
          <a:bodyPr wrap="square" lIns="1270" tIns="1270" rIns="1270" bIns="1270" rtlCol="0" anchor="ctr">
            <a:normAutofit/>
          </a:bodyPr>
          <a:lstStyle/>
          <a:p>
            <a:pPr algn="ctr" indent="0" marL="0">
              <a:buNone/>
            </a:pPr>
            <a:r>
              <a:rPr lang="en-US" sz="1050" dirty="0">
                <a:solidFill>
                  <a:srgbClr val="2C25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auth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dirty="0">
                <a:solidFill>
                  <a:srgbClr val="2C25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вход, сессии</a:t>
            </a: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4572000" y="4617720"/>
            <a:ext cx="3246120" cy="475488"/>
          </a:xfrm>
          <a:prstGeom prst="rect">
            <a:avLst/>
          </a:prstGeom>
          <a:solidFill>
            <a:srgbClr val="FFFDF8"/>
          </a:solidFill>
          <a:ln>
            <a:solidFill>
              <a:srgbClr val="D8C9BB"/>
            </a:solidFill>
          </a:ln>
        </p:spPr>
        <p:txBody>
          <a:bodyPr wrap="square" lIns="1270" tIns="1270" rIns="1270" bIns="1270" rtlCol="0" anchor="ctr">
            <a:normAutofit/>
          </a:bodyPr>
          <a:lstStyle/>
          <a:p>
            <a:pPr algn="ctr" indent="0" marL="0">
              <a:buNone/>
            </a:pPr>
            <a:r>
              <a:rPr lang="en-US" sz="1050" dirty="0">
                <a:solidFill>
                  <a:srgbClr val="2C25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orders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dirty="0">
                <a:solidFill>
                  <a:srgbClr val="2C25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заказы и счета</a:t>
            </a: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8412480" y="4617720"/>
            <a:ext cx="3246120" cy="475488"/>
          </a:xfrm>
          <a:prstGeom prst="rect">
            <a:avLst/>
          </a:prstGeom>
          <a:solidFill>
            <a:srgbClr val="FFFDF8"/>
          </a:solidFill>
          <a:ln>
            <a:solidFill>
              <a:srgbClr val="D8C9BB"/>
            </a:solidFill>
          </a:ln>
        </p:spPr>
        <p:txBody>
          <a:bodyPr wrap="square" lIns="1270" tIns="1270" rIns="1270" bIns="1270" rtlCol="0" anchor="ctr">
            <a:normAutofit/>
          </a:bodyPr>
          <a:lstStyle/>
          <a:p>
            <a:pPr algn="ctr" indent="0" marL="0">
              <a:buNone/>
            </a:pPr>
            <a:r>
              <a:rPr lang="en-US" sz="1050" dirty="0">
                <a:solidFill>
                  <a:srgbClr val="2C25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production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dirty="0">
                <a:solidFill>
                  <a:srgbClr val="2C25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партии и техкарты</a:t>
            </a:r>
            <a:endParaRPr lang="en-US" sz="1050" dirty="0"/>
          </a:p>
        </p:txBody>
      </p:sp>
      <p:sp>
        <p:nvSpPr>
          <p:cNvPr id="19" name="Text 17"/>
          <p:cNvSpPr/>
          <p:nvPr/>
        </p:nvSpPr>
        <p:spPr>
          <a:xfrm>
            <a:off x="731520" y="5330952"/>
            <a:ext cx="3246120" cy="475488"/>
          </a:xfrm>
          <a:prstGeom prst="rect">
            <a:avLst/>
          </a:prstGeom>
          <a:solidFill>
            <a:srgbClr val="FFFDF8"/>
          </a:solidFill>
          <a:ln>
            <a:solidFill>
              <a:srgbClr val="D8C9BB"/>
            </a:solidFill>
          </a:ln>
        </p:spPr>
        <p:txBody>
          <a:bodyPr wrap="square" lIns="1270" tIns="1270" rIns="1270" bIns="1270" rtlCol="0" anchor="ctr">
            <a:normAutofit/>
          </a:bodyPr>
          <a:lstStyle/>
          <a:p>
            <a:pPr algn="ctr" indent="0" marL="0">
              <a:buNone/>
            </a:pPr>
            <a:r>
              <a:rPr lang="en-US" sz="1050" dirty="0">
                <a:solidFill>
                  <a:srgbClr val="2C25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quality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dirty="0">
                <a:solidFill>
                  <a:srgbClr val="2C25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проверки</a:t>
            </a:r>
            <a:endParaRPr lang="en-US" sz="1050" dirty="0"/>
          </a:p>
        </p:txBody>
      </p:sp>
      <p:sp>
        <p:nvSpPr>
          <p:cNvPr id="20" name="Text 18"/>
          <p:cNvSpPr/>
          <p:nvPr/>
        </p:nvSpPr>
        <p:spPr>
          <a:xfrm>
            <a:off x="4572000" y="5330952"/>
            <a:ext cx="3246120" cy="475488"/>
          </a:xfrm>
          <a:prstGeom prst="rect">
            <a:avLst/>
          </a:prstGeom>
          <a:solidFill>
            <a:srgbClr val="FFFDF8"/>
          </a:solidFill>
          <a:ln>
            <a:solidFill>
              <a:srgbClr val="D8C9BB"/>
            </a:solidFill>
          </a:ln>
        </p:spPr>
        <p:txBody>
          <a:bodyPr wrap="square" lIns="1270" tIns="1270" rIns="1270" bIns="1270" rtlCol="0" anchor="ctr">
            <a:normAutofit/>
          </a:bodyPr>
          <a:lstStyle/>
          <a:p>
            <a:pPr algn="ctr" indent="0" marL="0">
              <a:buNone/>
            </a:pPr>
            <a:r>
              <a:rPr lang="en-US" sz="1050" dirty="0">
                <a:solidFill>
                  <a:srgbClr val="2C25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shipments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dirty="0">
                <a:solidFill>
                  <a:srgbClr val="2C25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отгрузки</a:t>
            </a:r>
            <a:endParaRPr lang="en-US" sz="1050" dirty="0"/>
          </a:p>
        </p:txBody>
      </p:sp>
      <p:sp>
        <p:nvSpPr>
          <p:cNvPr id="21" name="Text 19"/>
          <p:cNvSpPr/>
          <p:nvPr/>
        </p:nvSpPr>
        <p:spPr>
          <a:xfrm>
            <a:off x="8412480" y="5330952"/>
            <a:ext cx="3246120" cy="475488"/>
          </a:xfrm>
          <a:prstGeom prst="rect">
            <a:avLst/>
          </a:prstGeom>
          <a:solidFill>
            <a:srgbClr val="FFFDF8"/>
          </a:solidFill>
          <a:ln>
            <a:solidFill>
              <a:srgbClr val="D8C9BB"/>
            </a:solidFill>
          </a:ln>
        </p:spPr>
        <p:txBody>
          <a:bodyPr wrap="square" lIns="1270" tIns="1270" rIns="1270" bIns="1270" rtlCol="0" anchor="ctr">
            <a:normAutofit/>
          </a:bodyPr>
          <a:lstStyle/>
          <a:p>
            <a:pPr algn="ctr" indent="0" marL="0">
              <a:buNone/>
            </a:pPr>
            <a:r>
              <a:rPr lang="en-US" sz="1050" dirty="0">
                <a:solidFill>
                  <a:srgbClr val="2C25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reports/audit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dirty="0">
                <a:solidFill>
                  <a:srgbClr val="2C25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отчёты и журнал</a:t>
            </a:r>
            <a:endParaRPr lang="en-US" sz="10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4EFE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237744"/>
          </a:xfrm>
          <a:prstGeom prst="rect">
            <a:avLst/>
          </a:prstGeom>
          <a:solidFill>
            <a:srgbClr val="3A2924"/>
          </a:solidFill>
          <a:ln w="12700">
            <a:solidFill>
              <a:srgbClr val="3A2924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56032" y="50292"/>
            <a:ext cx="292608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БСБД • Slop-Bakery</a:t>
            </a:r>
            <a:endParaRPr lang="en-US" sz="650" dirty="0"/>
          </a:p>
        </p:txBody>
      </p:sp>
      <p:sp>
        <p:nvSpPr>
          <p:cNvPr id="4" name="Text 2"/>
          <p:cNvSpPr/>
          <p:nvPr/>
        </p:nvSpPr>
        <p:spPr>
          <a:xfrm>
            <a:off x="9326880" y="50292"/>
            <a:ext cx="256032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630" dirty="0">
                <a:solidFill>
                  <a:srgbClr val="E9DDD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БД</a:t>
            </a:r>
            <a:endParaRPr lang="en-US" sz="630" dirty="0"/>
          </a:p>
        </p:txBody>
      </p:sp>
      <p:sp>
        <p:nvSpPr>
          <p:cNvPr id="5" name="Text 3"/>
          <p:cNvSpPr/>
          <p:nvPr/>
        </p:nvSpPr>
        <p:spPr>
          <a:xfrm>
            <a:off x="11868912" y="6565392"/>
            <a:ext cx="164592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650" dirty="0">
                <a:solidFill>
                  <a:srgbClr val="6A5A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</a:t>
            </a:r>
            <a:endParaRPr lang="en-US" sz="650" dirty="0"/>
          </a:p>
        </p:txBody>
      </p:sp>
      <p:sp>
        <p:nvSpPr>
          <p:cNvPr id="6" name="Text 4"/>
          <p:cNvSpPr/>
          <p:nvPr/>
        </p:nvSpPr>
        <p:spPr>
          <a:xfrm>
            <a:off x="384048" y="475488"/>
            <a:ext cx="98755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2C25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Физическая модель PostgreSQL</a:t>
            </a:r>
            <a:endParaRPr lang="en-US" sz="2500" dirty="0"/>
          </a:p>
        </p:txBody>
      </p:sp>
      <p:sp>
        <p:nvSpPr>
          <p:cNvPr id="7" name="Text 5"/>
          <p:cNvSpPr/>
          <p:nvPr/>
        </p:nvSpPr>
        <p:spPr>
          <a:xfrm>
            <a:off x="393192" y="859536"/>
            <a:ext cx="9875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A5A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Схема БД опирается на ключи, индексы, CHECK и статусные справочники</a:t>
            </a:r>
            <a:endParaRPr lang="en-US" sz="950" dirty="0"/>
          </a:p>
        </p:txBody>
      </p:sp>
      <p:sp>
        <p:nvSpPr>
          <p:cNvPr id="8" name="Text 6"/>
          <p:cNvSpPr/>
          <p:nvPr/>
        </p:nvSpPr>
        <p:spPr>
          <a:xfrm>
            <a:off x="384048" y="1124712"/>
            <a:ext cx="1051560" cy="219456"/>
          </a:xfrm>
          <a:prstGeom prst="rect">
            <a:avLst/>
          </a:prstGeom>
          <a:solidFill>
            <a:srgbClr val="5A3C31"/>
          </a:solidFill>
          <a:ln>
            <a:solidFill>
              <a:srgbClr val="5A3C31"/>
            </a:solidFill>
          </a:ln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82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PostgreSQL</a:t>
            </a:r>
            <a:endParaRPr lang="en-US" sz="820" dirty="0"/>
          </a:p>
        </p:txBody>
      </p:sp>
      <p:sp>
        <p:nvSpPr>
          <p:cNvPr id="9" name="Shape 7"/>
          <p:cNvSpPr/>
          <p:nvPr/>
        </p:nvSpPr>
        <p:spPr>
          <a:xfrm>
            <a:off x="548640" y="1554480"/>
            <a:ext cx="1938528" cy="1993392"/>
          </a:xfrm>
          <a:prstGeom prst="roundRect">
            <a:avLst>
              <a:gd name="adj" fmla="val 3774"/>
            </a:avLst>
          </a:prstGeom>
          <a:solidFill>
            <a:srgbClr val="FFFDF8"/>
          </a:solidFill>
          <a:ln w="12700">
            <a:solidFill>
              <a:srgbClr val="D8C9BB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76656" y="1645920"/>
            <a:ext cx="168249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50" b="1" dirty="0">
                <a:solidFill>
                  <a:srgbClr val="5A3C3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Документы</a:t>
            </a:r>
            <a:endParaRPr lang="en-US" sz="1150" dirty="0"/>
          </a:p>
        </p:txBody>
      </p:sp>
      <p:sp>
        <p:nvSpPr>
          <p:cNvPr id="11" name="Text 9"/>
          <p:cNvSpPr/>
          <p:nvPr/>
        </p:nvSpPr>
        <p:spPr>
          <a:xfrm>
            <a:off x="676656" y="1938528"/>
            <a:ext cx="1682496" cy="153619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2C25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customer_orders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2C25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invoices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2C25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shipments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2C25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supplier_invoices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2852928" y="1554480"/>
            <a:ext cx="1938528" cy="1993392"/>
          </a:xfrm>
          <a:prstGeom prst="roundRect">
            <a:avLst>
              <a:gd name="adj" fmla="val 3774"/>
            </a:avLst>
          </a:prstGeom>
          <a:solidFill>
            <a:srgbClr val="EFE5DA"/>
          </a:solidFill>
          <a:ln w="12700">
            <a:solidFill>
              <a:srgbClr val="D8C9BB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2980944" y="1645920"/>
            <a:ext cx="168249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50" b="1" dirty="0">
                <a:solidFill>
                  <a:srgbClr val="5A3C3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Материальные партии</a:t>
            </a:r>
            <a:endParaRPr lang="en-US" sz="1150" dirty="0"/>
          </a:p>
        </p:txBody>
      </p:sp>
      <p:sp>
        <p:nvSpPr>
          <p:cNvPr id="14" name="Text 12"/>
          <p:cNvSpPr/>
          <p:nvPr/>
        </p:nvSpPr>
        <p:spPr>
          <a:xfrm>
            <a:off x="2980944" y="1938528"/>
            <a:ext cx="1682496" cy="153619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2C25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raw_material_stock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2C25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production_batches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2C25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finished_goods_stock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5157216" y="1554480"/>
            <a:ext cx="1938528" cy="1993392"/>
          </a:xfrm>
          <a:prstGeom prst="roundRect">
            <a:avLst>
              <a:gd name="adj" fmla="val 3774"/>
            </a:avLst>
          </a:prstGeom>
          <a:solidFill>
            <a:srgbClr val="FFFDF8"/>
          </a:solidFill>
          <a:ln w="12700">
            <a:solidFill>
              <a:srgbClr val="D8C9BB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285232" y="1645920"/>
            <a:ext cx="168249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50" b="1" dirty="0">
                <a:solidFill>
                  <a:srgbClr val="5A3C3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Справочники</a:t>
            </a:r>
            <a:endParaRPr lang="en-US" sz="1150" dirty="0"/>
          </a:p>
        </p:txBody>
      </p:sp>
      <p:sp>
        <p:nvSpPr>
          <p:cNvPr id="17" name="Text 15"/>
          <p:cNvSpPr/>
          <p:nvPr/>
        </p:nvSpPr>
        <p:spPr>
          <a:xfrm>
            <a:off x="5285232" y="1938528"/>
            <a:ext cx="1682496" cy="153619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2C25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customers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2C25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suppliers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2C25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products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2C25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raw_materials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7461504" y="1554480"/>
            <a:ext cx="1938528" cy="1993392"/>
          </a:xfrm>
          <a:prstGeom prst="roundRect">
            <a:avLst>
              <a:gd name="adj" fmla="val 3774"/>
            </a:avLst>
          </a:prstGeom>
          <a:solidFill>
            <a:srgbClr val="EFE5DA"/>
          </a:solidFill>
          <a:ln w="12700">
            <a:solidFill>
              <a:srgbClr val="D8C9BB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7589520" y="1645920"/>
            <a:ext cx="168249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50" b="1" dirty="0">
                <a:solidFill>
                  <a:srgbClr val="5A3C3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Связи и рецептуры</a:t>
            </a:r>
            <a:endParaRPr lang="en-US" sz="1150" dirty="0"/>
          </a:p>
        </p:txBody>
      </p:sp>
      <p:sp>
        <p:nvSpPr>
          <p:cNvPr id="20" name="Text 18"/>
          <p:cNvSpPr/>
          <p:nvPr/>
        </p:nvSpPr>
        <p:spPr>
          <a:xfrm>
            <a:off x="7589520" y="1938528"/>
            <a:ext cx="1682496" cy="153619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2C25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order_items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2C25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recipe_items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2C25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delivery_items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2C25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supplier_materials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9765792" y="1554480"/>
            <a:ext cx="1938528" cy="1993392"/>
          </a:xfrm>
          <a:prstGeom prst="roundRect">
            <a:avLst>
              <a:gd name="adj" fmla="val 3774"/>
            </a:avLst>
          </a:prstGeom>
          <a:solidFill>
            <a:srgbClr val="E7D7C8"/>
          </a:solidFill>
          <a:ln w="12700">
            <a:solidFill>
              <a:srgbClr val="D8C9BB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9893808" y="1645920"/>
            <a:ext cx="168249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50" b="1" dirty="0">
                <a:solidFill>
                  <a:srgbClr val="5A3C3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Безопасность</a:t>
            </a:r>
            <a:endParaRPr lang="en-US" sz="1150" dirty="0"/>
          </a:p>
        </p:txBody>
      </p:sp>
      <p:sp>
        <p:nvSpPr>
          <p:cNvPr id="23" name="Text 21"/>
          <p:cNvSpPr/>
          <p:nvPr/>
        </p:nvSpPr>
        <p:spPr>
          <a:xfrm>
            <a:off x="9893808" y="1938528"/>
            <a:ext cx="1682496" cy="153619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2C25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users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2C25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roles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2C25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user_roles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2C25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audit_log</a:t>
            </a:r>
            <a:endParaRPr lang="en-US" sz="1050" dirty="0"/>
          </a:p>
        </p:txBody>
      </p:sp>
      <p:sp>
        <p:nvSpPr>
          <p:cNvPr id="24" name="Text 22"/>
          <p:cNvSpPr/>
          <p:nvPr/>
        </p:nvSpPr>
        <p:spPr>
          <a:xfrm>
            <a:off x="914400" y="4160520"/>
            <a:ext cx="2240280" cy="713232"/>
          </a:xfrm>
          <a:prstGeom prst="rect">
            <a:avLst/>
          </a:prstGeom>
          <a:solidFill>
            <a:srgbClr val="DAE7EA"/>
          </a:solidFill>
          <a:ln>
            <a:solidFill>
              <a:srgbClr val="D8C9BB"/>
            </a:solidFill>
          </a:ln>
        </p:spPr>
        <p:txBody>
          <a:bodyPr wrap="square" lIns="1270" tIns="1270" rIns="1270" bIns="1270" rtlCol="0" anchor="ctr">
            <a:normAutofit/>
          </a:bodyPr>
          <a:lstStyle/>
          <a:p>
            <a:pPr algn="ctr" indent="0" marL="0">
              <a:buNone/>
            </a:pPr>
            <a:r>
              <a:rPr lang="en-US" sz="1080" dirty="0">
                <a:solidFill>
                  <a:srgbClr val="2C25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PK / FK</a:t>
            </a:r>
            <a:endParaRPr lang="en-US" sz="1080" dirty="0"/>
          </a:p>
          <a:p>
            <a:pPr algn="ctr" indent="0" marL="0">
              <a:buNone/>
            </a:pPr>
            <a:r>
              <a:rPr lang="en-US" sz="1080" dirty="0">
                <a:solidFill>
                  <a:srgbClr val="2C25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связи документов и партий</a:t>
            </a:r>
            <a:endParaRPr lang="en-US" sz="1080" dirty="0"/>
          </a:p>
        </p:txBody>
      </p:sp>
      <p:sp>
        <p:nvSpPr>
          <p:cNvPr id="25" name="Text 23"/>
          <p:cNvSpPr/>
          <p:nvPr/>
        </p:nvSpPr>
        <p:spPr>
          <a:xfrm>
            <a:off x="3703320" y="4160520"/>
            <a:ext cx="2240280" cy="713232"/>
          </a:xfrm>
          <a:prstGeom prst="rect">
            <a:avLst/>
          </a:prstGeom>
          <a:solidFill>
            <a:srgbClr val="E0E8D6"/>
          </a:solidFill>
          <a:ln>
            <a:solidFill>
              <a:srgbClr val="D8C9BB"/>
            </a:solidFill>
          </a:ln>
        </p:spPr>
        <p:txBody>
          <a:bodyPr wrap="square" lIns="1270" tIns="1270" rIns="1270" bIns="1270" rtlCol="0" anchor="ctr">
            <a:normAutofit/>
          </a:bodyPr>
          <a:lstStyle/>
          <a:p>
            <a:pPr algn="ctr" indent="0" marL="0">
              <a:buNone/>
            </a:pPr>
            <a:r>
              <a:rPr lang="en-US" sz="1080" dirty="0">
                <a:solidFill>
                  <a:srgbClr val="2C25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UNIQUE</a:t>
            </a:r>
            <a:endParaRPr lang="en-US" sz="1080" dirty="0"/>
          </a:p>
          <a:p>
            <a:pPr algn="ctr" indent="0" marL="0">
              <a:buNone/>
            </a:pPr>
            <a:r>
              <a:rPr lang="en-US" sz="1080" dirty="0">
                <a:solidFill>
                  <a:srgbClr val="2C25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номера документов и активные пары</a:t>
            </a:r>
            <a:endParaRPr lang="en-US" sz="1080" dirty="0"/>
          </a:p>
        </p:txBody>
      </p:sp>
      <p:sp>
        <p:nvSpPr>
          <p:cNvPr id="26" name="Text 24"/>
          <p:cNvSpPr/>
          <p:nvPr/>
        </p:nvSpPr>
        <p:spPr>
          <a:xfrm>
            <a:off x="6492240" y="4160520"/>
            <a:ext cx="2240280" cy="713232"/>
          </a:xfrm>
          <a:prstGeom prst="rect">
            <a:avLst/>
          </a:prstGeom>
          <a:solidFill>
            <a:srgbClr val="F3E7C5"/>
          </a:solidFill>
          <a:ln>
            <a:solidFill>
              <a:srgbClr val="D8C9BB"/>
            </a:solidFill>
          </a:ln>
        </p:spPr>
        <p:txBody>
          <a:bodyPr wrap="square" lIns="1270" tIns="1270" rIns="1270" bIns="1270" rtlCol="0" anchor="ctr">
            <a:normAutofit/>
          </a:bodyPr>
          <a:lstStyle/>
          <a:p>
            <a:pPr algn="ctr" indent="0" marL="0">
              <a:buNone/>
            </a:pPr>
            <a:r>
              <a:rPr lang="en-US" sz="1080" dirty="0">
                <a:solidFill>
                  <a:srgbClr val="2C25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CHECK</a:t>
            </a:r>
            <a:endParaRPr lang="en-US" sz="1080" dirty="0"/>
          </a:p>
          <a:p>
            <a:pPr algn="ctr" indent="0" marL="0">
              <a:buNone/>
            </a:pPr>
            <a:r>
              <a:rPr lang="en-US" sz="1080" dirty="0">
                <a:solidFill>
                  <a:srgbClr val="2C25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количества, даты, paid_at</a:t>
            </a:r>
            <a:endParaRPr lang="en-US" sz="1080" dirty="0"/>
          </a:p>
        </p:txBody>
      </p:sp>
      <p:sp>
        <p:nvSpPr>
          <p:cNvPr id="27" name="Text 25"/>
          <p:cNvSpPr/>
          <p:nvPr/>
        </p:nvSpPr>
        <p:spPr>
          <a:xfrm>
            <a:off x="9281160" y="4160520"/>
            <a:ext cx="2240280" cy="713232"/>
          </a:xfrm>
          <a:prstGeom prst="rect">
            <a:avLst/>
          </a:prstGeom>
          <a:solidFill>
            <a:srgbClr val="EAD5D7"/>
          </a:solidFill>
          <a:ln>
            <a:solidFill>
              <a:srgbClr val="D8C9BB"/>
            </a:solidFill>
          </a:ln>
        </p:spPr>
        <p:txBody>
          <a:bodyPr wrap="square" lIns="1270" tIns="1270" rIns="1270" bIns="1270" rtlCol="0" anchor="ctr">
            <a:normAutofit/>
          </a:bodyPr>
          <a:lstStyle/>
          <a:p>
            <a:pPr algn="ctr" indent="0" marL="0">
              <a:buNone/>
            </a:pPr>
            <a:r>
              <a:rPr lang="en-US" sz="1080" dirty="0">
                <a:solidFill>
                  <a:srgbClr val="2C25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JSONB</a:t>
            </a:r>
            <a:endParaRPr lang="en-US" sz="1080" dirty="0"/>
          </a:p>
          <a:p>
            <a:pPr algn="ctr" indent="0" marL="0">
              <a:buNone/>
            </a:pPr>
            <a:r>
              <a:rPr lang="en-US" sz="1080" dirty="0">
                <a:solidFill>
                  <a:srgbClr val="2C25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old_data / new_data в аудите</a:t>
            </a:r>
            <a:endParaRPr lang="en-US" sz="1080" dirty="0"/>
          </a:p>
        </p:txBody>
      </p:sp>
      <p:sp>
        <p:nvSpPr>
          <p:cNvPr id="28" name="Text 26"/>
          <p:cNvSpPr/>
          <p:nvPr/>
        </p:nvSpPr>
        <p:spPr>
          <a:xfrm>
            <a:off x="1828800" y="5486400"/>
            <a:ext cx="8503920" cy="347472"/>
          </a:xfrm>
          <a:prstGeom prst="rect">
            <a:avLst/>
          </a:prstGeom>
          <a:solidFill>
            <a:srgbClr val="FFFDF8"/>
          </a:solidFill>
          <a:ln>
            <a:solidFill>
              <a:srgbClr val="D8C9BB"/>
            </a:solidFill>
          </a:ln>
        </p:spPr>
        <p:txBody>
          <a:bodyPr wrap="square" lIns="1270" tIns="1270" rIns="1270" bIns="1270" rtlCol="0" anchor="ctr">
            <a:normAutofit/>
          </a:bodyPr>
          <a:lstStyle/>
          <a:p>
            <a:pPr algn="ctr" indent="0" marL="0">
              <a:buNone/>
            </a:pPr>
            <a:r>
              <a:rPr lang="en-US" sz="1120" dirty="0">
                <a:solidFill>
                  <a:srgbClr val="2C25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Пример: UNIQUE invoice(order_id) WHERE status IN (issued, overdue, paid)</a:t>
            </a:r>
            <a:endParaRPr lang="en-US" sz="112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4EFE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237744"/>
          </a:xfrm>
          <a:prstGeom prst="rect">
            <a:avLst/>
          </a:prstGeom>
          <a:solidFill>
            <a:srgbClr val="3A2924"/>
          </a:solidFill>
          <a:ln w="12700">
            <a:solidFill>
              <a:srgbClr val="3A2924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56032" y="50292"/>
            <a:ext cx="292608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БСБД • Slop-Bakery</a:t>
            </a:r>
            <a:endParaRPr lang="en-US" sz="650" dirty="0"/>
          </a:p>
        </p:txBody>
      </p:sp>
      <p:sp>
        <p:nvSpPr>
          <p:cNvPr id="4" name="Text 2"/>
          <p:cNvSpPr/>
          <p:nvPr/>
        </p:nvSpPr>
        <p:spPr>
          <a:xfrm>
            <a:off x="9326880" y="50292"/>
            <a:ext cx="256032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630" dirty="0">
                <a:solidFill>
                  <a:srgbClr val="E9DDD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Статусы</a:t>
            </a:r>
            <a:endParaRPr lang="en-US" sz="630" dirty="0"/>
          </a:p>
        </p:txBody>
      </p:sp>
      <p:sp>
        <p:nvSpPr>
          <p:cNvPr id="5" name="Text 3"/>
          <p:cNvSpPr/>
          <p:nvPr/>
        </p:nvSpPr>
        <p:spPr>
          <a:xfrm>
            <a:off x="11868912" y="6565392"/>
            <a:ext cx="164592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650" dirty="0">
                <a:solidFill>
                  <a:srgbClr val="6A5A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</a:t>
            </a:r>
            <a:endParaRPr lang="en-US" sz="650" dirty="0"/>
          </a:p>
        </p:txBody>
      </p:sp>
      <p:sp>
        <p:nvSpPr>
          <p:cNvPr id="6" name="Text 4"/>
          <p:cNvSpPr/>
          <p:nvPr/>
        </p:nvSpPr>
        <p:spPr>
          <a:xfrm>
            <a:off x="384048" y="475488"/>
            <a:ext cx="98755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2C25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Жизненные циклы документов</a:t>
            </a:r>
            <a:endParaRPr lang="en-US" sz="2500" dirty="0"/>
          </a:p>
        </p:txBody>
      </p:sp>
      <p:sp>
        <p:nvSpPr>
          <p:cNvPr id="7" name="Text 5"/>
          <p:cNvSpPr/>
          <p:nvPr/>
        </p:nvSpPr>
        <p:spPr>
          <a:xfrm>
            <a:off x="393192" y="859536"/>
            <a:ext cx="9875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A5A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Переходы статусов ограничены серверными матрицами</a:t>
            </a:r>
            <a:endParaRPr lang="en-US" sz="950" dirty="0"/>
          </a:p>
        </p:txBody>
      </p:sp>
      <p:sp>
        <p:nvSpPr>
          <p:cNvPr id="8" name="Text 6"/>
          <p:cNvSpPr/>
          <p:nvPr/>
        </p:nvSpPr>
        <p:spPr>
          <a:xfrm>
            <a:off x="384048" y="1124712"/>
            <a:ext cx="1051560" cy="219456"/>
          </a:xfrm>
          <a:prstGeom prst="rect">
            <a:avLst/>
          </a:prstGeom>
          <a:solidFill>
            <a:srgbClr val="5A3C31"/>
          </a:solidFill>
          <a:ln>
            <a:solidFill>
              <a:srgbClr val="5A3C31"/>
            </a:solidFill>
          </a:ln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82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Статусы</a:t>
            </a:r>
            <a:endParaRPr lang="en-US" sz="820" dirty="0"/>
          </a:p>
        </p:txBody>
      </p:sp>
      <p:sp>
        <p:nvSpPr>
          <p:cNvPr id="9" name="Text 7"/>
          <p:cNvSpPr/>
          <p:nvPr/>
        </p:nvSpPr>
        <p:spPr>
          <a:xfrm>
            <a:off x="685800" y="1481328"/>
            <a:ext cx="5010912" cy="694944"/>
          </a:xfrm>
          <a:prstGeom prst="rect">
            <a:avLst/>
          </a:prstGeom>
          <a:solidFill>
            <a:srgbClr val="FFFDF8"/>
          </a:solidFill>
          <a:ln>
            <a:solidFill>
              <a:srgbClr val="D8C9BB"/>
            </a:solidFill>
          </a:ln>
        </p:spPr>
        <p:txBody>
          <a:bodyPr wrap="square" lIns="1270" tIns="1270" rIns="1270" bIns="1270" rtlCol="0" anchor="ctr">
            <a:normAutofit/>
          </a:bodyPr>
          <a:lstStyle/>
          <a:p>
            <a:pPr algn="ctr" indent="0" marL="0">
              <a:buNone/>
            </a:pPr>
            <a:r>
              <a:rPr lang="en-US" sz="1150" dirty="0">
                <a:solidFill>
                  <a:srgbClr val="2C25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Заказ клиента</a:t>
            </a:r>
            <a:endParaRPr lang="en-US" sz="1150" dirty="0"/>
          </a:p>
          <a:p>
            <a:pPr algn="ctr" indent="0" marL="0">
              <a:buNone/>
            </a:pPr>
            <a:r>
              <a:rPr lang="en-US" sz="1150" dirty="0">
                <a:solidFill>
                  <a:srgbClr val="2C25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draft → confirmed → in_production → ready → shipped → completed</a:t>
            </a:r>
            <a:endParaRPr lang="en-US" sz="1150" dirty="0"/>
          </a:p>
        </p:txBody>
      </p:sp>
      <p:sp>
        <p:nvSpPr>
          <p:cNvPr id="10" name="Text 8"/>
          <p:cNvSpPr/>
          <p:nvPr/>
        </p:nvSpPr>
        <p:spPr>
          <a:xfrm>
            <a:off x="6217920" y="1481328"/>
            <a:ext cx="5010912" cy="694944"/>
          </a:xfrm>
          <a:prstGeom prst="rect">
            <a:avLst/>
          </a:prstGeom>
          <a:solidFill>
            <a:srgbClr val="EFE5DA"/>
          </a:solidFill>
          <a:ln>
            <a:solidFill>
              <a:srgbClr val="D8C9BB"/>
            </a:solidFill>
          </a:ln>
        </p:spPr>
        <p:txBody>
          <a:bodyPr wrap="square" lIns="1270" tIns="1270" rIns="1270" bIns="1270" rtlCol="0" anchor="ctr">
            <a:normAutofit/>
          </a:bodyPr>
          <a:lstStyle/>
          <a:p>
            <a:pPr algn="ctr" indent="0" marL="0">
              <a:buNone/>
            </a:pPr>
            <a:r>
              <a:rPr lang="en-US" sz="1150" dirty="0">
                <a:solidFill>
                  <a:srgbClr val="2C25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Клиентский счёт</a:t>
            </a:r>
            <a:endParaRPr lang="en-US" sz="1150" dirty="0"/>
          </a:p>
          <a:p>
            <a:pPr algn="ctr" indent="0" marL="0">
              <a:buNone/>
            </a:pPr>
            <a:r>
              <a:rPr lang="en-US" sz="1150" dirty="0">
                <a:solidFill>
                  <a:srgbClr val="2C25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issued → paid / overdue → paid</a:t>
            </a:r>
            <a:endParaRPr lang="en-US" sz="1150" dirty="0"/>
          </a:p>
        </p:txBody>
      </p:sp>
      <p:sp>
        <p:nvSpPr>
          <p:cNvPr id="11" name="Text 9"/>
          <p:cNvSpPr/>
          <p:nvPr/>
        </p:nvSpPr>
        <p:spPr>
          <a:xfrm>
            <a:off x="685800" y="2532888"/>
            <a:ext cx="5010912" cy="694944"/>
          </a:xfrm>
          <a:prstGeom prst="rect">
            <a:avLst/>
          </a:prstGeom>
          <a:solidFill>
            <a:srgbClr val="FFFDF8"/>
          </a:solidFill>
          <a:ln>
            <a:solidFill>
              <a:srgbClr val="D8C9BB"/>
            </a:solidFill>
          </a:ln>
        </p:spPr>
        <p:txBody>
          <a:bodyPr wrap="square" lIns="1270" tIns="1270" rIns="1270" bIns="1270" rtlCol="0" anchor="ctr">
            <a:normAutofit/>
          </a:bodyPr>
          <a:lstStyle/>
          <a:p>
            <a:pPr algn="ctr" indent="0" marL="0">
              <a:buNone/>
            </a:pPr>
            <a:r>
              <a:rPr lang="en-US" sz="1150" dirty="0">
                <a:solidFill>
                  <a:srgbClr val="2C25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Поставка сырья</a:t>
            </a:r>
            <a:endParaRPr lang="en-US" sz="1150" dirty="0"/>
          </a:p>
          <a:p>
            <a:pPr algn="ctr" indent="0" marL="0">
              <a:buNone/>
            </a:pPr>
            <a:r>
              <a:rPr lang="en-US" sz="1150" dirty="0">
                <a:solidFill>
                  <a:srgbClr val="2C25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planned → received → accepted / rejected</a:t>
            </a:r>
            <a:endParaRPr lang="en-US" sz="1150" dirty="0"/>
          </a:p>
        </p:txBody>
      </p:sp>
      <p:sp>
        <p:nvSpPr>
          <p:cNvPr id="12" name="Text 10"/>
          <p:cNvSpPr/>
          <p:nvPr/>
        </p:nvSpPr>
        <p:spPr>
          <a:xfrm>
            <a:off x="6217920" y="2532888"/>
            <a:ext cx="5010912" cy="694944"/>
          </a:xfrm>
          <a:prstGeom prst="rect">
            <a:avLst/>
          </a:prstGeom>
          <a:solidFill>
            <a:srgbClr val="EFE5DA"/>
          </a:solidFill>
          <a:ln>
            <a:solidFill>
              <a:srgbClr val="D8C9BB"/>
            </a:solidFill>
          </a:ln>
        </p:spPr>
        <p:txBody>
          <a:bodyPr wrap="square" lIns="1270" tIns="1270" rIns="1270" bIns="1270" rtlCol="0" anchor="ctr">
            <a:normAutofit/>
          </a:bodyPr>
          <a:lstStyle/>
          <a:p>
            <a:pPr algn="ctr" indent="0" marL="0">
              <a:buNone/>
            </a:pPr>
            <a:r>
              <a:rPr lang="en-US" sz="1150" dirty="0">
                <a:solidFill>
                  <a:srgbClr val="2C25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Производство</a:t>
            </a:r>
            <a:endParaRPr lang="en-US" sz="1150" dirty="0"/>
          </a:p>
          <a:p>
            <a:pPr algn="ctr" indent="0" marL="0">
              <a:buNone/>
            </a:pPr>
            <a:r>
              <a:rPr lang="en-US" sz="1150" dirty="0">
                <a:solidFill>
                  <a:srgbClr val="2C25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planned → in_progress → completed / cancelled</a:t>
            </a:r>
            <a:endParaRPr lang="en-US" sz="1150" dirty="0"/>
          </a:p>
        </p:txBody>
      </p:sp>
      <p:sp>
        <p:nvSpPr>
          <p:cNvPr id="13" name="Text 11"/>
          <p:cNvSpPr/>
          <p:nvPr/>
        </p:nvSpPr>
        <p:spPr>
          <a:xfrm>
            <a:off x="685800" y="3584448"/>
            <a:ext cx="5010912" cy="694944"/>
          </a:xfrm>
          <a:prstGeom prst="rect">
            <a:avLst/>
          </a:prstGeom>
          <a:solidFill>
            <a:srgbClr val="FFFDF8"/>
          </a:solidFill>
          <a:ln>
            <a:solidFill>
              <a:srgbClr val="D8C9BB"/>
            </a:solidFill>
          </a:ln>
        </p:spPr>
        <p:txBody>
          <a:bodyPr wrap="square" lIns="1270" tIns="1270" rIns="1270" bIns="1270" rtlCol="0" anchor="ctr">
            <a:normAutofit/>
          </a:bodyPr>
          <a:lstStyle/>
          <a:p>
            <a:pPr algn="ctr" indent="0" marL="0">
              <a:buNone/>
            </a:pPr>
            <a:r>
              <a:rPr lang="en-US" sz="1150" dirty="0">
                <a:solidFill>
                  <a:srgbClr val="2C25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Отгрузка</a:t>
            </a:r>
            <a:endParaRPr lang="en-US" sz="1150" dirty="0"/>
          </a:p>
          <a:p>
            <a:pPr algn="ctr" indent="0" marL="0">
              <a:buNone/>
            </a:pPr>
            <a:r>
              <a:rPr lang="en-US" sz="1150" dirty="0">
                <a:solidFill>
                  <a:srgbClr val="2C25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planned → shipped → delivered / cancelled</a:t>
            </a:r>
            <a:endParaRPr lang="en-US" sz="1150" dirty="0"/>
          </a:p>
        </p:txBody>
      </p:sp>
      <p:sp>
        <p:nvSpPr>
          <p:cNvPr id="14" name="Text 12"/>
          <p:cNvSpPr/>
          <p:nvPr/>
        </p:nvSpPr>
        <p:spPr>
          <a:xfrm>
            <a:off x="6217920" y="3584448"/>
            <a:ext cx="5010912" cy="694944"/>
          </a:xfrm>
          <a:prstGeom prst="rect">
            <a:avLst/>
          </a:prstGeom>
          <a:solidFill>
            <a:srgbClr val="EFE5DA"/>
          </a:solidFill>
          <a:ln>
            <a:solidFill>
              <a:srgbClr val="D8C9BB"/>
            </a:solidFill>
          </a:ln>
        </p:spPr>
        <p:txBody>
          <a:bodyPr wrap="square" lIns="1270" tIns="1270" rIns="1270" bIns="1270" rtlCol="0" anchor="ctr">
            <a:normAutofit/>
          </a:bodyPr>
          <a:lstStyle/>
          <a:p>
            <a:pPr algn="ctr" indent="0" marL="0">
              <a:buNone/>
            </a:pPr>
            <a:r>
              <a:rPr lang="en-US" sz="1150" dirty="0">
                <a:solidFill>
                  <a:srgbClr val="2C25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Техкарта</a:t>
            </a:r>
            <a:endParaRPr lang="en-US" sz="1150" dirty="0"/>
          </a:p>
          <a:p>
            <a:pPr algn="ctr" indent="0" marL="0">
              <a:buNone/>
            </a:pPr>
            <a:r>
              <a:rPr lang="en-US" sz="1150" dirty="0">
                <a:solidFill>
                  <a:srgbClr val="2C25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draft → active → archived</a:t>
            </a:r>
            <a:endParaRPr lang="en-US" sz="1150" dirty="0"/>
          </a:p>
        </p:txBody>
      </p:sp>
      <p:sp>
        <p:nvSpPr>
          <p:cNvPr id="15" name="Text 13"/>
          <p:cNvSpPr/>
          <p:nvPr/>
        </p:nvSpPr>
        <p:spPr>
          <a:xfrm>
            <a:off x="1234440" y="5349240"/>
            <a:ext cx="9738360" cy="393192"/>
          </a:xfrm>
          <a:prstGeom prst="rect">
            <a:avLst/>
          </a:prstGeom>
          <a:solidFill>
            <a:srgbClr val="F3E7C5"/>
          </a:solidFill>
          <a:ln>
            <a:solidFill>
              <a:srgbClr val="D8C9BB"/>
            </a:solidFill>
          </a:ln>
        </p:spPr>
        <p:txBody>
          <a:bodyPr wrap="square" lIns="1270" tIns="1270" rIns="1270" bIns="1270" rtlCol="0" anchor="ctr">
            <a:normAutofit/>
          </a:bodyPr>
          <a:lstStyle/>
          <a:p>
            <a:pPr algn="ctr" indent="0" marL="0">
              <a:buNone/>
            </a:pPr>
            <a:r>
              <a:rPr lang="en-US" sz="1210" dirty="0">
                <a:solidFill>
                  <a:srgbClr val="2C25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Статус нельзя изменить «в обход» формы: переход проверяется в обработчике действия.</a:t>
            </a:r>
            <a:endParaRPr lang="en-US" sz="121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4EFE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237744"/>
          </a:xfrm>
          <a:prstGeom prst="rect">
            <a:avLst/>
          </a:prstGeom>
          <a:solidFill>
            <a:srgbClr val="3A2924"/>
          </a:solidFill>
          <a:ln w="12700">
            <a:solidFill>
              <a:srgbClr val="3A2924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56032" y="50292"/>
            <a:ext cx="292608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БСБД • Slop-Bakery</a:t>
            </a:r>
            <a:endParaRPr lang="en-US" sz="650" dirty="0"/>
          </a:p>
        </p:txBody>
      </p:sp>
      <p:sp>
        <p:nvSpPr>
          <p:cNvPr id="4" name="Text 2"/>
          <p:cNvSpPr/>
          <p:nvPr/>
        </p:nvSpPr>
        <p:spPr>
          <a:xfrm>
            <a:off x="9326880" y="50292"/>
            <a:ext cx="256032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630" dirty="0">
                <a:solidFill>
                  <a:srgbClr val="E9DDD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Стек</a:t>
            </a:r>
            <a:endParaRPr lang="en-US" sz="630" dirty="0"/>
          </a:p>
        </p:txBody>
      </p:sp>
      <p:sp>
        <p:nvSpPr>
          <p:cNvPr id="5" name="Text 3"/>
          <p:cNvSpPr/>
          <p:nvPr/>
        </p:nvSpPr>
        <p:spPr>
          <a:xfrm>
            <a:off x="11868912" y="6565392"/>
            <a:ext cx="164592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650" dirty="0">
                <a:solidFill>
                  <a:srgbClr val="6A5A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</a:t>
            </a:r>
            <a:endParaRPr lang="en-US" sz="650" dirty="0"/>
          </a:p>
        </p:txBody>
      </p:sp>
      <p:sp>
        <p:nvSpPr>
          <p:cNvPr id="6" name="Text 4"/>
          <p:cNvSpPr/>
          <p:nvPr/>
        </p:nvSpPr>
        <p:spPr>
          <a:xfrm>
            <a:off x="384048" y="475488"/>
            <a:ext cx="98755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2C25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Выбор инструментов</a:t>
            </a:r>
            <a:endParaRPr lang="en-US" sz="2500" dirty="0"/>
          </a:p>
        </p:txBody>
      </p:sp>
      <p:sp>
        <p:nvSpPr>
          <p:cNvPr id="7" name="Text 5"/>
          <p:cNvSpPr/>
          <p:nvPr/>
        </p:nvSpPr>
        <p:spPr>
          <a:xfrm>
            <a:off x="393192" y="859536"/>
            <a:ext cx="9875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A5A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Стек выбран для воспроизводимой реализации защищённой БД</a:t>
            </a:r>
            <a:endParaRPr lang="en-US" sz="950" dirty="0"/>
          </a:p>
        </p:txBody>
      </p:sp>
      <p:sp>
        <p:nvSpPr>
          <p:cNvPr id="8" name="Text 6"/>
          <p:cNvSpPr/>
          <p:nvPr/>
        </p:nvSpPr>
        <p:spPr>
          <a:xfrm>
            <a:off x="384048" y="1124712"/>
            <a:ext cx="1051560" cy="219456"/>
          </a:xfrm>
          <a:prstGeom prst="rect">
            <a:avLst/>
          </a:prstGeom>
          <a:solidFill>
            <a:srgbClr val="5A3C31"/>
          </a:solidFill>
          <a:ln>
            <a:solidFill>
              <a:srgbClr val="5A3C31"/>
            </a:solidFill>
          </a:ln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82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Инструменты</a:t>
            </a:r>
            <a:endParaRPr lang="en-US" sz="820" dirty="0"/>
          </a:p>
        </p:txBody>
      </p:sp>
      <p:sp>
        <p:nvSpPr>
          <p:cNvPr id="9" name="Shape 7"/>
          <p:cNvSpPr/>
          <p:nvPr/>
        </p:nvSpPr>
        <p:spPr>
          <a:xfrm>
            <a:off x="960120" y="1645920"/>
            <a:ext cx="2788920" cy="1005840"/>
          </a:xfrm>
          <a:prstGeom prst="roundRect">
            <a:avLst>
              <a:gd name="adj" fmla="val 7273"/>
            </a:avLst>
          </a:prstGeom>
          <a:solidFill>
            <a:srgbClr val="FFFDF8"/>
          </a:solidFill>
          <a:ln w="12700">
            <a:solidFill>
              <a:srgbClr val="D8C9BB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088136" y="1737360"/>
            <a:ext cx="253288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20" b="1" dirty="0">
                <a:solidFill>
                  <a:srgbClr val="5A3C3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PostgreSQL</a:t>
            </a:r>
            <a:endParaRPr lang="en-US" sz="1320" dirty="0"/>
          </a:p>
        </p:txBody>
      </p:sp>
      <p:sp>
        <p:nvSpPr>
          <p:cNvPr id="11" name="Text 9"/>
          <p:cNvSpPr/>
          <p:nvPr/>
        </p:nvSpPr>
        <p:spPr>
          <a:xfrm>
            <a:off x="1088136" y="2029968"/>
            <a:ext cx="2532888" cy="5486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120" dirty="0">
                <a:solidFill>
                  <a:srgbClr val="2C25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FK • CHECK • роли</a:t>
            </a:r>
            <a:endParaRPr lang="en-US" sz="1120" dirty="0"/>
          </a:p>
          <a:p>
            <a:pPr indent="0" marL="0">
              <a:buNone/>
            </a:pPr>
            <a:r>
              <a:rPr lang="en-US" sz="1120" dirty="0">
                <a:solidFill>
                  <a:srgbClr val="2C25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транзакции • JSONB</a:t>
            </a:r>
            <a:endParaRPr lang="en-US" sz="1120" dirty="0"/>
          </a:p>
        </p:txBody>
      </p:sp>
      <p:sp>
        <p:nvSpPr>
          <p:cNvPr id="12" name="Shape 10"/>
          <p:cNvSpPr/>
          <p:nvPr/>
        </p:nvSpPr>
        <p:spPr>
          <a:xfrm>
            <a:off x="4434840" y="1645920"/>
            <a:ext cx="2788920" cy="1005840"/>
          </a:xfrm>
          <a:prstGeom prst="roundRect">
            <a:avLst>
              <a:gd name="adj" fmla="val 7273"/>
            </a:avLst>
          </a:prstGeom>
          <a:solidFill>
            <a:srgbClr val="EFE5DA"/>
          </a:solidFill>
          <a:ln w="12700">
            <a:solidFill>
              <a:srgbClr val="D8C9BB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562856" y="1737360"/>
            <a:ext cx="253288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20" b="1" dirty="0">
                <a:solidFill>
                  <a:srgbClr val="5A3C3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FastAPI</a:t>
            </a:r>
            <a:endParaRPr lang="en-US" sz="1320" dirty="0"/>
          </a:p>
        </p:txBody>
      </p:sp>
      <p:sp>
        <p:nvSpPr>
          <p:cNvPr id="14" name="Text 12"/>
          <p:cNvSpPr/>
          <p:nvPr/>
        </p:nvSpPr>
        <p:spPr>
          <a:xfrm>
            <a:off x="4562856" y="2029968"/>
            <a:ext cx="2532888" cy="5486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120" dirty="0">
                <a:solidFill>
                  <a:srgbClr val="2C25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роутеры • middleware</a:t>
            </a:r>
            <a:endParaRPr lang="en-US" sz="1120" dirty="0"/>
          </a:p>
          <a:p>
            <a:pPr indent="0" marL="0">
              <a:buNone/>
            </a:pPr>
            <a:r>
              <a:rPr lang="en-US" sz="1120" dirty="0">
                <a:solidFill>
                  <a:srgbClr val="2C25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action-level permissions</a:t>
            </a:r>
            <a:endParaRPr lang="en-US" sz="1120" dirty="0"/>
          </a:p>
        </p:txBody>
      </p:sp>
      <p:sp>
        <p:nvSpPr>
          <p:cNvPr id="15" name="Shape 13"/>
          <p:cNvSpPr/>
          <p:nvPr/>
        </p:nvSpPr>
        <p:spPr>
          <a:xfrm>
            <a:off x="7909560" y="1645920"/>
            <a:ext cx="2788920" cy="1005840"/>
          </a:xfrm>
          <a:prstGeom prst="roundRect">
            <a:avLst>
              <a:gd name="adj" fmla="val 7273"/>
            </a:avLst>
          </a:prstGeom>
          <a:solidFill>
            <a:srgbClr val="FFFDF8"/>
          </a:solidFill>
          <a:ln w="12700">
            <a:solidFill>
              <a:srgbClr val="D8C9BB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8037576" y="1737360"/>
            <a:ext cx="253288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20" b="1" dirty="0">
                <a:solidFill>
                  <a:srgbClr val="5A3C3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Jinja2</a:t>
            </a:r>
            <a:endParaRPr lang="en-US" sz="1320" dirty="0"/>
          </a:p>
        </p:txBody>
      </p:sp>
      <p:sp>
        <p:nvSpPr>
          <p:cNvPr id="17" name="Text 15"/>
          <p:cNvSpPr/>
          <p:nvPr/>
        </p:nvSpPr>
        <p:spPr>
          <a:xfrm>
            <a:off x="8037576" y="2029968"/>
            <a:ext cx="2532888" cy="5486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120" dirty="0">
                <a:solidFill>
                  <a:srgbClr val="2C25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серверный HTML</a:t>
            </a:r>
            <a:endParaRPr lang="en-US" sz="1120" dirty="0"/>
          </a:p>
          <a:p>
            <a:pPr indent="0" marL="0">
              <a:buNone/>
            </a:pPr>
            <a:r>
              <a:rPr lang="en-US" sz="1120" dirty="0">
                <a:solidFill>
                  <a:srgbClr val="2C25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формы без SPA</a:t>
            </a:r>
            <a:endParaRPr lang="en-US" sz="1120" dirty="0"/>
          </a:p>
        </p:txBody>
      </p:sp>
      <p:sp>
        <p:nvSpPr>
          <p:cNvPr id="18" name="Shape 16"/>
          <p:cNvSpPr/>
          <p:nvPr/>
        </p:nvSpPr>
        <p:spPr>
          <a:xfrm>
            <a:off x="960120" y="3246120"/>
            <a:ext cx="2788920" cy="1005840"/>
          </a:xfrm>
          <a:prstGeom prst="roundRect">
            <a:avLst>
              <a:gd name="adj" fmla="val 7273"/>
            </a:avLst>
          </a:prstGeom>
          <a:solidFill>
            <a:srgbClr val="EFE5DA"/>
          </a:solidFill>
          <a:ln w="12700">
            <a:solidFill>
              <a:srgbClr val="D8C9BB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1088136" y="3337560"/>
            <a:ext cx="253288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20" b="1" dirty="0">
                <a:solidFill>
                  <a:srgbClr val="5A3C3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Docker Compose</a:t>
            </a:r>
            <a:endParaRPr lang="en-US" sz="1320" dirty="0"/>
          </a:p>
        </p:txBody>
      </p:sp>
      <p:sp>
        <p:nvSpPr>
          <p:cNvPr id="20" name="Text 18"/>
          <p:cNvSpPr/>
          <p:nvPr/>
        </p:nvSpPr>
        <p:spPr>
          <a:xfrm>
            <a:off x="1088136" y="3630168"/>
            <a:ext cx="2532888" cy="5486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120" dirty="0">
                <a:solidFill>
                  <a:srgbClr val="2C25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db + web</a:t>
            </a:r>
            <a:endParaRPr lang="en-US" sz="1120" dirty="0"/>
          </a:p>
          <a:p>
            <a:pPr indent="0" marL="0">
              <a:buNone/>
            </a:pPr>
            <a:r>
              <a:rPr lang="en-US" sz="1120" dirty="0">
                <a:solidFill>
                  <a:srgbClr val="2C25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healthcheck</a:t>
            </a:r>
            <a:endParaRPr lang="en-US" sz="1120" dirty="0"/>
          </a:p>
        </p:txBody>
      </p:sp>
      <p:sp>
        <p:nvSpPr>
          <p:cNvPr id="21" name="Shape 19"/>
          <p:cNvSpPr/>
          <p:nvPr/>
        </p:nvSpPr>
        <p:spPr>
          <a:xfrm>
            <a:off x="4434840" y="3246120"/>
            <a:ext cx="2788920" cy="1005840"/>
          </a:xfrm>
          <a:prstGeom prst="roundRect">
            <a:avLst>
              <a:gd name="adj" fmla="val 7273"/>
            </a:avLst>
          </a:prstGeom>
          <a:solidFill>
            <a:srgbClr val="FFFDF8"/>
          </a:solidFill>
          <a:ln w="12700">
            <a:solidFill>
              <a:srgbClr val="D8C9BB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562856" y="3337560"/>
            <a:ext cx="253288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20" b="1" dirty="0">
                <a:solidFill>
                  <a:srgbClr val="5A3C3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PowerShell</a:t>
            </a:r>
            <a:endParaRPr lang="en-US" sz="1320" dirty="0"/>
          </a:p>
        </p:txBody>
      </p:sp>
      <p:sp>
        <p:nvSpPr>
          <p:cNvPr id="23" name="Text 21"/>
          <p:cNvSpPr/>
          <p:nvPr/>
        </p:nvSpPr>
        <p:spPr>
          <a:xfrm>
            <a:off x="4562856" y="3630168"/>
            <a:ext cx="2532888" cy="5486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120" dirty="0">
                <a:solidFill>
                  <a:srgbClr val="2C25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reset_db.ps1</a:t>
            </a:r>
            <a:endParaRPr lang="en-US" sz="1120" dirty="0"/>
          </a:p>
          <a:p>
            <a:pPr indent="0" marL="0">
              <a:buNone/>
            </a:pPr>
            <a:r>
              <a:rPr lang="en-US" sz="1120" dirty="0">
                <a:solidFill>
                  <a:srgbClr val="2C25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start_web.ps1</a:t>
            </a:r>
            <a:endParaRPr lang="en-US" sz="1120" dirty="0"/>
          </a:p>
        </p:txBody>
      </p:sp>
      <p:sp>
        <p:nvSpPr>
          <p:cNvPr id="24" name="Text 22"/>
          <p:cNvSpPr/>
          <p:nvPr/>
        </p:nvSpPr>
        <p:spPr>
          <a:xfrm>
            <a:off x="1508760" y="5285232"/>
            <a:ext cx="9326880" cy="411480"/>
          </a:xfrm>
          <a:prstGeom prst="rect">
            <a:avLst/>
          </a:prstGeom>
          <a:solidFill>
            <a:srgbClr val="FFFDF8"/>
          </a:solidFill>
          <a:ln>
            <a:solidFill>
              <a:srgbClr val="D8C9BB"/>
            </a:solidFill>
          </a:ln>
        </p:spPr>
        <p:txBody>
          <a:bodyPr wrap="square" lIns="1270" tIns="1270" rIns="1270" bIns="1270" rtlCol="0" anchor="ctr">
            <a:normAutofit/>
          </a:bodyPr>
          <a:lstStyle/>
          <a:p>
            <a:pPr algn="ctr" indent="0" marL="0">
              <a:buNone/>
            </a:pPr>
            <a:r>
              <a:rPr lang="en-US" sz="1210" dirty="0">
                <a:solidFill>
                  <a:srgbClr val="2C25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Выбор инструментов поддерживает ограничения целостности, разграничение доступа и воспроизводимый локальный запуск.</a:t>
            </a:r>
            <a:endParaRPr lang="en-US" sz="121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4EFE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237744"/>
          </a:xfrm>
          <a:prstGeom prst="rect">
            <a:avLst/>
          </a:prstGeom>
          <a:solidFill>
            <a:srgbClr val="3A2924"/>
          </a:solidFill>
          <a:ln w="12700">
            <a:solidFill>
              <a:srgbClr val="3A2924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56032" y="50292"/>
            <a:ext cx="292608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БСБД • Slop-Bakery</a:t>
            </a:r>
            <a:endParaRPr lang="en-US" sz="650" dirty="0"/>
          </a:p>
        </p:txBody>
      </p:sp>
      <p:sp>
        <p:nvSpPr>
          <p:cNvPr id="4" name="Text 2"/>
          <p:cNvSpPr/>
          <p:nvPr/>
        </p:nvSpPr>
        <p:spPr>
          <a:xfrm>
            <a:off x="9326880" y="50292"/>
            <a:ext cx="256032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630" dirty="0">
                <a:solidFill>
                  <a:srgbClr val="E9DDD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Защита</a:t>
            </a:r>
            <a:endParaRPr lang="en-US" sz="630" dirty="0"/>
          </a:p>
        </p:txBody>
      </p:sp>
      <p:sp>
        <p:nvSpPr>
          <p:cNvPr id="5" name="Text 3"/>
          <p:cNvSpPr/>
          <p:nvPr/>
        </p:nvSpPr>
        <p:spPr>
          <a:xfrm>
            <a:off x="11868912" y="6565392"/>
            <a:ext cx="164592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650" dirty="0">
                <a:solidFill>
                  <a:srgbClr val="6A5A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</a:t>
            </a:r>
            <a:endParaRPr lang="en-US" sz="650" dirty="0"/>
          </a:p>
        </p:txBody>
      </p:sp>
      <p:sp>
        <p:nvSpPr>
          <p:cNvPr id="6" name="Text 4"/>
          <p:cNvSpPr/>
          <p:nvPr/>
        </p:nvSpPr>
        <p:spPr>
          <a:xfrm>
            <a:off x="384048" y="475488"/>
            <a:ext cx="98755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2C25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Средства защиты БД</a:t>
            </a:r>
            <a:endParaRPr lang="en-US" sz="2500" dirty="0"/>
          </a:p>
        </p:txBody>
      </p:sp>
      <p:sp>
        <p:nvSpPr>
          <p:cNvPr id="7" name="Text 5"/>
          <p:cNvSpPr/>
          <p:nvPr/>
        </p:nvSpPr>
        <p:spPr>
          <a:xfrm>
            <a:off x="393192" y="859536"/>
            <a:ext cx="9875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A5A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Защита реализована на уровне СУБД и прикладной логики</a:t>
            </a:r>
            <a:endParaRPr lang="en-US" sz="950" dirty="0"/>
          </a:p>
        </p:txBody>
      </p:sp>
      <p:sp>
        <p:nvSpPr>
          <p:cNvPr id="8" name="Text 6"/>
          <p:cNvSpPr/>
          <p:nvPr/>
        </p:nvSpPr>
        <p:spPr>
          <a:xfrm>
            <a:off x="384048" y="1124712"/>
            <a:ext cx="1051560" cy="219456"/>
          </a:xfrm>
          <a:prstGeom prst="rect">
            <a:avLst/>
          </a:prstGeom>
          <a:solidFill>
            <a:srgbClr val="5A3C31"/>
          </a:solidFill>
          <a:ln>
            <a:solidFill>
              <a:srgbClr val="5A3C31"/>
            </a:solidFill>
          </a:ln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82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Защита</a:t>
            </a:r>
            <a:endParaRPr lang="en-US" sz="820" dirty="0"/>
          </a:p>
        </p:txBody>
      </p:sp>
      <p:sp>
        <p:nvSpPr>
          <p:cNvPr id="9" name="Shape 7"/>
          <p:cNvSpPr/>
          <p:nvPr/>
        </p:nvSpPr>
        <p:spPr>
          <a:xfrm>
            <a:off x="777240" y="1554480"/>
            <a:ext cx="3017520" cy="3520440"/>
          </a:xfrm>
          <a:prstGeom prst="roundRect">
            <a:avLst>
              <a:gd name="adj" fmla="val 2424"/>
            </a:avLst>
          </a:prstGeom>
          <a:solidFill>
            <a:srgbClr val="FFFDF8"/>
          </a:solidFill>
          <a:ln w="12700">
            <a:solidFill>
              <a:srgbClr val="D8C9BB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905256" y="1645920"/>
            <a:ext cx="276148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50" b="1" dirty="0">
                <a:solidFill>
                  <a:srgbClr val="5A3C3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СУБД</a:t>
            </a:r>
            <a:endParaRPr lang="en-US" sz="1350" dirty="0"/>
          </a:p>
        </p:txBody>
      </p:sp>
      <p:sp>
        <p:nvSpPr>
          <p:cNvPr id="11" name="Text 9"/>
          <p:cNvSpPr/>
          <p:nvPr/>
        </p:nvSpPr>
        <p:spPr>
          <a:xfrm>
            <a:off x="905256" y="1938528"/>
            <a:ext cx="2761488" cy="30632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230" dirty="0">
                <a:solidFill>
                  <a:srgbClr val="2C25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SQL-роли и GRANT</a:t>
            </a:r>
            <a:endParaRPr lang="en-US" sz="1230" dirty="0"/>
          </a:p>
          <a:p>
            <a:pPr indent="0" marL="0">
              <a:buNone/>
            </a:pPr>
            <a:r>
              <a:rPr lang="en-US" sz="1230" dirty="0">
                <a:solidFill>
                  <a:srgbClr val="2C25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PK/FK/CHECK</a:t>
            </a:r>
            <a:endParaRPr lang="en-US" sz="1230" dirty="0"/>
          </a:p>
          <a:p>
            <a:pPr indent="0" marL="0">
              <a:buNone/>
            </a:pPr>
            <a:r>
              <a:rPr lang="en-US" sz="1230" dirty="0">
                <a:solidFill>
                  <a:srgbClr val="2C25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частичные индексы</a:t>
            </a:r>
            <a:endParaRPr lang="en-US" sz="1230" dirty="0"/>
          </a:p>
          <a:p>
            <a:pPr indent="0" marL="0">
              <a:buNone/>
            </a:pPr>
            <a:r>
              <a:rPr lang="en-US" sz="1230" dirty="0">
                <a:solidFill>
                  <a:srgbClr val="2C25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аудит JSONB</a:t>
            </a:r>
            <a:endParaRPr lang="en-US" sz="1230" dirty="0"/>
          </a:p>
        </p:txBody>
      </p:sp>
      <p:sp>
        <p:nvSpPr>
          <p:cNvPr id="12" name="Shape 10"/>
          <p:cNvSpPr/>
          <p:nvPr/>
        </p:nvSpPr>
        <p:spPr>
          <a:xfrm>
            <a:off x="4544568" y="1554480"/>
            <a:ext cx="3017520" cy="3520440"/>
          </a:xfrm>
          <a:prstGeom prst="roundRect">
            <a:avLst>
              <a:gd name="adj" fmla="val 2424"/>
            </a:avLst>
          </a:prstGeom>
          <a:solidFill>
            <a:srgbClr val="EFE5DA"/>
          </a:solidFill>
          <a:ln w="12700">
            <a:solidFill>
              <a:srgbClr val="D8C9BB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672584" y="1645920"/>
            <a:ext cx="276148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50" b="1" dirty="0">
                <a:solidFill>
                  <a:srgbClr val="5A3C3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Приложение</a:t>
            </a:r>
            <a:endParaRPr lang="en-US" sz="1350" dirty="0"/>
          </a:p>
        </p:txBody>
      </p:sp>
      <p:sp>
        <p:nvSpPr>
          <p:cNvPr id="14" name="Text 12"/>
          <p:cNvSpPr/>
          <p:nvPr/>
        </p:nvSpPr>
        <p:spPr>
          <a:xfrm>
            <a:off x="4672584" y="1938528"/>
            <a:ext cx="2761488" cy="30632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230" dirty="0">
                <a:solidFill>
                  <a:srgbClr val="2C25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action-level permissions</a:t>
            </a:r>
            <a:endParaRPr lang="en-US" sz="1230" dirty="0"/>
          </a:p>
          <a:p>
            <a:pPr indent="0" marL="0">
              <a:buNone/>
            </a:pPr>
            <a:r>
              <a:rPr lang="en-US" sz="1230" dirty="0">
                <a:solidFill>
                  <a:srgbClr val="2C25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object-level checks</a:t>
            </a:r>
            <a:endParaRPr lang="en-US" sz="1230" dirty="0"/>
          </a:p>
          <a:p>
            <a:pPr indent="0" marL="0">
              <a:buNone/>
            </a:pPr>
            <a:r>
              <a:rPr lang="en-US" sz="1230" dirty="0">
                <a:solidFill>
                  <a:srgbClr val="2C25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серверная валидация</a:t>
            </a:r>
            <a:endParaRPr lang="en-US" sz="1230" dirty="0"/>
          </a:p>
          <a:p>
            <a:pPr indent="0" marL="0">
              <a:buNone/>
            </a:pPr>
            <a:r>
              <a:rPr lang="en-US" sz="1230" dirty="0">
                <a:solidFill>
                  <a:srgbClr val="2C25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обработка 403</a:t>
            </a:r>
            <a:endParaRPr lang="en-US" sz="1230" dirty="0"/>
          </a:p>
        </p:txBody>
      </p:sp>
      <p:sp>
        <p:nvSpPr>
          <p:cNvPr id="15" name="Shape 13"/>
          <p:cNvSpPr/>
          <p:nvPr/>
        </p:nvSpPr>
        <p:spPr>
          <a:xfrm>
            <a:off x="8311896" y="1554480"/>
            <a:ext cx="3017520" cy="3520440"/>
          </a:xfrm>
          <a:prstGeom prst="roundRect">
            <a:avLst>
              <a:gd name="adj" fmla="val 2424"/>
            </a:avLst>
          </a:prstGeom>
          <a:solidFill>
            <a:srgbClr val="FFFDF8"/>
          </a:solidFill>
          <a:ln w="12700">
            <a:solidFill>
              <a:srgbClr val="D8C9BB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8439912" y="1645920"/>
            <a:ext cx="276148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50" b="1" dirty="0">
                <a:solidFill>
                  <a:srgbClr val="5A3C3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Данные</a:t>
            </a:r>
            <a:endParaRPr lang="en-US" sz="1350" dirty="0"/>
          </a:p>
        </p:txBody>
      </p:sp>
      <p:sp>
        <p:nvSpPr>
          <p:cNvPr id="17" name="Text 15"/>
          <p:cNvSpPr/>
          <p:nvPr/>
        </p:nvSpPr>
        <p:spPr>
          <a:xfrm>
            <a:off x="8439912" y="1938528"/>
            <a:ext cx="2761488" cy="30632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230" dirty="0">
                <a:solidFill>
                  <a:srgbClr val="2C25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bcrypt-хэши</a:t>
            </a:r>
            <a:endParaRPr lang="en-US" sz="1230" dirty="0"/>
          </a:p>
          <a:p>
            <a:pPr indent="0" marL="0">
              <a:buNone/>
            </a:pPr>
            <a:r>
              <a:rPr lang="en-US" sz="1230" dirty="0">
                <a:solidFill>
                  <a:srgbClr val="2C25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параметризованный SQL</a:t>
            </a:r>
            <a:endParaRPr lang="en-US" sz="1230" dirty="0"/>
          </a:p>
          <a:p>
            <a:pPr indent="0" marL="0">
              <a:buNone/>
            </a:pPr>
            <a:r>
              <a:rPr lang="en-US" sz="1230" dirty="0">
                <a:solidFill>
                  <a:srgbClr val="2C25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запрет подмены цены</a:t>
            </a:r>
            <a:endParaRPr lang="en-US" sz="1230" dirty="0"/>
          </a:p>
          <a:p>
            <a:pPr indent="0" marL="0">
              <a:buNone/>
            </a:pPr>
            <a:r>
              <a:rPr lang="en-US" sz="1230" dirty="0">
                <a:solidFill>
                  <a:srgbClr val="2C25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транзакции склада</a:t>
            </a:r>
            <a:endParaRPr lang="en-US" sz="1230" dirty="0"/>
          </a:p>
        </p:txBody>
      </p:sp>
      <p:sp>
        <p:nvSpPr>
          <p:cNvPr id="18" name="Text 16"/>
          <p:cNvSpPr/>
          <p:nvPr/>
        </p:nvSpPr>
        <p:spPr>
          <a:xfrm>
            <a:off x="1234440" y="5440680"/>
            <a:ext cx="9784080" cy="393192"/>
          </a:xfrm>
          <a:prstGeom prst="rect">
            <a:avLst/>
          </a:prstGeom>
          <a:solidFill>
            <a:srgbClr val="F3E7C5"/>
          </a:solidFill>
          <a:ln>
            <a:solidFill>
              <a:srgbClr val="D8C9BB"/>
            </a:solidFill>
          </a:ln>
        </p:spPr>
        <p:txBody>
          <a:bodyPr wrap="square" lIns="1270" tIns="1270" rIns="1270" bIns="1270" rtlCol="0" anchor="ctr">
            <a:normAutofit/>
          </a:bodyPr>
          <a:lstStyle/>
          <a:p>
            <a:pPr algn="ctr" indent="0" marL="0">
              <a:buNone/>
            </a:pPr>
            <a:r>
              <a:rPr lang="en-US" sz="1200" dirty="0">
                <a:solidFill>
                  <a:srgbClr val="2C25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Защита не ограничивается скрытием кнопок: критичные POST-маршруты вызывают серверную проверку прав.</a:t>
            </a:r>
            <a:endParaRPr lang="en-US" sz="12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4EFE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237744"/>
          </a:xfrm>
          <a:prstGeom prst="rect">
            <a:avLst/>
          </a:prstGeom>
          <a:solidFill>
            <a:srgbClr val="3A2924"/>
          </a:solidFill>
          <a:ln w="12700">
            <a:solidFill>
              <a:srgbClr val="3A2924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56032" y="50292"/>
            <a:ext cx="292608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БСБД • Slop-Bakery</a:t>
            </a:r>
            <a:endParaRPr lang="en-US" sz="650" dirty="0"/>
          </a:p>
        </p:txBody>
      </p:sp>
      <p:sp>
        <p:nvSpPr>
          <p:cNvPr id="4" name="Text 2"/>
          <p:cNvSpPr/>
          <p:nvPr/>
        </p:nvSpPr>
        <p:spPr>
          <a:xfrm>
            <a:off x="9326880" y="50292"/>
            <a:ext cx="256032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630" dirty="0">
                <a:solidFill>
                  <a:srgbClr val="E9DDD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Целостность</a:t>
            </a:r>
            <a:endParaRPr lang="en-US" sz="630" dirty="0"/>
          </a:p>
        </p:txBody>
      </p:sp>
      <p:sp>
        <p:nvSpPr>
          <p:cNvPr id="5" name="Text 3"/>
          <p:cNvSpPr/>
          <p:nvPr/>
        </p:nvSpPr>
        <p:spPr>
          <a:xfrm>
            <a:off x="11868912" y="6565392"/>
            <a:ext cx="164592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650" dirty="0">
                <a:solidFill>
                  <a:srgbClr val="6A5A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</a:t>
            </a:r>
            <a:endParaRPr lang="en-US" sz="650" dirty="0"/>
          </a:p>
        </p:txBody>
      </p:sp>
      <p:sp>
        <p:nvSpPr>
          <p:cNvPr id="6" name="Text 4"/>
          <p:cNvSpPr/>
          <p:nvPr/>
        </p:nvSpPr>
        <p:spPr>
          <a:xfrm>
            <a:off x="384048" y="475488"/>
            <a:ext cx="98755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2C25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Ограничения целостности</a:t>
            </a:r>
            <a:endParaRPr lang="en-US" sz="2500" dirty="0"/>
          </a:p>
        </p:txBody>
      </p:sp>
      <p:sp>
        <p:nvSpPr>
          <p:cNvPr id="7" name="Text 5"/>
          <p:cNvSpPr/>
          <p:nvPr/>
        </p:nvSpPr>
        <p:spPr>
          <a:xfrm>
            <a:off x="393192" y="859536"/>
            <a:ext cx="9875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A5A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Бизнес-правила закреплены в схеме БД и прикладной логике</a:t>
            </a:r>
            <a:endParaRPr lang="en-US" sz="950" dirty="0"/>
          </a:p>
        </p:txBody>
      </p:sp>
      <p:sp>
        <p:nvSpPr>
          <p:cNvPr id="8" name="Text 6"/>
          <p:cNvSpPr/>
          <p:nvPr/>
        </p:nvSpPr>
        <p:spPr>
          <a:xfrm>
            <a:off x="384048" y="1124712"/>
            <a:ext cx="1051560" cy="219456"/>
          </a:xfrm>
          <a:prstGeom prst="rect">
            <a:avLst/>
          </a:prstGeom>
          <a:solidFill>
            <a:srgbClr val="5A3C31"/>
          </a:solidFill>
          <a:ln>
            <a:solidFill>
              <a:srgbClr val="5A3C31"/>
            </a:solidFill>
          </a:ln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82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Ограничения</a:t>
            </a:r>
            <a:endParaRPr lang="en-US" sz="820" dirty="0"/>
          </a:p>
        </p:txBody>
      </p:sp>
      <p:sp>
        <p:nvSpPr>
          <p:cNvPr id="9" name="Shape 7"/>
          <p:cNvSpPr/>
          <p:nvPr/>
        </p:nvSpPr>
        <p:spPr>
          <a:xfrm>
            <a:off x="640080" y="1481328"/>
            <a:ext cx="3246120" cy="1024128"/>
          </a:xfrm>
          <a:prstGeom prst="roundRect">
            <a:avLst>
              <a:gd name="adj" fmla="val 7143"/>
            </a:avLst>
          </a:prstGeom>
          <a:solidFill>
            <a:srgbClr val="FFFDF8"/>
          </a:solidFill>
          <a:ln w="12700">
            <a:solidFill>
              <a:srgbClr val="D8C9BB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68096" y="1572768"/>
            <a:ext cx="299008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60" b="1" dirty="0">
                <a:solidFill>
                  <a:srgbClr val="5A3C3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Ссылочная целостность</a:t>
            </a:r>
            <a:endParaRPr lang="en-US" sz="1160" dirty="0"/>
          </a:p>
        </p:txBody>
      </p:sp>
      <p:sp>
        <p:nvSpPr>
          <p:cNvPr id="11" name="Text 9"/>
          <p:cNvSpPr/>
          <p:nvPr/>
        </p:nvSpPr>
        <p:spPr>
          <a:xfrm>
            <a:off x="768096" y="1865376"/>
            <a:ext cx="2990088" cy="56692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070" dirty="0">
                <a:solidFill>
                  <a:srgbClr val="2C25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PK/FK запрещают висячие ссылки между заказами, поставками, производством и отгрузками.</a:t>
            </a:r>
            <a:endParaRPr lang="en-US" sz="1070" dirty="0"/>
          </a:p>
        </p:txBody>
      </p:sp>
      <p:sp>
        <p:nvSpPr>
          <p:cNvPr id="12" name="Shape 10"/>
          <p:cNvSpPr/>
          <p:nvPr/>
        </p:nvSpPr>
        <p:spPr>
          <a:xfrm>
            <a:off x="4462272" y="1481328"/>
            <a:ext cx="3246120" cy="1024128"/>
          </a:xfrm>
          <a:prstGeom prst="roundRect">
            <a:avLst>
              <a:gd name="adj" fmla="val 7143"/>
            </a:avLst>
          </a:prstGeom>
          <a:solidFill>
            <a:srgbClr val="DAE7EA"/>
          </a:solidFill>
          <a:ln w="12700">
            <a:solidFill>
              <a:srgbClr val="D8C9BB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590288" y="1572768"/>
            <a:ext cx="299008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60" b="1" dirty="0">
                <a:solidFill>
                  <a:srgbClr val="5A3C3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Значения и даты</a:t>
            </a:r>
            <a:endParaRPr lang="en-US" sz="1160" dirty="0"/>
          </a:p>
        </p:txBody>
      </p:sp>
      <p:sp>
        <p:nvSpPr>
          <p:cNvPr id="14" name="Text 12"/>
          <p:cNvSpPr/>
          <p:nvPr/>
        </p:nvSpPr>
        <p:spPr>
          <a:xfrm>
            <a:off x="4590288" y="1865376"/>
            <a:ext cx="2990088" cy="56692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070" dirty="0">
                <a:solidFill>
                  <a:srgbClr val="2C25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CHECK контролирует положительные количества, суммы, корректность дат и paid_at.</a:t>
            </a:r>
            <a:endParaRPr lang="en-US" sz="1070" dirty="0"/>
          </a:p>
        </p:txBody>
      </p:sp>
      <p:sp>
        <p:nvSpPr>
          <p:cNvPr id="15" name="Shape 13"/>
          <p:cNvSpPr/>
          <p:nvPr/>
        </p:nvSpPr>
        <p:spPr>
          <a:xfrm>
            <a:off x="8284464" y="1481328"/>
            <a:ext cx="3246120" cy="1024128"/>
          </a:xfrm>
          <a:prstGeom prst="roundRect">
            <a:avLst>
              <a:gd name="adj" fmla="val 7143"/>
            </a:avLst>
          </a:prstGeom>
          <a:solidFill>
            <a:srgbClr val="E0E8D6"/>
          </a:solidFill>
          <a:ln w="12700">
            <a:solidFill>
              <a:srgbClr val="D8C9BB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8412480" y="1572768"/>
            <a:ext cx="299008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60" b="1" dirty="0">
                <a:solidFill>
                  <a:srgbClr val="5A3C3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Уникальность</a:t>
            </a:r>
            <a:endParaRPr lang="en-US" sz="1160" dirty="0"/>
          </a:p>
        </p:txBody>
      </p:sp>
      <p:sp>
        <p:nvSpPr>
          <p:cNvPr id="17" name="Text 15"/>
          <p:cNvSpPr/>
          <p:nvPr/>
        </p:nvSpPr>
        <p:spPr>
          <a:xfrm>
            <a:off x="8412480" y="1865376"/>
            <a:ext cx="2990088" cy="56692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070" dirty="0">
                <a:solidFill>
                  <a:srgbClr val="2C25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UNIQUE и partial index блокируют дубли документов и активных счетов.</a:t>
            </a:r>
            <a:endParaRPr lang="en-US" sz="1070" dirty="0"/>
          </a:p>
        </p:txBody>
      </p:sp>
      <p:sp>
        <p:nvSpPr>
          <p:cNvPr id="18" name="Shape 16"/>
          <p:cNvSpPr/>
          <p:nvPr/>
        </p:nvSpPr>
        <p:spPr>
          <a:xfrm>
            <a:off x="640080" y="2999232"/>
            <a:ext cx="3246120" cy="1024128"/>
          </a:xfrm>
          <a:prstGeom prst="roundRect">
            <a:avLst>
              <a:gd name="adj" fmla="val 7143"/>
            </a:avLst>
          </a:prstGeom>
          <a:solidFill>
            <a:srgbClr val="F3E7C5"/>
          </a:solidFill>
          <a:ln w="12700">
            <a:solidFill>
              <a:srgbClr val="D8C9BB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768096" y="3090672"/>
            <a:ext cx="299008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60" b="1" dirty="0">
                <a:solidFill>
                  <a:srgbClr val="5A3C3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Складские остатки</a:t>
            </a:r>
            <a:endParaRPr lang="en-US" sz="1160" dirty="0"/>
          </a:p>
        </p:txBody>
      </p:sp>
      <p:sp>
        <p:nvSpPr>
          <p:cNvPr id="20" name="Text 18"/>
          <p:cNvSpPr/>
          <p:nvPr/>
        </p:nvSpPr>
        <p:spPr>
          <a:xfrm>
            <a:off x="768096" y="3383280"/>
            <a:ext cx="2990088" cy="56692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070" dirty="0">
                <a:solidFill>
                  <a:srgbClr val="2C25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Транзакции запрещают отрицательные остатки и повторное проведение операции.</a:t>
            </a:r>
            <a:endParaRPr lang="en-US" sz="1070" dirty="0"/>
          </a:p>
        </p:txBody>
      </p:sp>
      <p:sp>
        <p:nvSpPr>
          <p:cNvPr id="21" name="Shape 19"/>
          <p:cNvSpPr/>
          <p:nvPr/>
        </p:nvSpPr>
        <p:spPr>
          <a:xfrm>
            <a:off x="4462272" y="2999232"/>
            <a:ext cx="3246120" cy="1024128"/>
          </a:xfrm>
          <a:prstGeom prst="roundRect">
            <a:avLst>
              <a:gd name="adj" fmla="val 7143"/>
            </a:avLst>
          </a:prstGeom>
          <a:solidFill>
            <a:srgbClr val="EAD5D7"/>
          </a:solidFill>
          <a:ln w="12700">
            <a:solidFill>
              <a:srgbClr val="D8C9BB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590288" y="3090672"/>
            <a:ext cx="299008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60" b="1" dirty="0">
                <a:solidFill>
                  <a:srgbClr val="5A3C3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Статусы</a:t>
            </a:r>
            <a:endParaRPr lang="en-US" sz="1160" dirty="0"/>
          </a:p>
        </p:txBody>
      </p:sp>
      <p:sp>
        <p:nvSpPr>
          <p:cNvPr id="23" name="Text 21"/>
          <p:cNvSpPr/>
          <p:nvPr/>
        </p:nvSpPr>
        <p:spPr>
          <a:xfrm>
            <a:off x="4590288" y="3383280"/>
            <a:ext cx="2990088" cy="56692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070" dirty="0">
                <a:solidFill>
                  <a:srgbClr val="2C25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Матрицы переходов исключают произвольную смену жизненного цикла.</a:t>
            </a:r>
            <a:endParaRPr lang="en-US" sz="1070" dirty="0"/>
          </a:p>
        </p:txBody>
      </p:sp>
      <p:sp>
        <p:nvSpPr>
          <p:cNvPr id="24" name="Shape 22"/>
          <p:cNvSpPr/>
          <p:nvPr/>
        </p:nvSpPr>
        <p:spPr>
          <a:xfrm>
            <a:off x="8284464" y="2999232"/>
            <a:ext cx="3246120" cy="1024128"/>
          </a:xfrm>
          <a:prstGeom prst="roundRect">
            <a:avLst>
              <a:gd name="adj" fmla="val 7143"/>
            </a:avLst>
          </a:prstGeom>
          <a:solidFill>
            <a:srgbClr val="D8ECE7"/>
          </a:solidFill>
          <a:ln w="12700">
            <a:solidFill>
              <a:srgbClr val="D8C9BB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8412480" y="3090672"/>
            <a:ext cx="299008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60" b="1" dirty="0">
                <a:solidFill>
                  <a:srgbClr val="5A3C3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Качество</a:t>
            </a:r>
            <a:endParaRPr lang="en-US" sz="1160" dirty="0"/>
          </a:p>
        </p:txBody>
      </p:sp>
      <p:sp>
        <p:nvSpPr>
          <p:cNvPr id="26" name="Text 24"/>
          <p:cNvSpPr/>
          <p:nvPr/>
        </p:nvSpPr>
        <p:spPr>
          <a:xfrm>
            <a:off x="8412480" y="3383280"/>
            <a:ext cx="2990088" cy="56692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070" dirty="0">
                <a:solidFill>
                  <a:srgbClr val="2C25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Производство и отгрузка требуют passed quality check.</a:t>
            </a:r>
            <a:endParaRPr lang="en-US" sz="1070" dirty="0"/>
          </a:p>
        </p:txBody>
      </p:sp>
      <p:sp>
        <p:nvSpPr>
          <p:cNvPr id="27" name="Text 25"/>
          <p:cNvSpPr/>
          <p:nvPr/>
        </p:nvSpPr>
        <p:spPr>
          <a:xfrm>
            <a:off x="1097280" y="5266944"/>
            <a:ext cx="10012680" cy="393192"/>
          </a:xfrm>
          <a:prstGeom prst="rect">
            <a:avLst/>
          </a:prstGeom>
          <a:solidFill>
            <a:srgbClr val="FFFDF8"/>
          </a:solidFill>
          <a:ln>
            <a:solidFill>
              <a:srgbClr val="D8C9BB"/>
            </a:solidFill>
          </a:ln>
        </p:spPr>
        <p:txBody>
          <a:bodyPr wrap="square" lIns="1270" tIns="1270" rIns="1270" bIns="1270" rtlCol="0" anchor="ctr">
            <a:normAutofit/>
          </a:bodyPr>
          <a:lstStyle/>
          <a:p>
            <a:pPr algn="ctr" indent="0" marL="0">
              <a:buNone/>
            </a:pPr>
            <a:r>
              <a:rPr lang="en-US" sz="1200" dirty="0">
                <a:solidFill>
                  <a:srgbClr val="2C25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Критичные ограничения дублируются: часть выполняется в PostgreSQL, часть — в бизнес-валидаторах FastAPI.</a:t>
            </a:r>
            <a:endParaRPr lang="en-US" sz="12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4EFE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237744"/>
          </a:xfrm>
          <a:prstGeom prst="rect">
            <a:avLst/>
          </a:prstGeom>
          <a:solidFill>
            <a:srgbClr val="3A2924"/>
          </a:solidFill>
          <a:ln w="12700">
            <a:solidFill>
              <a:srgbClr val="3A2924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56032" y="50292"/>
            <a:ext cx="292608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БСБД • Slop-Bakery</a:t>
            </a:r>
            <a:endParaRPr lang="en-US" sz="650" dirty="0"/>
          </a:p>
        </p:txBody>
      </p:sp>
      <p:sp>
        <p:nvSpPr>
          <p:cNvPr id="4" name="Text 2"/>
          <p:cNvSpPr/>
          <p:nvPr/>
        </p:nvSpPr>
        <p:spPr>
          <a:xfrm>
            <a:off x="9326880" y="50292"/>
            <a:ext cx="256032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630" dirty="0">
                <a:solidFill>
                  <a:srgbClr val="E9DDD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UI</a:t>
            </a:r>
            <a:endParaRPr lang="en-US" sz="630" dirty="0"/>
          </a:p>
        </p:txBody>
      </p:sp>
      <p:sp>
        <p:nvSpPr>
          <p:cNvPr id="5" name="Text 3"/>
          <p:cNvSpPr/>
          <p:nvPr/>
        </p:nvSpPr>
        <p:spPr>
          <a:xfrm>
            <a:off x="11868912" y="6565392"/>
            <a:ext cx="164592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650" dirty="0">
                <a:solidFill>
                  <a:srgbClr val="6A5A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13</a:t>
            </a:r>
            <a:endParaRPr lang="en-US" sz="650" dirty="0"/>
          </a:p>
        </p:txBody>
      </p:sp>
      <p:sp>
        <p:nvSpPr>
          <p:cNvPr id="6" name="Text 4"/>
          <p:cNvSpPr/>
          <p:nvPr/>
        </p:nvSpPr>
        <p:spPr>
          <a:xfrm>
            <a:off x="384048" y="475488"/>
            <a:ext cx="98755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2C25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Интерфейс системы</a:t>
            </a:r>
            <a:endParaRPr lang="en-US" sz="2500" dirty="0"/>
          </a:p>
        </p:txBody>
      </p:sp>
      <p:sp>
        <p:nvSpPr>
          <p:cNvPr id="7" name="Text 5"/>
          <p:cNvSpPr/>
          <p:nvPr/>
        </p:nvSpPr>
        <p:spPr>
          <a:xfrm>
            <a:off x="393192" y="859536"/>
            <a:ext cx="9875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A5A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Без скриншотов: разделы интерфейса и роли пользователей</a:t>
            </a:r>
            <a:endParaRPr lang="en-US" sz="950" dirty="0"/>
          </a:p>
        </p:txBody>
      </p:sp>
      <p:sp>
        <p:nvSpPr>
          <p:cNvPr id="8" name="Text 6"/>
          <p:cNvSpPr/>
          <p:nvPr/>
        </p:nvSpPr>
        <p:spPr>
          <a:xfrm>
            <a:off x="384048" y="1124712"/>
            <a:ext cx="1051560" cy="219456"/>
          </a:xfrm>
          <a:prstGeom prst="rect">
            <a:avLst/>
          </a:prstGeom>
          <a:solidFill>
            <a:srgbClr val="5A3C31"/>
          </a:solidFill>
          <a:ln>
            <a:solidFill>
              <a:srgbClr val="5A3C31"/>
            </a:solidFill>
          </a:ln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82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Интерфейс</a:t>
            </a:r>
            <a:endParaRPr lang="en-US" sz="820" dirty="0"/>
          </a:p>
        </p:txBody>
      </p:sp>
      <p:sp>
        <p:nvSpPr>
          <p:cNvPr id="9" name="Shape 7"/>
          <p:cNvSpPr/>
          <p:nvPr/>
        </p:nvSpPr>
        <p:spPr>
          <a:xfrm>
            <a:off x="658368" y="1508760"/>
            <a:ext cx="3200400" cy="914400"/>
          </a:xfrm>
          <a:prstGeom prst="roundRect">
            <a:avLst>
              <a:gd name="adj" fmla="val 8000"/>
            </a:avLst>
          </a:prstGeom>
          <a:solidFill>
            <a:srgbClr val="FFFDF8"/>
          </a:solidFill>
          <a:ln w="12700">
            <a:solidFill>
              <a:srgbClr val="D8C9BB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86384" y="1600200"/>
            <a:ext cx="29443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80" b="1" dirty="0">
                <a:solidFill>
                  <a:srgbClr val="5A3C3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Личный кабинет</a:t>
            </a:r>
            <a:endParaRPr lang="en-US" sz="1180" dirty="0"/>
          </a:p>
        </p:txBody>
      </p:sp>
      <p:sp>
        <p:nvSpPr>
          <p:cNvPr id="11" name="Text 9"/>
          <p:cNvSpPr/>
          <p:nvPr/>
        </p:nvSpPr>
        <p:spPr>
          <a:xfrm>
            <a:off x="786384" y="1892808"/>
            <a:ext cx="2944368" cy="4572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080" dirty="0">
                <a:solidFill>
                  <a:srgbClr val="2C25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client: заказы, счета, отгрузки</a:t>
            </a:r>
            <a:endParaRPr lang="en-US" sz="1080" dirty="0"/>
          </a:p>
        </p:txBody>
      </p:sp>
      <p:sp>
        <p:nvSpPr>
          <p:cNvPr id="12" name="Shape 10"/>
          <p:cNvSpPr/>
          <p:nvPr/>
        </p:nvSpPr>
        <p:spPr>
          <a:xfrm>
            <a:off x="4407408" y="1508760"/>
            <a:ext cx="3200400" cy="914400"/>
          </a:xfrm>
          <a:prstGeom prst="roundRect">
            <a:avLst>
              <a:gd name="adj" fmla="val 8000"/>
            </a:avLst>
          </a:prstGeom>
          <a:solidFill>
            <a:srgbClr val="EFE5DA"/>
          </a:solidFill>
          <a:ln w="12700">
            <a:solidFill>
              <a:srgbClr val="D8C9BB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535424" y="1600200"/>
            <a:ext cx="29443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80" b="1" dirty="0">
                <a:solidFill>
                  <a:srgbClr val="5A3C3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Заказы и счета</a:t>
            </a:r>
            <a:endParaRPr lang="en-US" sz="1180" dirty="0"/>
          </a:p>
        </p:txBody>
      </p:sp>
      <p:sp>
        <p:nvSpPr>
          <p:cNvPr id="14" name="Text 12"/>
          <p:cNvSpPr/>
          <p:nvPr/>
        </p:nvSpPr>
        <p:spPr>
          <a:xfrm>
            <a:off x="4535424" y="1892808"/>
            <a:ext cx="2944368" cy="4572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080" dirty="0">
                <a:solidFill>
                  <a:srgbClr val="2C25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admin, client; оплата только своих счетов</a:t>
            </a:r>
            <a:endParaRPr lang="en-US" sz="1080" dirty="0"/>
          </a:p>
        </p:txBody>
      </p:sp>
      <p:sp>
        <p:nvSpPr>
          <p:cNvPr id="15" name="Shape 13"/>
          <p:cNvSpPr/>
          <p:nvPr/>
        </p:nvSpPr>
        <p:spPr>
          <a:xfrm>
            <a:off x="8156448" y="1508760"/>
            <a:ext cx="3200400" cy="914400"/>
          </a:xfrm>
          <a:prstGeom prst="roundRect">
            <a:avLst>
              <a:gd name="adj" fmla="val 8000"/>
            </a:avLst>
          </a:prstGeom>
          <a:solidFill>
            <a:srgbClr val="FFFDF8"/>
          </a:solidFill>
          <a:ln w="12700">
            <a:solidFill>
              <a:srgbClr val="D8C9BB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8284464" y="1600200"/>
            <a:ext cx="29443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80" b="1" dirty="0">
                <a:solidFill>
                  <a:srgbClr val="5A3C3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Поставки и склад</a:t>
            </a:r>
            <a:endParaRPr lang="en-US" sz="1180" dirty="0"/>
          </a:p>
        </p:txBody>
      </p:sp>
      <p:sp>
        <p:nvSpPr>
          <p:cNvPr id="17" name="Text 15"/>
          <p:cNvSpPr/>
          <p:nvPr/>
        </p:nvSpPr>
        <p:spPr>
          <a:xfrm>
            <a:off x="8284464" y="1892808"/>
            <a:ext cx="2944368" cy="4572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080" dirty="0">
                <a:solidFill>
                  <a:srgbClr val="2C25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admin, warehouse_worker</a:t>
            </a:r>
            <a:endParaRPr lang="en-US" sz="1080" dirty="0"/>
          </a:p>
        </p:txBody>
      </p:sp>
      <p:sp>
        <p:nvSpPr>
          <p:cNvPr id="18" name="Shape 16"/>
          <p:cNvSpPr/>
          <p:nvPr/>
        </p:nvSpPr>
        <p:spPr>
          <a:xfrm>
            <a:off x="658368" y="2862072"/>
            <a:ext cx="3200400" cy="914400"/>
          </a:xfrm>
          <a:prstGeom prst="roundRect">
            <a:avLst>
              <a:gd name="adj" fmla="val 8000"/>
            </a:avLst>
          </a:prstGeom>
          <a:solidFill>
            <a:srgbClr val="EFE5DA"/>
          </a:solidFill>
          <a:ln w="12700">
            <a:solidFill>
              <a:srgbClr val="D8C9BB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786384" y="2953512"/>
            <a:ext cx="29443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80" b="1" dirty="0">
                <a:solidFill>
                  <a:srgbClr val="5A3C3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Техкарты и производство</a:t>
            </a:r>
            <a:endParaRPr lang="en-US" sz="1180" dirty="0"/>
          </a:p>
        </p:txBody>
      </p:sp>
      <p:sp>
        <p:nvSpPr>
          <p:cNvPr id="20" name="Text 18"/>
          <p:cNvSpPr/>
          <p:nvPr/>
        </p:nvSpPr>
        <p:spPr>
          <a:xfrm>
            <a:off x="786384" y="3246120"/>
            <a:ext cx="2944368" cy="4572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080" dirty="0">
                <a:solidFill>
                  <a:srgbClr val="2C25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admin, technologist</a:t>
            </a:r>
            <a:endParaRPr lang="en-US" sz="1080" dirty="0"/>
          </a:p>
        </p:txBody>
      </p:sp>
      <p:sp>
        <p:nvSpPr>
          <p:cNvPr id="21" name="Shape 19"/>
          <p:cNvSpPr/>
          <p:nvPr/>
        </p:nvSpPr>
        <p:spPr>
          <a:xfrm>
            <a:off x="4407408" y="2862072"/>
            <a:ext cx="3200400" cy="914400"/>
          </a:xfrm>
          <a:prstGeom prst="roundRect">
            <a:avLst>
              <a:gd name="adj" fmla="val 8000"/>
            </a:avLst>
          </a:prstGeom>
          <a:solidFill>
            <a:srgbClr val="FFFDF8"/>
          </a:solidFill>
          <a:ln w="12700">
            <a:solidFill>
              <a:srgbClr val="D8C9BB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535424" y="2953512"/>
            <a:ext cx="29443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80" b="1" dirty="0">
                <a:solidFill>
                  <a:srgbClr val="5A3C3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Контроль качества</a:t>
            </a:r>
            <a:endParaRPr lang="en-US" sz="1180" dirty="0"/>
          </a:p>
        </p:txBody>
      </p:sp>
      <p:sp>
        <p:nvSpPr>
          <p:cNvPr id="23" name="Text 21"/>
          <p:cNvSpPr/>
          <p:nvPr/>
        </p:nvSpPr>
        <p:spPr>
          <a:xfrm>
            <a:off x="4535424" y="3246120"/>
            <a:ext cx="2944368" cy="4572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080" dirty="0">
                <a:solidFill>
                  <a:srgbClr val="2C25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admin, quality_control</a:t>
            </a:r>
            <a:endParaRPr lang="en-US" sz="1080" dirty="0"/>
          </a:p>
        </p:txBody>
      </p:sp>
      <p:sp>
        <p:nvSpPr>
          <p:cNvPr id="24" name="Shape 22"/>
          <p:cNvSpPr/>
          <p:nvPr/>
        </p:nvSpPr>
        <p:spPr>
          <a:xfrm>
            <a:off x="8156448" y="2862072"/>
            <a:ext cx="3200400" cy="914400"/>
          </a:xfrm>
          <a:prstGeom prst="roundRect">
            <a:avLst>
              <a:gd name="adj" fmla="val 8000"/>
            </a:avLst>
          </a:prstGeom>
          <a:solidFill>
            <a:srgbClr val="E7D7C8"/>
          </a:solidFill>
          <a:ln w="12700">
            <a:solidFill>
              <a:srgbClr val="D8C9BB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8284464" y="2953512"/>
            <a:ext cx="29443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80" b="1" dirty="0">
                <a:solidFill>
                  <a:srgbClr val="5A3C3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Отчёты и аудит</a:t>
            </a:r>
            <a:endParaRPr lang="en-US" sz="1180" dirty="0"/>
          </a:p>
        </p:txBody>
      </p:sp>
      <p:sp>
        <p:nvSpPr>
          <p:cNvPr id="26" name="Text 24"/>
          <p:cNvSpPr/>
          <p:nvPr/>
        </p:nvSpPr>
        <p:spPr>
          <a:xfrm>
            <a:off x="8284464" y="3246120"/>
            <a:ext cx="2944368" cy="4572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080" dirty="0">
                <a:solidFill>
                  <a:srgbClr val="2C25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отчёты по роли; аудит только admin</a:t>
            </a:r>
            <a:endParaRPr lang="en-US" sz="1080" dirty="0"/>
          </a:p>
        </p:txBody>
      </p:sp>
      <p:sp>
        <p:nvSpPr>
          <p:cNvPr id="27" name="Text 25"/>
          <p:cNvSpPr/>
          <p:nvPr/>
        </p:nvSpPr>
        <p:spPr>
          <a:xfrm>
            <a:off x="1143000" y="5074920"/>
            <a:ext cx="9875520" cy="457200"/>
          </a:xfrm>
          <a:prstGeom prst="rect">
            <a:avLst/>
          </a:prstGeom>
          <a:solidFill>
            <a:srgbClr val="F3E7C5"/>
          </a:solidFill>
          <a:ln>
            <a:solidFill>
              <a:srgbClr val="D8C9BB"/>
            </a:solidFill>
          </a:ln>
        </p:spPr>
        <p:txBody>
          <a:bodyPr wrap="square" lIns="1270" tIns="1270" rIns="1270" bIns="1270" rtlCol="0" anchor="ctr">
            <a:normAutofit/>
          </a:bodyPr>
          <a:lstStyle/>
          <a:p>
            <a:pPr algn="ctr" indent="0" marL="0">
              <a:buNone/>
            </a:pPr>
            <a:r>
              <a:rPr lang="en-US" sz="1220" dirty="0">
                <a:solidFill>
                  <a:srgbClr val="2C25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Навигация строится по роли, но безопасность обеспечивается серверными проверками для каждого действия.</a:t>
            </a:r>
            <a:endParaRPr lang="en-US" sz="122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4EFE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237744"/>
          </a:xfrm>
          <a:prstGeom prst="rect">
            <a:avLst/>
          </a:prstGeom>
          <a:solidFill>
            <a:srgbClr val="3A2924"/>
          </a:solidFill>
          <a:ln w="12700">
            <a:solidFill>
              <a:srgbClr val="3A2924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56032" y="50292"/>
            <a:ext cx="292608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БСБД • Slop-Bakery</a:t>
            </a:r>
            <a:endParaRPr lang="en-US" sz="650" dirty="0"/>
          </a:p>
        </p:txBody>
      </p:sp>
      <p:sp>
        <p:nvSpPr>
          <p:cNvPr id="4" name="Text 2"/>
          <p:cNvSpPr/>
          <p:nvPr/>
        </p:nvSpPr>
        <p:spPr>
          <a:xfrm>
            <a:off x="9326880" y="50292"/>
            <a:ext cx="256032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630" dirty="0">
                <a:solidFill>
                  <a:srgbClr val="E9DDD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Сценарии</a:t>
            </a:r>
            <a:endParaRPr lang="en-US" sz="630" dirty="0"/>
          </a:p>
        </p:txBody>
      </p:sp>
      <p:sp>
        <p:nvSpPr>
          <p:cNvPr id="5" name="Text 3"/>
          <p:cNvSpPr/>
          <p:nvPr/>
        </p:nvSpPr>
        <p:spPr>
          <a:xfrm>
            <a:off x="11868912" y="6565392"/>
            <a:ext cx="164592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650" dirty="0">
                <a:solidFill>
                  <a:srgbClr val="6A5A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14</a:t>
            </a:r>
            <a:endParaRPr lang="en-US" sz="650" dirty="0"/>
          </a:p>
        </p:txBody>
      </p:sp>
      <p:sp>
        <p:nvSpPr>
          <p:cNvPr id="6" name="Text 4"/>
          <p:cNvSpPr/>
          <p:nvPr/>
        </p:nvSpPr>
        <p:spPr>
          <a:xfrm>
            <a:off x="384048" y="475488"/>
            <a:ext cx="98755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2C25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Пользовательские сценарии</a:t>
            </a:r>
            <a:endParaRPr lang="en-US" sz="2500" dirty="0"/>
          </a:p>
        </p:txBody>
      </p:sp>
      <p:sp>
        <p:nvSpPr>
          <p:cNvPr id="7" name="Text 5"/>
          <p:cNvSpPr/>
          <p:nvPr/>
        </p:nvSpPr>
        <p:spPr>
          <a:xfrm>
            <a:off x="393192" y="859536"/>
            <a:ext cx="9875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A5A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Ключевые действия ролей в Slop-Bakery</a:t>
            </a:r>
            <a:endParaRPr lang="en-US" sz="950" dirty="0"/>
          </a:p>
        </p:txBody>
      </p:sp>
      <p:sp>
        <p:nvSpPr>
          <p:cNvPr id="8" name="Text 6"/>
          <p:cNvSpPr/>
          <p:nvPr/>
        </p:nvSpPr>
        <p:spPr>
          <a:xfrm>
            <a:off x="384048" y="1124712"/>
            <a:ext cx="1051560" cy="219456"/>
          </a:xfrm>
          <a:prstGeom prst="rect">
            <a:avLst/>
          </a:prstGeom>
          <a:solidFill>
            <a:srgbClr val="5A3C31"/>
          </a:solidFill>
          <a:ln>
            <a:solidFill>
              <a:srgbClr val="5A3C31"/>
            </a:solidFill>
          </a:ln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82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Действия</a:t>
            </a:r>
            <a:endParaRPr lang="en-US" sz="820" dirty="0"/>
          </a:p>
        </p:txBody>
      </p:sp>
      <p:sp>
        <p:nvSpPr>
          <p:cNvPr id="9" name="Shape 7"/>
          <p:cNvSpPr/>
          <p:nvPr/>
        </p:nvSpPr>
        <p:spPr>
          <a:xfrm>
            <a:off x="502920" y="1554480"/>
            <a:ext cx="1920240" cy="2971800"/>
          </a:xfrm>
          <a:prstGeom prst="roundRect">
            <a:avLst>
              <a:gd name="adj" fmla="val 3810"/>
            </a:avLst>
          </a:prstGeom>
          <a:solidFill>
            <a:srgbClr val="EFE5DA"/>
          </a:solidFill>
          <a:ln w="12700">
            <a:solidFill>
              <a:srgbClr val="D8C9BB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30936" y="1645920"/>
            <a:ext cx="166420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5A3C3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client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630936" y="1938528"/>
            <a:ext cx="1664208" cy="25146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080" dirty="0">
                <a:solidFill>
                  <a:srgbClr val="2C25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создать draft-заказ</a:t>
            </a:r>
            <a:endParaRPr lang="en-US" sz="1080" dirty="0"/>
          </a:p>
          <a:p>
            <a:pPr indent="0" marL="0">
              <a:buNone/>
            </a:pPr>
            <a:r>
              <a:rPr lang="en-US" sz="1080" dirty="0">
                <a:solidFill>
                  <a:srgbClr val="2C25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добавить позиции</a:t>
            </a:r>
            <a:endParaRPr lang="en-US" sz="1080" dirty="0"/>
          </a:p>
          <a:p>
            <a:pPr indent="0" marL="0">
              <a:buNone/>
            </a:pPr>
            <a:r>
              <a:rPr lang="en-US" sz="1080" dirty="0">
                <a:solidFill>
                  <a:srgbClr val="2C25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оплатить свой счёт</a:t>
            </a:r>
            <a:endParaRPr lang="en-US" sz="1080" dirty="0"/>
          </a:p>
        </p:txBody>
      </p:sp>
      <p:sp>
        <p:nvSpPr>
          <p:cNvPr id="12" name="Shape 10"/>
          <p:cNvSpPr/>
          <p:nvPr/>
        </p:nvSpPr>
        <p:spPr>
          <a:xfrm>
            <a:off x="2816352" y="1554480"/>
            <a:ext cx="1920240" cy="2971800"/>
          </a:xfrm>
          <a:prstGeom prst="roundRect">
            <a:avLst>
              <a:gd name="adj" fmla="val 3810"/>
            </a:avLst>
          </a:prstGeom>
          <a:solidFill>
            <a:srgbClr val="FFFDF8"/>
          </a:solidFill>
          <a:ln w="12700">
            <a:solidFill>
              <a:srgbClr val="D8C9BB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2944368" y="1645920"/>
            <a:ext cx="166420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5A3C3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admin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2944368" y="1938528"/>
            <a:ext cx="1664208" cy="25146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080" dirty="0">
                <a:solidFill>
                  <a:srgbClr val="2C25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подтвердить заказ</a:t>
            </a:r>
            <a:endParaRPr lang="en-US" sz="1080" dirty="0"/>
          </a:p>
          <a:p>
            <a:pPr indent="0" marL="0">
              <a:buNone/>
            </a:pPr>
            <a:r>
              <a:rPr lang="en-US" sz="1080" dirty="0">
                <a:solidFill>
                  <a:srgbClr val="2C25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выставить счёт</a:t>
            </a:r>
            <a:endParaRPr lang="en-US" sz="1080" dirty="0"/>
          </a:p>
          <a:p>
            <a:pPr indent="0" marL="0">
              <a:buNone/>
            </a:pPr>
            <a:r>
              <a:rPr lang="en-US" sz="1080" dirty="0">
                <a:solidFill>
                  <a:srgbClr val="2C25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просмотреть аудит</a:t>
            </a:r>
            <a:endParaRPr lang="en-US" sz="1080" dirty="0"/>
          </a:p>
        </p:txBody>
      </p:sp>
      <p:sp>
        <p:nvSpPr>
          <p:cNvPr id="15" name="Shape 13"/>
          <p:cNvSpPr/>
          <p:nvPr/>
        </p:nvSpPr>
        <p:spPr>
          <a:xfrm>
            <a:off x="5129784" y="1554480"/>
            <a:ext cx="1920240" cy="2971800"/>
          </a:xfrm>
          <a:prstGeom prst="roundRect">
            <a:avLst>
              <a:gd name="adj" fmla="val 3810"/>
            </a:avLst>
          </a:prstGeom>
          <a:solidFill>
            <a:srgbClr val="EFE5DA"/>
          </a:solidFill>
          <a:ln w="12700">
            <a:solidFill>
              <a:srgbClr val="D8C9BB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257800" y="1645920"/>
            <a:ext cx="166420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5A3C3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technologist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5257800" y="1938528"/>
            <a:ext cx="1664208" cy="25146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080" dirty="0">
                <a:solidFill>
                  <a:srgbClr val="2C25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вести техкарты</a:t>
            </a:r>
            <a:endParaRPr lang="en-US" sz="1080" dirty="0"/>
          </a:p>
          <a:p>
            <a:pPr indent="0" marL="0">
              <a:buNone/>
            </a:pPr>
            <a:r>
              <a:rPr lang="en-US" sz="1080" dirty="0">
                <a:solidFill>
                  <a:srgbClr val="2C25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запустить выпуск</a:t>
            </a:r>
            <a:endParaRPr lang="en-US" sz="1080" dirty="0"/>
          </a:p>
          <a:p>
            <a:pPr indent="0" marL="0">
              <a:buNone/>
            </a:pPr>
            <a:r>
              <a:rPr lang="en-US" sz="1080" dirty="0">
                <a:solidFill>
                  <a:srgbClr val="2C25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завершить партию</a:t>
            </a:r>
            <a:endParaRPr lang="en-US" sz="1080" dirty="0"/>
          </a:p>
        </p:txBody>
      </p:sp>
      <p:sp>
        <p:nvSpPr>
          <p:cNvPr id="18" name="Shape 16"/>
          <p:cNvSpPr/>
          <p:nvPr/>
        </p:nvSpPr>
        <p:spPr>
          <a:xfrm>
            <a:off x="7443216" y="1554480"/>
            <a:ext cx="1920240" cy="2971800"/>
          </a:xfrm>
          <a:prstGeom prst="roundRect">
            <a:avLst>
              <a:gd name="adj" fmla="val 3810"/>
            </a:avLst>
          </a:prstGeom>
          <a:solidFill>
            <a:srgbClr val="FFFDF8"/>
          </a:solidFill>
          <a:ln w="12700">
            <a:solidFill>
              <a:srgbClr val="D8C9BB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7571232" y="1645920"/>
            <a:ext cx="166420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5A3C3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warehouse_worker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7571232" y="1938528"/>
            <a:ext cx="1664208" cy="25146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080" dirty="0">
                <a:solidFill>
                  <a:srgbClr val="2C25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принять поставку</a:t>
            </a:r>
            <a:endParaRPr lang="en-US" sz="1080" dirty="0"/>
          </a:p>
          <a:p>
            <a:pPr indent="0" marL="0">
              <a:buNone/>
            </a:pPr>
            <a:r>
              <a:rPr lang="en-US" sz="1080" dirty="0">
                <a:solidFill>
                  <a:srgbClr val="2C25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вести склад</a:t>
            </a:r>
            <a:endParaRPr lang="en-US" sz="1080" dirty="0"/>
          </a:p>
          <a:p>
            <a:pPr indent="0" marL="0">
              <a:buNone/>
            </a:pPr>
            <a:r>
              <a:rPr lang="en-US" sz="1080" dirty="0">
                <a:solidFill>
                  <a:srgbClr val="2C25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оформить отгрузку</a:t>
            </a:r>
            <a:endParaRPr lang="en-US" sz="1080" dirty="0"/>
          </a:p>
        </p:txBody>
      </p:sp>
      <p:sp>
        <p:nvSpPr>
          <p:cNvPr id="21" name="Shape 19"/>
          <p:cNvSpPr/>
          <p:nvPr/>
        </p:nvSpPr>
        <p:spPr>
          <a:xfrm>
            <a:off x="9756648" y="1554480"/>
            <a:ext cx="1920240" cy="2971800"/>
          </a:xfrm>
          <a:prstGeom prst="roundRect">
            <a:avLst>
              <a:gd name="adj" fmla="val 3810"/>
            </a:avLst>
          </a:prstGeom>
          <a:solidFill>
            <a:srgbClr val="EFE5DA"/>
          </a:solidFill>
          <a:ln w="12700">
            <a:solidFill>
              <a:srgbClr val="D8C9BB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9884664" y="1645920"/>
            <a:ext cx="166420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5A3C3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quality_control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9884664" y="1938528"/>
            <a:ext cx="1664208" cy="25146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080" dirty="0">
                <a:solidFill>
                  <a:srgbClr val="2C25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проверить сырьё</a:t>
            </a:r>
            <a:endParaRPr lang="en-US" sz="1080" dirty="0"/>
          </a:p>
          <a:p>
            <a:pPr indent="0" marL="0">
              <a:buNone/>
            </a:pPr>
            <a:r>
              <a:rPr lang="en-US" sz="1080" dirty="0">
                <a:solidFill>
                  <a:srgbClr val="2C25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проверить готовую продукцию</a:t>
            </a:r>
            <a:endParaRPr lang="en-US" sz="1080" dirty="0"/>
          </a:p>
          <a:p>
            <a:pPr indent="0" marL="0">
              <a:buNone/>
            </a:pPr>
            <a:r>
              <a:rPr lang="en-US" sz="1080" dirty="0">
                <a:solidFill>
                  <a:srgbClr val="2C25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сформировать отчёт</a:t>
            </a:r>
            <a:endParaRPr lang="en-US" sz="1080" dirty="0"/>
          </a:p>
        </p:txBody>
      </p:sp>
      <p:sp>
        <p:nvSpPr>
          <p:cNvPr id="24" name="Text 22"/>
          <p:cNvSpPr/>
          <p:nvPr/>
        </p:nvSpPr>
        <p:spPr>
          <a:xfrm>
            <a:off x="2103120" y="5120640"/>
            <a:ext cx="8001000" cy="411480"/>
          </a:xfrm>
          <a:prstGeom prst="rect">
            <a:avLst/>
          </a:prstGeom>
          <a:solidFill>
            <a:srgbClr val="FFFDF8"/>
          </a:solidFill>
          <a:ln>
            <a:solidFill>
              <a:srgbClr val="D8C9BB"/>
            </a:solidFill>
          </a:ln>
        </p:spPr>
        <p:txBody>
          <a:bodyPr wrap="square" lIns="1270" tIns="1270" rIns="1270" bIns="1270" rtlCol="0" anchor="ctr">
            <a:normAutofit/>
          </a:bodyPr>
          <a:lstStyle/>
          <a:p>
            <a:pPr algn="ctr" indent="0" marL="0">
              <a:buNone/>
            </a:pPr>
            <a:r>
              <a:rPr lang="en-US" sz="1200" dirty="0">
                <a:solidFill>
                  <a:srgbClr val="2C25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Сервер назначает чувствительные поля: customer_id, status_code, unit_price, paid_at.</a:t>
            </a:r>
            <a:endParaRPr lang="en-US" sz="12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4EFE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237744"/>
          </a:xfrm>
          <a:prstGeom prst="rect">
            <a:avLst/>
          </a:prstGeom>
          <a:solidFill>
            <a:srgbClr val="3A2924"/>
          </a:solidFill>
          <a:ln w="12700">
            <a:solidFill>
              <a:srgbClr val="3A2924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56032" y="50292"/>
            <a:ext cx="292608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БСБД • Slop-Bakery</a:t>
            </a:r>
            <a:endParaRPr lang="en-US" sz="650" dirty="0"/>
          </a:p>
        </p:txBody>
      </p:sp>
      <p:sp>
        <p:nvSpPr>
          <p:cNvPr id="4" name="Text 2"/>
          <p:cNvSpPr/>
          <p:nvPr/>
        </p:nvSpPr>
        <p:spPr>
          <a:xfrm>
            <a:off x="9326880" y="50292"/>
            <a:ext cx="256032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630" dirty="0">
                <a:solidFill>
                  <a:srgbClr val="E9DDD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Отчёты</a:t>
            </a:r>
            <a:endParaRPr lang="en-US" sz="630" dirty="0"/>
          </a:p>
        </p:txBody>
      </p:sp>
      <p:sp>
        <p:nvSpPr>
          <p:cNvPr id="5" name="Text 3"/>
          <p:cNvSpPr/>
          <p:nvPr/>
        </p:nvSpPr>
        <p:spPr>
          <a:xfrm>
            <a:off x="11868912" y="6565392"/>
            <a:ext cx="164592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650" dirty="0">
                <a:solidFill>
                  <a:srgbClr val="6A5A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</a:t>
            </a:r>
            <a:endParaRPr lang="en-US" sz="650" dirty="0"/>
          </a:p>
        </p:txBody>
      </p:sp>
      <p:sp>
        <p:nvSpPr>
          <p:cNvPr id="6" name="Text 4"/>
          <p:cNvSpPr/>
          <p:nvPr/>
        </p:nvSpPr>
        <p:spPr>
          <a:xfrm>
            <a:off x="384048" y="475488"/>
            <a:ext cx="98755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2C25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SQL-запросы и отчёты</a:t>
            </a:r>
            <a:endParaRPr lang="en-US" sz="2500" dirty="0"/>
          </a:p>
        </p:txBody>
      </p:sp>
      <p:sp>
        <p:nvSpPr>
          <p:cNvPr id="7" name="Text 5"/>
          <p:cNvSpPr/>
          <p:nvPr/>
        </p:nvSpPr>
        <p:spPr>
          <a:xfrm>
            <a:off x="393192" y="859536"/>
            <a:ext cx="9875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A5A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Реализованы операции ввода, выборки, группировки и отчётные формы</a:t>
            </a:r>
            <a:endParaRPr lang="en-US" sz="950" dirty="0"/>
          </a:p>
        </p:txBody>
      </p:sp>
      <p:sp>
        <p:nvSpPr>
          <p:cNvPr id="8" name="Text 6"/>
          <p:cNvSpPr/>
          <p:nvPr/>
        </p:nvSpPr>
        <p:spPr>
          <a:xfrm>
            <a:off x="384048" y="1124712"/>
            <a:ext cx="1051560" cy="219456"/>
          </a:xfrm>
          <a:prstGeom prst="rect">
            <a:avLst/>
          </a:prstGeom>
          <a:solidFill>
            <a:srgbClr val="5A3C31"/>
          </a:solidFill>
          <a:ln>
            <a:solidFill>
              <a:srgbClr val="5A3C31"/>
            </a:solidFill>
          </a:ln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82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SQL</a:t>
            </a:r>
            <a:endParaRPr lang="en-US" sz="820" dirty="0"/>
          </a:p>
        </p:txBody>
      </p:sp>
      <p:sp>
        <p:nvSpPr>
          <p:cNvPr id="9" name="Shape 7"/>
          <p:cNvSpPr/>
          <p:nvPr/>
        </p:nvSpPr>
        <p:spPr>
          <a:xfrm>
            <a:off x="868680" y="1554480"/>
            <a:ext cx="4800600" cy="3246120"/>
          </a:xfrm>
          <a:prstGeom prst="roundRect">
            <a:avLst>
              <a:gd name="adj" fmla="val 2254"/>
            </a:avLst>
          </a:prstGeom>
          <a:solidFill>
            <a:srgbClr val="FFFDF8"/>
          </a:solidFill>
          <a:ln w="12700">
            <a:solidFill>
              <a:srgbClr val="D8C9BB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996696" y="1645920"/>
            <a:ext cx="45445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50" b="1" dirty="0">
                <a:solidFill>
                  <a:srgbClr val="5A3C3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SQL-запросы</a:t>
            </a:r>
            <a:endParaRPr lang="en-US" sz="1350" dirty="0"/>
          </a:p>
        </p:txBody>
      </p:sp>
      <p:sp>
        <p:nvSpPr>
          <p:cNvPr id="11" name="Text 9"/>
          <p:cNvSpPr/>
          <p:nvPr/>
        </p:nvSpPr>
        <p:spPr>
          <a:xfrm>
            <a:off x="996696" y="1938528"/>
            <a:ext cx="4544568" cy="27889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2C25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ввод клиентов, сырья и связей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2C25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сортировки и DISTINCT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2C25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группировка и агрегаты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2C25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дата и строковые функции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2C25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комбинированные выборки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6400800" y="1554480"/>
            <a:ext cx="4800600" cy="3246120"/>
          </a:xfrm>
          <a:prstGeom prst="roundRect">
            <a:avLst>
              <a:gd name="adj" fmla="val 2254"/>
            </a:avLst>
          </a:prstGeom>
          <a:solidFill>
            <a:srgbClr val="EFE5DA"/>
          </a:solidFill>
          <a:ln w="12700">
            <a:solidFill>
              <a:srgbClr val="D8C9BB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528816" y="1645920"/>
            <a:ext cx="45445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50" b="1" dirty="0">
                <a:solidFill>
                  <a:srgbClr val="5A3C3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Отчёты по ролям</a:t>
            </a:r>
            <a:endParaRPr lang="en-US" sz="1350" dirty="0"/>
          </a:p>
        </p:txBody>
      </p:sp>
      <p:sp>
        <p:nvSpPr>
          <p:cNvPr id="14" name="Text 12"/>
          <p:cNvSpPr/>
          <p:nvPr/>
        </p:nvSpPr>
        <p:spPr>
          <a:xfrm>
            <a:off x="6528816" y="1938528"/>
            <a:ext cx="4544568" cy="27889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2C25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склад сырья и готовой продукции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2C25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заказы и продажи за период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2C25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производство и качество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2C25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отчёт по отгрузке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2C25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аудит действий</a:t>
            </a:r>
            <a:endParaRPr lang="en-US" sz="1250" dirty="0"/>
          </a:p>
        </p:txBody>
      </p:sp>
      <p:sp>
        <p:nvSpPr>
          <p:cNvPr id="15" name="Text 13"/>
          <p:cNvSpPr/>
          <p:nvPr/>
        </p:nvSpPr>
        <p:spPr>
          <a:xfrm>
            <a:off x="1554480" y="5358384"/>
            <a:ext cx="9098280" cy="393192"/>
          </a:xfrm>
          <a:prstGeom prst="rect">
            <a:avLst/>
          </a:prstGeom>
          <a:solidFill>
            <a:srgbClr val="F3E7C5"/>
          </a:solidFill>
          <a:ln>
            <a:solidFill>
              <a:srgbClr val="D8C9BB"/>
            </a:solidFill>
          </a:ln>
        </p:spPr>
        <p:txBody>
          <a:bodyPr wrap="square" lIns="1270" tIns="1270" rIns="1270" bIns="1270" rtlCol="0" anchor="ctr">
            <a:normAutofit/>
          </a:bodyPr>
          <a:lstStyle/>
          <a:p>
            <a:pPr algn="ctr" indent="0" marL="0">
              <a:buNone/>
            </a:pPr>
            <a:r>
              <a:rPr lang="en-US" sz="1200" dirty="0">
                <a:solidFill>
                  <a:srgbClr val="2C25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Доступ к отчётам фильтруется по роли: внутренние отчёты клиенту недоступны.</a:t>
            </a:r>
            <a:endParaRPr lang="en-US" sz="12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4EFE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237744"/>
          </a:xfrm>
          <a:prstGeom prst="rect">
            <a:avLst/>
          </a:prstGeom>
          <a:solidFill>
            <a:srgbClr val="3A2924"/>
          </a:solidFill>
          <a:ln w="12700">
            <a:solidFill>
              <a:srgbClr val="3A2924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56032" y="50292"/>
            <a:ext cx="292608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БСБД • Slop-Bakery</a:t>
            </a:r>
            <a:endParaRPr lang="en-US" sz="650" dirty="0"/>
          </a:p>
        </p:txBody>
      </p:sp>
      <p:sp>
        <p:nvSpPr>
          <p:cNvPr id="4" name="Text 2"/>
          <p:cNvSpPr/>
          <p:nvPr/>
        </p:nvSpPr>
        <p:spPr>
          <a:xfrm>
            <a:off x="9326880" y="50292"/>
            <a:ext cx="256032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630" dirty="0">
                <a:solidFill>
                  <a:srgbClr val="E9DDD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Тесты</a:t>
            </a:r>
            <a:endParaRPr lang="en-US" sz="630" dirty="0"/>
          </a:p>
        </p:txBody>
      </p:sp>
      <p:sp>
        <p:nvSpPr>
          <p:cNvPr id="5" name="Text 3"/>
          <p:cNvSpPr/>
          <p:nvPr/>
        </p:nvSpPr>
        <p:spPr>
          <a:xfrm>
            <a:off x="11868912" y="6565392"/>
            <a:ext cx="164592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650" dirty="0">
                <a:solidFill>
                  <a:srgbClr val="6A5A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16</a:t>
            </a:r>
            <a:endParaRPr lang="en-US" sz="650" dirty="0"/>
          </a:p>
        </p:txBody>
      </p:sp>
      <p:sp>
        <p:nvSpPr>
          <p:cNvPr id="6" name="Text 4"/>
          <p:cNvSpPr/>
          <p:nvPr/>
        </p:nvSpPr>
        <p:spPr>
          <a:xfrm>
            <a:off x="384048" y="475488"/>
            <a:ext cx="98755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2C25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Исследование защищённости</a:t>
            </a:r>
            <a:endParaRPr lang="en-US" sz="2500" dirty="0"/>
          </a:p>
        </p:txBody>
      </p:sp>
      <p:sp>
        <p:nvSpPr>
          <p:cNvPr id="7" name="Text 5"/>
          <p:cNvSpPr/>
          <p:nvPr/>
        </p:nvSpPr>
        <p:spPr>
          <a:xfrm>
            <a:off x="393192" y="859536"/>
            <a:ext cx="9875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A5A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Негативные сценарии подтверждают работу ограничений</a:t>
            </a:r>
            <a:endParaRPr lang="en-US" sz="950" dirty="0"/>
          </a:p>
        </p:txBody>
      </p:sp>
      <p:sp>
        <p:nvSpPr>
          <p:cNvPr id="8" name="Text 6"/>
          <p:cNvSpPr/>
          <p:nvPr/>
        </p:nvSpPr>
        <p:spPr>
          <a:xfrm>
            <a:off x="384048" y="1124712"/>
            <a:ext cx="1051560" cy="219456"/>
          </a:xfrm>
          <a:prstGeom prst="rect">
            <a:avLst/>
          </a:prstGeom>
          <a:solidFill>
            <a:srgbClr val="5A3C31"/>
          </a:solidFill>
          <a:ln>
            <a:solidFill>
              <a:srgbClr val="5A3C31"/>
            </a:solidFill>
          </a:ln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82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Проверки</a:t>
            </a:r>
            <a:endParaRPr lang="en-US" sz="820" dirty="0"/>
          </a:p>
        </p:txBody>
      </p:sp>
      <p:sp>
        <p:nvSpPr>
          <p:cNvPr id="9" name="Text 7"/>
          <p:cNvSpPr/>
          <p:nvPr/>
        </p:nvSpPr>
        <p:spPr>
          <a:xfrm>
            <a:off x="658368" y="1517904"/>
            <a:ext cx="2286000" cy="749808"/>
          </a:xfrm>
          <a:prstGeom prst="rect">
            <a:avLst/>
          </a:prstGeom>
          <a:solidFill>
            <a:srgbClr val="FFFDF8"/>
          </a:solidFill>
          <a:ln>
            <a:solidFill>
              <a:srgbClr val="D8C9BB"/>
            </a:solidFill>
          </a:ln>
        </p:spPr>
        <p:txBody>
          <a:bodyPr wrap="square" lIns="1270" tIns="1270" rIns="1270" bIns="1270" rtlCol="0" anchor="ctr">
            <a:normAutofit/>
          </a:bodyPr>
          <a:lstStyle/>
          <a:p>
            <a:pPr algn="ctr" indent="0" marL="0">
              <a:buNone/>
            </a:pPr>
            <a:r>
              <a:rPr lang="en-US" sz="1080" dirty="0">
                <a:solidFill>
                  <a:srgbClr val="2C25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client → /audit</a:t>
            </a:r>
            <a:endParaRPr lang="en-US" sz="1080" dirty="0"/>
          </a:p>
          <a:p>
            <a:pPr algn="ctr" indent="0" marL="0">
              <a:buNone/>
            </a:pPr>
            <a:r>
              <a:rPr lang="en-US" sz="1080" dirty="0">
                <a:solidFill>
                  <a:srgbClr val="2C25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403</a:t>
            </a:r>
            <a:endParaRPr lang="en-US" sz="1080" dirty="0"/>
          </a:p>
        </p:txBody>
      </p:sp>
      <p:sp>
        <p:nvSpPr>
          <p:cNvPr id="10" name="Text 8"/>
          <p:cNvSpPr/>
          <p:nvPr/>
        </p:nvSpPr>
        <p:spPr>
          <a:xfrm>
            <a:off x="3511296" y="1517904"/>
            <a:ext cx="2286000" cy="749808"/>
          </a:xfrm>
          <a:prstGeom prst="rect">
            <a:avLst/>
          </a:prstGeom>
          <a:solidFill>
            <a:srgbClr val="EFE5DA"/>
          </a:solidFill>
          <a:ln>
            <a:solidFill>
              <a:srgbClr val="D8C9BB"/>
            </a:solidFill>
          </a:ln>
        </p:spPr>
        <p:txBody>
          <a:bodyPr wrap="square" lIns="1270" tIns="1270" rIns="1270" bIns="1270" rtlCol="0" anchor="ctr">
            <a:normAutofit/>
          </a:bodyPr>
          <a:lstStyle/>
          <a:p>
            <a:pPr algn="ctr" indent="0" marL="0">
              <a:buNone/>
            </a:pPr>
            <a:r>
              <a:rPr lang="en-US" sz="1080" dirty="0">
                <a:solidFill>
                  <a:srgbClr val="2C25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unit_price в POST</a:t>
            </a:r>
            <a:endParaRPr lang="en-US" sz="1080" dirty="0"/>
          </a:p>
          <a:p>
            <a:pPr algn="ctr" indent="0" marL="0">
              <a:buNone/>
            </a:pPr>
            <a:r>
              <a:rPr lang="en-US" sz="1080" dirty="0">
                <a:solidFill>
                  <a:srgbClr val="2C25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игнорируется</a:t>
            </a:r>
            <a:endParaRPr lang="en-US" sz="1080" dirty="0"/>
          </a:p>
        </p:txBody>
      </p:sp>
      <p:sp>
        <p:nvSpPr>
          <p:cNvPr id="11" name="Text 9"/>
          <p:cNvSpPr/>
          <p:nvPr/>
        </p:nvSpPr>
        <p:spPr>
          <a:xfrm>
            <a:off x="6364224" y="1517904"/>
            <a:ext cx="2286000" cy="749808"/>
          </a:xfrm>
          <a:prstGeom prst="rect">
            <a:avLst/>
          </a:prstGeom>
          <a:solidFill>
            <a:srgbClr val="FFFDF8"/>
          </a:solidFill>
          <a:ln>
            <a:solidFill>
              <a:srgbClr val="D8C9BB"/>
            </a:solidFill>
          </a:ln>
        </p:spPr>
        <p:txBody>
          <a:bodyPr wrap="square" lIns="1270" tIns="1270" rIns="1270" bIns="1270" rtlCol="0" anchor="ctr">
            <a:normAutofit/>
          </a:bodyPr>
          <a:lstStyle/>
          <a:p>
            <a:pPr algn="ctr" indent="0" marL="0">
              <a:buNone/>
            </a:pPr>
            <a:r>
              <a:rPr lang="en-US" sz="1080" dirty="0">
                <a:solidFill>
                  <a:srgbClr val="2C25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status_code от client</a:t>
            </a:r>
            <a:endParaRPr lang="en-US" sz="1080" dirty="0"/>
          </a:p>
          <a:p>
            <a:pPr algn="ctr" indent="0" marL="0">
              <a:buNone/>
            </a:pPr>
            <a:r>
              <a:rPr lang="en-US" sz="1080" dirty="0">
                <a:solidFill>
                  <a:srgbClr val="2C25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draft</a:t>
            </a:r>
            <a:endParaRPr lang="en-US" sz="1080" dirty="0"/>
          </a:p>
        </p:txBody>
      </p:sp>
      <p:sp>
        <p:nvSpPr>
          <p:cNvPr id="12" name="Text 10"/>
          <p:cNvSpPr/>
          <p:nvPr/>
        </p:nvSpPr>
        <p:spPr>
          <a:xfrm>
            <a:off x="9217152" y="1517904"/>
            <a:ext cx="2286000" cy="749808"/>
          </a:xfrm>
          <a:prstGeom prst="rect">
            <a:avLst/>
          </a:prstGeom>
          <a:solidFill>
            <a:srgbClr val="EFE5DA"/>
          </a:solidFill>
          <a:ln>
            <a:solidFill>
              <a:srgbClr val="D8C9BB"/>
            </a:solidFill>
          </a:ln>
        </p:spPr>
        <p:txBody>
          <a:bodyPr wrap="square" lIns="1270" tIns="1270" rIns="1270" bIns="1270" rtlCol="0" anchor="ctr">
            <a:normAutofit/>
          </a:bodyPr>
          <a:lstStyle/>
          <a:p>
            <a:pPr algn="ctr" indent="0" marL="0">
              <a:buNone/>
            </a:pPr>
            <a:r>
              <a:rPr lang="en-US" sz="1080" dirty="0">
                <a:solidFill>
                  <a:srgbClr val="2C25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отгрузка без оплаты</a:t>
            </a:r>
            <a:endParaRPr lang="en-US" sz="1080" dirty="0"/>
          </a:p>
          <a:p>
            <a:pPr algn="ctr" indent="0" marL="0">
              <a:buNone/>
            </a:pPr>
            <a:r>
              <a:rPr lang="en-US" sz="1080" dirty="0">
                <a:solidFill>
                  <a:srgbClr val="2C25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запрещена</a:t>
            </a:r>
            <a:endParaRPr lang="en-US" sz="1080" dirty="0"/>
          </a:p>
        </p:txBody>
      </p:sp>
      <p:sp>
        <p:nvSpPr>
          <p:cNvPr id="13" name="Text 11"/>
          <p:cNvSpPr/>
          <p:nvPr/>
        </p:nvSpPr>
        <p:spPr>
          <a:xfrm>
            <a:off x="658368" y="2743200"/>
            <a:ext cx="2286000" cy="749808"/>
          </a:xfrm>
          <a:prstGeom prst="rect">
            <a:avLst/>
          </a:prstGeom>
          <a:solidFill>
            <a:srgbClr val="FFFDF8"/>
          </a:solidFill>
          <a:ln>
            <a:solidFill>
              <a:srgbClr val="D8C9BB"/>
            </a:solidFill>
          </a:ln>
        </p:spPr>
        <p:txBody>
          <a:bodyPr wrap="square" lIns="1270" tIns="1270" rIns="1270" bIns="1270" rtlCol="0" anchor="ctr">
            <a:normAutofit/>
          </a:bodyPr>
          <a:lstStyle/>
          <a:p>
            <a:pPr algn="ctr" indent="0" marL="0">
              <a:buNone/>
            </a:pPr>
            <a:r>
              <a:rPr lang="en-US" sz="1080" dirty="0">
                <a:solidFill>
                  <a:srgbClr val="2C25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сырьё без QC</a:t>
            </a:r>
            <a:endParaRPr lang="en-US" sz="1080" dirty="0"/>
          </a:p>
          <a:p>
            <a:pPr algn="ctr" indent="0" marL="0">
              <a:buNone/>
            </a:pPr>
            <a:r>
              <a:rPr lang="en-US" sz="1080" dirty="0">
                <a:solidFill>
                  <a:srgbClr val="2C25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запрещено</a:t>
            </a:r>
            <a:endParaRPr lang="en-US" sz="1080" dirty="0"/>
          </a:p>
        </p:txBody>
      </p:sp>
      <p:sp>
        <p:nvSpPr>
          <p:cNvPr id="14" name="Text 12"/>
          <p:cNvSpPr/>
          <p:nvPr/>
        </p:nvSpPr>
        <p:spPr>
          <a:xfrm>
            <a:off x="3511296" y="2743200"/>
            <a:ext cx="2286000" cy="749808"/>
          </a:xfrm>
          <a:prstGeom prst="rect">
            <a:avLst/>
          </a:prstGeom>
          <a:solidFill>
            <a:srgbClr val="EFE5DA"/>
          </a:solidFill>
          <a:ln>
            <a:solidFill>
              <a:srgbClr val="D8C9BB"/>
            </a:solidFill>
          </a:ln>
        </p:spPr>
        <p:txBody>
          <a:bodyPr wrap="square" lIns="1270" tIns="1270" rIns="1270" bIns="1270" rtlCol="0" anchor="ctr">
            <a:normAutofit/>
          </a:bodyPr>
          <a:lstStyle/>
          <a:p>
            <a:pPr algn="ctr" indent="0" marL="0">
              <a:buNone/>
            </a:pPr>
            <a:r>
              <a:rPr lang="en-US" sz="1080" dirty="0">
                <a:solidFill>
                  <a:srgbClr val="2C25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нет supplier_materials</a:t>
            </a:r>
            <a:endParaRPr lang="en-US" sz="1080" dirty="0"/>
          </a:p>
          <a:p>
            <a:pPr algn="ctr" indent="0" marL="0">
              <a:buNone/>
            </a:pPr>
            <a:r>
              <a:rPr lang="en-US" sz="1080" dirty="0">
                <a:solidFill>
                  <a:srgbClr val="2C25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ошибка формы</a:t>
            </a:r>
            <a:endParaRPr lang="en-US" sz="1080" dirty="0"/>
          </a:p>
        </p:txBody>
      </p:sp>
      <p:sp>
        <p:nvSpPr>
          <p:cNvPr id="15" name="Text 13"/>
          <p:cNvSpPr/>
          <p:nvPr/>
        </p:nvSpPr>
        <p:spPr>
          <a:xfrm>
            <a:off x="6364224" y="2743200"/>
            <a:ext cx="2286000" cy="749808"/>
          </a:xfrm>
          <a:prstGeom prst="rect">
            <a:avLst/>
          </a:prstGeom>
          <a:solidFill>
            <a:srgbClr val="FFFDF8"/>
          </a:solidFill>
          <a:ln>
            <a:solidFill>
              <a:srgbClr val="D8C9BB"/>
            </a:solidFill>
          </a:ln>
        </p:spPr>
        <p:txBody>
          <a:bodyPr wrap="square" lIns="1270" tIns="1270" rIns="1270" bIns="1270" rtlCol="0" anchor="ctr">
            <a:normAutofit/>
          </a:bodyPr>
          <a:lstStyle/>
          <a:p>
            <a:pPr algn="ctr" indent="0" marL="0">
              <a:buNone/>
            </a:pPr>
            <a:r>
              <a:rPr lang="en-US" sz="1080" dirty="0">
                <a:solidFill>
                  <a:srgbClr val="2C25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дубль invoice</a:t>
            </a:r>
            <a:endParaRPr lang="en-US" sz="1080" dirty="0"/>
          </a:p>
          <a:p>
            <a:pPr algn="ctr" indent="0" marL="0">
              <a:buNone/>
            </a:pPr>
            <a:r>
              <a:rPr lang="en-US" sz="1080" dirty="0">
                <a:solidFill>
                  <a:srgbClr val="2C25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блокируется</a:t>
            </a:r>
            <a:endParaRPr lang="en-US" sz="1080" dirty="0"/>
          </a:p>
        </p:txBody>
      </p:sp>
      <p:sp>
        <p:nvSpPr>
          <p:cNvPr id="16" name="Text 14"/>
          <p:cNvSpPr/>
          <p:nvPr/>
        </p:nvSpPr>
        <p:spPr>
          <a:xfrm>
            <a:off x="9217152" y="2743200"/>
            <a:ext cx="2286000" cy="749808"/>
          </a:xfrm>
          <a:prstGeom prst="rect">
            <a:avLst/>
          </a:prstGeom>
          <a:solidFill>
            <a:srgbClr val="EFE5DA"/>
          </a:solidFill>
          <a:ln>
            <a:solidFill>
              <a:srgbClr val="D8C9BB"/>
            </a:solidFill>
          </a:ln>
        </p:spPr>
        <p:txBody>
          <a:bodyPr wrap="square" lIns="1270" tIns="1270" rIns="1270" bIns="1270" rtlCol="0" anchor="ctr">
            <a:normAutofit/>
          </a:bodyPr>
          <a:lstStyle/>
          <a:p>
            <a:pPr algn="ctr" indent="0" marL="0">
              <a:buNone/>
            </a:pPr>
            <a:r>
              <a:rPr lang="en-US" sz="1080" dirty="0">
                <a:solidFill>
                  <a:srgbClr val="2C25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нет остатка</a:t>
            </a:r>
            <a:endParaRPr lang="en-US" sz="1080" dirty="0"/>
          </a:p>
          <a:p>
            <a:pPr algn="ctr" indent="0" marL="0">
              <a:buNone/>
            </a:pPr>
            <a:r>
              <a:rPr lang="en-US" sz="1080" dirty="0">
                <a:solidFill>
                  <a:srgbClr val="2C25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запрещено</a:t>
            </a:r>
            <a:endParaRPr lang="en-US" sz="1080" dirty="0"/>
          </a:p>
        </p:txBody>
      </p:sp>
      <p:sp>
        <p:nvSpPr>
          <p:cNvPr id="17" name="Text 15"/>
          <p:cNvSpPr/>
          <p:nvPr/>
        </p:nvSpPr>
        <p:spPr>
          <a:xfrm>
            <a:off x="1234440" y="5010912"/>
            <a:ext cx="9738360" cy="457200"/>
          </a:xfrm>
          <a:prstGeom prst="rect">
            <a:avLst/>
          </a:prstGeom>
          <a:solidFill>
            <a:srgbClr val="FFFDF8"/>
          </a:solidFill>
          <a:ln>
            <a:solidFill>
              <a:srgbClr val="D8C9BB"/>
            </a:solidFill>
          </a:ln>
        </p:spPr>
        <p:txBody>
          <a:bodyPr wrap="square" lIns="1270" tIns="1270" rIns="1270" bIns="1270" rtlCol="0" anchor="ctr">
            <a:normAutofit/>
          </a:bodyPr>
          <a:lstStyle/>
          <a:p>
            <a:pPr algn="ctr" indent="0" marL="0">
              <a:buNone/>
            </a:pPr>
            <a:r>
              <a:rPr lang="en-US" sz="1200" dirty="0">
                <a:solidFill>
                  <a:srgbClr val="2C25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Проверки охватывают доступ, подмену параметров, жизненные циклы документов и складские остатки.</a:t>
            </a:r>
            <a:endParaRPr lang="en-US" sz="12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4EFE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237744"/>
          </a:xfrm>
          <a:prstGeom prst="rect">
            <a:avLst/>
          </a:prstGeom>
          <a:solidFill>
            <a:srgbClr val="3A2924"/>
          </a:solidFill>
          <a:ln w="12700">
            <a:solidFill>
              <a:srgbClr val="3A2924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56032" y="50292"/>
            <a:ext cx="292608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БСБД • Slop-Bakery</a:t>
            </a:r>
            <a:endParaRPr lang="en-US" sz="650" dirty="0"/>
          </a:p>
        </p:txBody>
      </p:sp>
      <p:sp>
        <p:nvSpPr>
          <p:cNvPr id="4" name="Text 2"/>
          <p:cNvSpPr/>
          <p:nvPr/>
        </p:nvSpPr>
        <p:spPr>
          <a:xfrm>
            <a:off x="9326880" y="50292"/>
            <a:ext cx="256032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630" dirty="0">
                <a:solidFill>
                  <a:srgbClr val="E9DDD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Апробация</a:t>
            </a:r>
            <a:endParaRPr lang="en-US" sz="630" dirty="0"/>
          </a:p>
        </p:txBody>
      </p:sp>
      <p:sp>
        <p:nvSpPr>
          <p:cNvPr id="5" name="Text 3"/>
          <p:cNvSpPr/>
          <p:nvPr/>
        </p:nvSpPr>
        <p:spPr>
          <a:xfrm>
            <a:off x="11868912" y="6565392"/>
            <a:ext cx="164592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650" dirty="0">
                <a:solidFill>
                  <a:srgbClr val="6A5A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17</a:t>
            </a:r>
            <a:endParaRPr lang="en-US" sz="650" dirty="0"/>
          </a:p>
        </p:txBody>
      </p:sp>
      <p:sp>
        <p:nvSpPr>
          <p:cNvPr id="6" name="Text 4"/>
          <p:cNvSpPr/>
          <p:nvPr/>
        </p:nvSpPr>
        <p:spPr>
          <a:xfrm>
            <a:off x="384048" y="475488"/>
            <a:ext cx="98755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2C25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Апробация работы системы</a:t>
            </a:r>
            <a:endParaRPr lang="en-US" sz="2500" dirty="0"/>
          </a:p>
        </p:txBody>
      </p:sp>
      <p:sp>
        <p:nvSpPr>
          <p:cNvPr id="7" name="Text 5"/>
          <p:cNvSpPr/>
          <p:nvPr/>
        </p:nvSpPr>
        <p:spPr>
          <a:xfrm>
            <a:off x="393192" y="859536"/>
            <a:ext cx="9875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A5A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Позитивные и негативные сценарии проверены по ролям</a:t>
            </a:r>
            <a:endParaRPr lang="en-US" sz="950" dirty="0"/>
          </a:p>
        </p:txBody>
      </p:sp>
      <p:sp>
        <p:nvSpPr>
          <p:cNvPr id="8" name="Text 6"/>
          <p:cNvSpPr/>
          <p:nvPr/>
        </p:nvSpPr>
        <p:spPr>
          <a:xfrm>
            <a:off x="384048" y="1124712"/>
            <a:ext cx="1051560" cy="219456"/>
          </a:xfrm>
          <a:prstGeom prst="rect">
            <a:avLst/>
          </a:prstGeom>
          <a:solidFill>
            <a:srgbClr val="5A3C31"/>
          </a:solidFill>
          <a:ln>
            <a:solidFill>
              <a:srgbClr val="5A3C31"/>
            </a:solidFill>
          </a:ln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82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Апробация</a:t>
            </a:r>
            <a:endParaRPr lang="en-US" sz="820" dirty="0"/>
          </a:p>
        </p:txBody>
      </p:sp>
      <p:sp>
        <p:nvSpPr>
          <p:cNvPr id="9" name="Shape 7"/>
          <p:cNvSpPr/>
          <p:nvPr/>
        </p:nvSpPr>
        <p:spPr>
          <a:xfrm>
            <a:off x="713232" y="1444752"/>
            <a:ext cx="4937760" cy="777240"/>
          </a:xfrm>
          <a:prstGeom prst="roundRect">
            <a:avLst>
              <a:gd name="adj" fmla="val 9412"/>
            </a:avLst>
          </a:prstGeom>
          <a:solidFill>
            <a:srgbClr val="FFFDF8"/>
          </a:solidFill>
          <a:ln w="12700">
            <a:solidFill>
              <a:srgbClr val="D8C9BB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41248" y="1536192"/>
            <a:ext cx="468172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60" b="1" dirty="0">
                <a:solidFill>
                  <a:srgbClr val="5A3C3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client</a:t>
            </a:r>
            <a:endParaRPr lang="en-US" sz="1160" dirty="0"/>
          </a:p>
        </p:txBody>
      </p:sp>
      <p:sp>
        <p:nvSpPr>
          <p:cNvPr id="11" name="Text 9"/>
          <p:cNvSpPr/>
          <p:nvPr/>
        </p:nvSpPr>
        <p:spPr>
          <a:xfrm>
            <a:off x="841248" y="1828800"/>
            <a:ext cx="4681728" cy="3200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080" dirty="0">
                <a:solidFill>
                  <a:srgbClr val="2C25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заказ создан; цена не подменяется; свой счёт оплачивается</a:t>
            </a:r>
            <a:endParaRPr lang="en-US" sz="1080" dirty="0"/>
          </a:p>
        </p:txBody>
      </p:sp>
      <p:sp>
        <p:nvSpPr>
          <p:cNvPr id="12" name="Shape 10"/>
          <p:cNvSpPr/>
          <p:nvPr/>
        </p:nvSpPr>
        <p:spPr>
          <a:xfrm>
            <a:off x="6245352" y="1444752"/>
            <a:ext cx="4937760" cy="777240"/>
          </a:xfrm>
          <a:prstGeom prst="roundRect">
            <a:avLst>
              <a:gd name="adj" fmla="val 9412"/>
            </a:avLst>
          </a:prstGeom>
          <a:solidFill>
            <a:srgbClr val="EFE5DA"/>
          </a:solidFill>
          <a:ln w="12700">
            <a:solidFill>
              <a:srgbClr val="D8C9BB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373368" y="1536192"/>
            <a:ext cx="468172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60" b="1" dirty="0">
                <a:solidFill>
                  <a:srgbClr val="5A3C3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admin</a:t>
            </a:r>
            <a:endParaRPr lang="en-US" sz="1160" dirty="0"/>
          </a:p>
        </p:txBody>
      </p:sp>
      <p:sp>
        <p:nvSpPr>
          <p:cNvPr id="14" name="Text 12"/>
          <p:cNvSpPr/>
          <p:nvPr/>
        </p:nvSpPr>
        <p:spPr>
          <a:xfrm>
            <a:off x="6373368" y="1828800"/>
            <a:ext cx="4681728" cy="3200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080" dirty="0">
                <a:solidFill>
                  <a:srgbClr val="2C25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заказ подтверждается; неоплаченный заказ не отгружается; второй invoice запрещён</a:t>
            </a:r>
            <a:endParaRPr lang="en-US" sz="1080" dirty="0"/>
          </a:p>
        </p:txBody>
      </p:sp>
      <p:sp>
        <p:nvSpPr>
          <p:cNvPr id="15" name="Shape 13"/>
          <p:cNvSpPr/>
          <p:nvPr/>
        </p:nvSpPr>
        <p:spPr>
          <a:xfrm>
            <a:off x="713232" y="2560320"/>
            <a:ext cx="4937760" cy="777240"/>
          </a:xfrm>
          <a:prstGeom prst="roundRect">
            <a:avLst>
              <a:gd name="adj" fmla="val 9412"/>
            </a:avLst>
          </a:prstGeom>
          <a:solidFill>
            <a:srgbClr val="FFFDF8"/>
          </a:solidFill>
          <a:ln w="12700">
            <a:solidFill>
              <a:srgbClr val="D8C9BB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841248" y="2651760"/>
            <a:ext cx="468172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60" b="1" dirty="0">
                <a:solidFill>
                  <a:srgbClr val="5A3C3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warehouse_worker</a:t>
            </a:r>
            <a:endParaRPr lang="en-US" sz="1160" dirty="0"/>
          </a:p>
        </p:txBody>
      </p:sp>
      <p:sp>
        <p:nvSpPr>
          <p:cNvPr id="17" name="Text 15"/>
          <p:cNvSpPr/>
          <p:nvPr/>
        </p:nvSpPr>
        <p:spPr>
          <a:xfrm>
            <a:off x="841248" y="2944368"/>
            <a:ext cx="4681728" cy="3200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080" dirty="0">
                <a:solidFill>
                  <a:srgbClr val="2C25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поставка и supplier_materials проводятся; shipment создаётся по ready + paid order</a:t>
            </a:r>
            <a:endParaRPr lang="en-US" sz="1080" dirty="0"/>
          </a:p>
        </p:txBody>
      </p:sp>
      <p:sp>
        <p:nvSpPr>
          <p:cNvPr id="18" name="Shape 16"/>
          <p:cNvSpPr/>
          <p:nvPr/>
        </p:nvSpPr>
        <p:spPr>
          <a:xfrm>
            <a:off x="6245352" y="2560320"/>
            <a:ext cx="4937760" cy="777240"/>
          </a:xfrm>
          <a:prstGeom prst="roundRect">
            <a:avLst>
              <a:gd name="adj" fmla="val 9412"/>
            </a:avLst>
          </a:prstGeom>
          <a:solidFill>
            <a:srgbClr val="EFE5DA"/>
          </a:solidFill>
          <a:ln w="12700">
            <a:solidFill>
              <a:srgbClr val="D8C9BB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373368" y="2651760"/>
            <a:ext cx="468172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60" b="1" dirty="0">
                <a:solidFill>
                  <a:srgbClr val="5A3C3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technologist</a:t>
            </a:r>
            <a:endParaRPr lang="en-US" sz="1160" dirty="0"/>
          </a:p>
        </p:txBody>
      </p:sp>
      <p:sp>
        <p:nvSpPr>
          <p:cNvPr id="20" name="Text 18"/>
          <p:cNvSpPr/>
          <p:nvPr/>
        </p:nvSpPr>
        <p:spPr>
          <a:xfrm>
            <a:off x="6373368" y="2944368"/>
            <a:ext cx="4681728" cy="3200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080" dirty="0">
                <a:solidFill>
                  <a:srgbClr val="2C25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производство без сырья не запускается</a:t>
            </a:r>
            <a:endParaRPr lang="en-US" sz="1080" dirty="0"/>
          </a:p>
        </p:txBody>
      </p:sp>
      <p:sp>
        <p:nvSpPr>
          <p:cNvPr id="21" name="Shape 19"/>
          <p:cNvSpPr/>
          <p:nvPr/>
        </p:nvSpPr>
        <p:spPr>
          <a:xfrm>
            <a:off x="713232" y="3675888"/>
            <a:ext cx="4937760" cy="777240"/>
          </a:xfrm>
          <a:prstGeom prst="roundRect">
            <a:avLst>
              <a:gd name="adj" fmla="val 9412"/>
            </a:avLst>
          </a:prstGeom>
          <a:solidFill>
            <a:srgbClr val="FFFDF8"/>
          </a:solidFill>
          <a:ln w="12700">
            <a:solidFill>
              <a:srgbClr val="D8C9BB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841248" y="3767328"/>
            <a:ext cx="468172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60" b="1" dirty="0">
                <a:solidFill>
                  <a:srgbClr val="5A3C3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quality_control</a:t>
            </a:r>
            <a:endParaRPr lang="en-US" sz="1160" dirty="0"/>
          </a:p>
        </p:txBody>
      </p:sp>
      <p:sp>
        <p:nvSpPr>
          <p:cNvPr id="23" name="Text 21"/>
          <p:cNvSpPr/>
          <p:nvPr/>
        </p:nvSpPr>
        <p:spPr>
          <a:xfrm>
            <a:off x="841248" y="4059936"/>
            <a:ext cx="4681728" cy="3200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080" dirty="0">
                <a:solidFill>
                  <a:srgbClr val="2C25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quality_check создаётся только для допустимого объекта</a:t>
            </a:r>
            <a:endParaRPr lang="en-US" sz="1080" dirty="0"/>
          </a:p>
        </p:txBody>
      </p:sp>
      <p:sp>
        <p:nvSpPr>
          <p:cNvPr id="24" name="Text 22"/>
          <p:cNvSpPr/>
          <p:nvPr/>
        </p:nvSpPr>
        <p:spPr>
          <a:xfrm>
            <a:off x="4343400" y="5010912"/>
            <a:ext cx="2788920" cy="219456"/>
          </a:xfrm>
          <a:prstGeom prst="rect">
            <a:avLst/>
          </a:prstGeom>
          <a:solidFill>
            <a:srgbClr val="8B5A42"/>
          </a:solidFill>
          <a:ln>
            <a:solidFill>
              <a:srgbClr val="8B5A42"/>
            </a:solidFill>
          </a:ln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82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все сценарии: пройдено</a:t>
            </a:r>
            <a:endParaRPr lang="en-US" sz="82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4EFE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237744"/>
          </a:xfrm>
          <a:prstGeom prst="rect">
            <a:avLst/>
          </a:prstGeom>
          <a:solidFill>
            <a:srgbClr val="3A2924"/>
          </a:solidFill>
          <a:ln w="12700">
            <a:solidFill>
              <a:srgbClr val="3A2924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56032" y="50292"/>
            <a:ext cx="292608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БСБД • Slop-Bakery</a:t>
            </a:r>
            <a:endParaRPr lang="en-US" sz="650" dirty="0"/>
          </a:p>
        </p:txBody>
      </p:sp>
      <p:sp>
        <p:nvSpPr>
          <p:cNvPr id="4" name="Text 2"/>
          <p:cNvSpPr/>
          <p:nvPr/>
        </p:nvSpPr>
        <p:spPr>
          <a:xfrm>
            <a:off x="9326880" y="50292"/>
            <a:ext cx="256032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630" dirty="0">
                <a:solidFill>
                  <a:srgbClr val="E9DDD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Сценарий</a:t>
            </a:r>
            <a:endParaRPr lang="en-US" sz="630" dirty="0"/>
          </a:p>
        </p:txBody>
      </p:sp>
      <p:sp>
        <p:nvSpPr>
          <p:cNvPr id="5" name="Text 3"/>
          <p:cNvSpPr/>
          <p:nvPr/>
        </p:nvSpPr>
        <p:spPr>
          <a:xfrm>
            <a:off x="11868912" y="6565392"/>
            <a:ext cx="164592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650" dirty="0">
                <a:solidFill>
                  <a:srgbClr val="6A5A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18</a:t>
            </a:r>
            <a:endParaRPr lang="en-US" sz="650" dirty="0"/>
          </a:p>
        </p:txBody>
      </p:sp>
      <p:sp>
        <p:nvSpPr>
          <p:cNvPr id="6" name="Text 4"/>
          <p:cNvSpPr/>
          <p:nvPr/>
        </p:nvSpPr>
        <p:spPr>
          <a:xfrm>
            <a:off x="384048" y="475488"/>
            <a:ext cx="98755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2C25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Демонстрационный сценарий</a:t>
            </a:r>
            <a:endParaRPr lang="en-US" sz="2500" dirty="0"/>
          </a:p>
        </p:txBody>
      </p:sp>
      <p:sp>
        <p:nvSpPr>
          <p:cNvPr id="7" name="Text 5"/>
          <p:cNvSpPr/>
          <p:nvPr/>
        </p:nvSpPr>
        <p:spPr>
          <a:xfrm>
            <a:off x="393192" y="859536"/>
            <a:ext cx="9875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A5A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Цикл от заказа до аудита без использования скриншотов</a:t>
            </a:r>
            <a:endParaRPr lang="en-US" sz="950" dirty="0"/>
          </a:p>
        </p:txBody>
      </p:sp>
      <p:sp>
        <p:nvSpPr>
          <p:cNvPr id="8" name="Text 6"/>
          <p:cNvSpPr/>
          <p:nvPr/>
        </p:nvSpPr>
        <p:spPr>
          <a:xfrm>
            <a:off x="384048" y="1124712"/>
            <a:ext cx="1051560" cy="219456"/>
          </a:xfrm>
          <a:prstGeom prst="rect">
            <a:avLst/>
          </a:prstGeom>
          <a:solidFill>
            <a:srgbClr val="5A3C31"/>
          </a:solidFill>
          <a:ln>
            <a:solidFill>
              <a:srgbClr val="5A3C31"/>
            </a:solidFill>
          </a:ln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82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Демо</a:t>
            </a:r>
            <a:endParaRPr lang="en-US" sz="820" dirty="0"/>
          </a:p>
        </p:txBody>
      </p:sp>
      <p:sp>
        <p:nvSpPr>
          <p:cNvPr id="9" name="Text 7"/>
          <p:cNvSpPr/>
          <p:nvPr/>
        </p:nvSpPr>
        <p:spPr>
          <a:xfrm>
            <a:off x="530352" y="1554480"/>
            <a:ext cx="1325880" cy="676656"/>
          </a:xfrm>
          <a:prstGeom prst="rect">
            <a:avLst/>
          </a:prstGeom>
          <a:solidFill>
            <a:srgbClr val="FFFDF8"/>
          </a:solidFill>
          <a:ln>
            <a:solidFill>
              <a:srgbClr val="D8C9BB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algn="ctr" indent="0" marL="0">
              <a:buNone/>
            </a:pPr>
            <a:r>
              <a:rPr lang="en-US" sz="940" dirty="0">
                <a:solidFill>
                  <a:srgbClr val="2C25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940" dirty="0"/>
          </a:p>
          <a:p>
            <a:pPr algn="ctr" indent="0" marL="0">
              <a:buNone/>
            </a:pPr>
            <a:r>
              <a:rPr lang="en-US" sz="940" dirty="0">
                <a:solidFill>
                  <a:srgbClr val="2C25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client</a:t>
            </a:r>
            <a:endParaRPr lang="en-US" sz="940" dirty="0"/>
          </a:p>
          <a:p>
            <a:pPr algn="ctr" indent="0" marL="0">
              <a:buNone/>
            </a:pPr>
            <a:r>
              <a:rPr lang="en-US" sz="940" dirty="0">
                <a:solidFill>
                  <a:srgbClr val="2C25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заказ</a:t>
            </a:r>
            <a:endParaRPr lang="en-US" sz="940" dirty="0"/>
          </a:p>
        </p:txBody>
      </p:sp>
      <p:sp>
        <p:nvSpPr>
          <p:cNvPr id="10" name="Text 8"/>
          <p:cNvSpPr/>
          <p:nvPr/>
        </p:nvSpPr>
        <p:spPr>
          <a:xfrm>
            <a:off x="2194560" y="1554480"/>
            <a:ext cx="1325880" cy="676656"/>
          </a:xfrm>
          <a:prstGeom prst="rect">
            <a:avLst/>
          </a:prstGeom>
          <a:solidFill>
            <a:srgbClr val="EFE5DA"/>
          </a:solidFill>
          <a:ln>
            <a:solidFill>
              <a:srgbClr val="D8C9BB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algn="ctr" indent="0" marL="0">
              <a:buNone/>
            </a:pPr>
            <a:r>
              <a:rPr lang="en-US" sz="940" dirty="0">
                <a:solidFill>
                  <a:srgbClr val="2C25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940" dirty="0"/>
          </a:p>
          <a:p>
            <a:pPr algn="ctr" indent="0" marL="0">
              <a:buNone/>
            </a:pPr>
            <a:r>
              <a:rPr lang="en-US" sz="940" dirty="0">
                <a:solidFill>
                  <a:srgbClr val="2C25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admin</a:t>
            </a:r>
            <a:endParaRPr lang="en-US" sz="940" dirty="0"/>
          </a:p>
          <a:p>
            <a:pPr algn="ctr" indent="0" marL="0">
              <a:buNone/>
            </a:pPr>
            <a:r>
              <a:rPr lang="en-US" sz="940" dirty="0">
                <a:solidFill>
                  <a:srgbClr val="2C25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счёт</a:t>
            </a:r>
            <a:endParaRPr lang="en-US" sz="940" dirty="0"/>
          </a:p>
        </p:txBody>
      </p:sp>
      <p:sp>
        <p:nvSpPr>
          <p:cNvPr id="11" name="Text 9"/>
          <p:cNvSpPr/>
          <p:nvPr/>
        </p:nvSpPr>
        <p:spPr>
          <a:xfrm>
            <a:off x="3858768" y="1554480"/>
            <a:ext cx="1325880" cy="676656"/>
          </a:xfrm>
          <a:prstGeom prst="rect">
            <a:avLst/>
          </a:prstGeom>
          <a:solidFill>
            <a:srgbClr val="FFFDF8"/>
          </a:solidFill>
          <a:ln>
            <a:solidFill>
              <a:srgbClr val="D8C9BB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algn="ctr" indent="0" marL="0">
              <a:buNone/>
            </a:pPr>
            <a:r>
              <a:rPr lang="en-US" sz="940" dirty="0">
                <a:solidFill>
                  <a:srgbClr val="2C25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940" dirty="0"/>
          </a:p>
          <a:p>
            <a:pPr algn="ctr" indent="0" marL="0">
              <a:buNone/>
            </a:pPr>
            <a:r>
              <a:rPr lang="en-US" sz="940" dirty="0">
                <a:solidFill>
                  <a:srgbClr val="2C25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client</a:t>
            </a:r>
            <a:endParaRPr lang="en-US" sz="940" dirty="0"/>
          </a:p>
          <a:p>
            <a:pPr algn="ctr" indent="0" marL="0">
              <a:buNone/>
            </a:pPr>
            <a:r>
              <a:rPr lang="en-US" sz="940" dirty="0">
                <a:solidFill>
                  <a:srgbClr val="2C25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оплата</a:t>
            </a:r>
            <a:endParaRPr lang="en-US" sz="940" dirty="0"/>
          </a:p>
        </p:txBody>
      </p:sp>
      <p:sp>
        <p:nvSpPr>
          <p:cNvPr id="12" name="Text 10"/>
          <p:cNvSpPr/>
          <p:nvPr/>
        </p:nvSpPr>
        <p:spPr>
          <a:xfrm>
            <a:off x="5522976" y="1554480"/>
            <a:ext cx="1325880" cy="676656"/>
          </a:xfrm>
          <a:prstGeom prst="rect">
            <a:avLst/>
          </a:prstGeom>
          <a:solidFill>
            <a:srgbClr val="EFE5DA"/>
          </a:solidFill>
          <a:ln>
            <a:solidFill>
              <a:srgbClr val="D8C9BB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algn="ctr" indent="0" marL="0">
              <a:buNone/>
            </a:pPr>
            <a:r>
              <a:rPr lang="en-US" sz="940" dirty="0">
                <a:solidFill>
                  <a:srgbClr val="2C25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940" dirty="0"/>
          </a:p>
          <a:p>
            <a:pPr algn="ctr" indent="0" marL="0">
              <a:buNone/>
            </a:pPr>
            <a:r>
              <a:rPr lang="en-US" sz="940" dirty="0">
                <a:solidFill>
                  <a:srgbClr val="2C25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technologist</a:t>
            </a:r>
            <a:endParaRPr lang="en-US" sz="940" dirty="0"/>
          </a:p>
          <a:p>
            <a:pPr algn="ctr" indent="0" marL="0">
              <a:buNone/>
            </a:pPr>
            <a:r>
              <a:rPr lang="en-US" sz="940" dirty="0">
                <a:solidFill>
                  <a:srgbClr val="2C25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выпуск</a:t>
            </a:r>
            <a:endParaRPr lang="en-US" sz="940" dirty="0"/>
          </a:p>
        </p:txBody>
      </p:sp>
      <p:sp>
        <p:nvSpPr>
          <p:cNvPr id="13" name="Text 11"/>
          <p:cNvSpPr/>
          <p:nvPr/>
        </p:nvSpPr>
        <p:spPr>
          <a:xfrm>
            <a:off x="7187184" y="1554480"/>
            <a:ext cx="1325880" cy="676656"/>
          </a:xfrm>
          <a:prstGeom prst="rect">
            <a:avLst/>
          </a:prstGeom>
          <a:solidFill>
            <a:srgbClr val="FFFDF8"/>
          </a:solidFill>
          <a:ln>
            <a:solidFill>
              <a:srgbClr val="D8C9BB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algn="ctr" indent="0" marL="0">
              <a:buNone/>
            </a:pPr>
            <a:r>
              <a:rPr lang="en-US" sz="940" dirty="0">
                <a:solidFill>
                  <a:srgbClr val="2C25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940" dirty="0"/>
          </a:p>
          <a:p>
            <a:pPr algn="ctr" indent="0" marL="0">
              <a:buNone/>
            </a:pPr>
            <a:r>
              <a:rPr lang="en-US" sz="940" dirty="0">
                <a:solidFill>
                  <a:srgbClr val="2C25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quality_control</a:t>
            </a:r>
            <a:endParaRPr lang="en-US" sz="940" dirty="0"/>
          </a:p>
          <a:p>
            <a:pPr algn="ctr" indent="0" marL="0">
              <a:buNone/>
            </a:pPr>
            <a:r>
              <a:rPr lang="en-US" sz="940" dirty="0">
                <a:solidFill>
                  <a:srgbClr val="2C25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проверка</a:t>
            </a:r>
            <a:endParaRPr lang="en-US" sz="940" dirty="0"/>
          </a:p>
        </p:txBody>
      </p:sp>
      <p:sp>
        <p:nvSpPr>
          <p:cNvPr id="14" name="Text 12"/>
          <p:cNvSpPr/>
          <p:nvPr/>
        </p:nvSpPr>
        <p:spPr>
          <a:xfrm>
            <a:off x="8851392" y="1554480"/>
            <a:ext cx="1325880" cy="676656"/>
          </a:xfrm>
          <a:prstGeom prst="rect">
            <a:avLst/>
          </a:prstGeom>
          <a:solidFill>
            <a:srgbClr val="EFE5DA"/>
          </a:solidFill>
          <a:ln>
            <a:solidFill>
              <a:srgbClr val="D8C9BB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algn="ctr" indent="0" marL="0">
              <a:buNone/>
            </a:pPr>
            <a:r>
              <a:rPr lang="en-US" sz="940" dirty="0">
                <a:solidFill>
                  <a:srgbClr val="2C25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endParaRPr lang="en-US" sz="940" dirty="0"/>
          </a:p>
          <a:p>
            <a:pPr algn="ctr" indent="0" marL="0">
              <a:buNone/>
            </a:pPr>
            <a:r>
              <a:rPr lang="en-US" sz="940" dirty="0">
                <a:solidFill>
                  <a:srgbClr val="2C25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warehouse_worker</a:t>
            </a:r>
            <a:endParaRPr lang="en-US" sz="940" dirty="0"/>
          </a:p>
          <a:p>
            <a:pPr algn="ctr" indent="0" marL="0">
              <a:buNone/>
            </a:pPr>
            <a:r>
              <a:rPr lang="en-US" sz="940" dirty="0">
                <a:solidFill>
                  <a:srgbClr val="2C25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отгрузка</a:t>
            </a:r>
            <a:endParaRPr lang="en-US" sz="940" dirty="0"/>
          </a:p>
        </p:txBody>
      </p:sp>
      <p:sp>
        <p:nvSpPr>
          <p:cNvPr id="15" name="Text 13"/>
          <p:cNvSpPr/>
          <p:nvPr/>
        </p:nvSpPr>
        <p:spPr>
          <a:xfrm>
            <a:off x="10515600" y="1554480"/>
            <a:ext cx="1325880" cy="676656"/>
          </a:xfrm>
          <a:prstGeom prst="rect">
            <a:avLst/>
          </a:prstGeom>
          <a:solidFill>
            <a:srgbClr val="FFFDF8"/>
          </a:solidFill>
          <a:ln>
            <a:solidFill>
              <a:srgbClr val="D8C9BB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algn="ctr" indent="0" marL="0">
              <a:buNone/>
            </a:pPr>
            <a:r>
              <a:rPr lang="en-US" sz="940" dirty="0">
                <a:solidFill>
                  <a:srgbClr val="2C25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</a:t>
            </a:r>
            <a:endParaRPr lang="en-US" sz="940" dirty="0"/>
          </a:p>
          <a:p>
            <a:pPr algn="ctr" indent="0" marL="0">
              <a:buNone/>
            </a:pPr>
            <a:r>
              <a:rPr lang="en-US" sz="940" dirty="0">
                <a:solidFill>
                  <a:srgbClr val="2C25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admin</a:t>
            </a:r>
            <a:endParaRPr lang="en-US" sz="940" dirty="0"/>
          </a:p>
          <a:p>
            <a:pPr algn="ctr" indent="0" marL="0">
              <a:buNone/>
            </a:pPr>
            <a:r>
              <a:rPr lang="en-US" sz="940" dirty="0">
                <a:solidFill>
                  <a:srgbClr val="2C25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аудит</a:t>
            </a:r>
            <a:endParaRPr lang="en-US" sz="940" dirty="0"/>
          </a:p>
        </p:txBody>
      </p:sp>
      <p:sp>
        <p:nvSpPr>
          <p:cNvPr id="16" name="Shape 14"/>
          <p:cNvSpPr/>
          <p:nvPr/>
        </p:nvSpPr>
        <p:spPr>
          <a:xfrm>
            <a:off x="1051560" y="3035808"/>
            <a:ext cx="4663440" cy="1965960"/>
          </a:xfrm>
          <a:prstGeom prst="roundRect">
            <a:avLst>
              <a:gd name="adj" fmla="val 3721"/>
            </a:avLst>
          </a:prstGeom>
          <a:solidFill>
            <a:srgbClr val="FFFDF8"/>
          </a:solidFill>
          <a:ln w="12700">
            <a:solidFill>
              <a:srgbClr val="D8C9BB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179576" y="3127248"/>
            <a:ext cx="440740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5A3C3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Контроль на маршруте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1179576" y="3419856"/>
            <a:ext cx="4407408" cy="15087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190" dirty="0">
                <a:solidFill>
                  <a:srgbClr val="2C25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цена позиции назначается сервером</a:t>
            </a:r>
            <a:endParaRPr lang="en-US" sz="1190" dirty="0"/>
          </a:p>
          <a:p>
            <a:pPr indent="0" marL="0">
              <a:buNone/>
            </a:pPr>
            <a:r>
              <a:rPr lang="en-US" sz="1190" dirty="0">
                <a:solidFill>
                  <a:srgbClr val="2C25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счёт создаётся один раз</a:t>
            </a:r>
            <a:endParaRPr lang="en-US" sz="1190" dirty="0"/>
          </a:p>
          <a:p>
            <a:pPr indent="0" marL="0">
              <a:buNone/>
            </a:pPr>
            <a:r>
              <a:rPr lang="en-US" sz="1190" dirty="0">
                <a:solidFill>
                  <a:srgbClr val="2C25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отгрузка требует оплаты и качества</a:t>
            </a:r>
            <a:endParaRPr lang="en-US" sz="1190" dirty="0"/>
          </a:p>
          <a:p>
            <a:pPr indent="0" marL="0">
              <a:buNone/>
            </a:pPr>
            <a:r>
              <a:rPr lang="en-US" sz="1190" dirty="0">
                <a:solidFill>
                  <a:srgbClr val="2C25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аудит фиксирует действие</a:t>
            </a:r>
            <a:endParaRPr lang="en-US" sz="1190" dirty="0"/>
          </a:p>
        </p:txBody>
      </p:sp>
      <p:sp>
        <p:nvSpPr>
          <p:cNvPr id="19" name="Shape 17"/>
          <p:cNvSpPr/>
          <p:nvPr/>
        </p:nvSpPr>
        <p:spPr>
          <a:xfrm>
            <a:off x="6492240" y="3035808"/>
            <a:ext cx="4663440" cy="1965960"/>
          </a:xfrm>
          <a:prstGeom prst="roundRect">
            <a:avLst>
              <a:gd name="adj" fmla="val 3721"/>
            </a:avLst>
          </a:prstGeom>
          <a:solidFill>
            <a:srgbClr val="EFE5DA"/>
          </a:solidFill>
          <a:ln w="12700">
            <a:solidFill>
              <a:srgbClr val="D8C9BB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620256" y="3127248"/>
            <a:ext cx="440740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5A3C3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Результат демонстрации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6620256" y="3419856"/>
            <a:ext cx="4407408" cy="15087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190" dirty="0">
                <a:solidFill>
                  <a:srgbClr val="2C25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документы проходят статусы</a:t>
            </a:r>
            <a:endParaRPr lang="en-US" sz="1190" dirty="0"/>
          </a:p>
          <a:p>
            <a:pPr indent="0" marL="0">
              <a:buNone/>
            </a:pPr>
            <a:r>
              <a:rPr lang="en-US" sz="1190" dirty="0">
                <a:solidFill>
                  <a:srgbClr val="2C25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роли выполняют только свои действия</a:t>
            </a:r>
            <a:endParaRPr lang="en-US" sz="1190" dirty="0"/>
          </a:p>
          <a:p>
            <a:pPr indent="0" marL="0">
              <a:buNone/>
            </a:pPr>
            <a:r>
              <a:rPr lang="en-US" sz="1190" dirty="0">
                <a:solidFill>
                  <a:srgbClr val="2C25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складские остатки не уходят в минус</a:t>
            </a:r>
            <a:endParaRPr lang="en-US" sz="1190" dirty="0"/>
          </a:p>
          <a:p>
            <a:pPr indent="0" marL="0">
              <a:buNone/>
            </a:pPr>
            <a:r>
              <a:rPr lang="en-US" sz="1190" dirty="0">
                <a:solidFill>
                  <a:srgbClr val="2C25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журнал аудита доступен admin</a:t>
            </a:r>
            <a:endParaRPr lang="en-US" sz="119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4EFE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237744"/>
          </a:xfrm>
          <a:prstGeom prst="rect">
            <a:avLst/>
          </a:prstGeom>
          <a:solidFill>
            <a:srgbClr val="3A2924"/>
          </a:solidFill>
          <a:ln w="12700">
            <a:solidFill>
              <a:srgbClr val="3A2924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56032" y="50292"/>
            <a:ext cx="292608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БСБД • Slop-Bakery</a:t>
            </a:r>
            <a:endParaRPr lang="en-US" sz="650" dirty="0"/>
          </a:p>
        </p:txBody>
      </p:sp>
      <p:sp>
        <p:nvSpPr>
          <p:cNvPr id="4" name="Text 2"/>
          <p:cNvSpPr/>
          <p:nvPr/>
        </p:nvSpPr>
        <p:spPr>
          <a:xfrm>
            <a:off x="9326880" y="50292"/>
            <a:ext cx="256032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630" dirty="0">
                <a:solidFill>
                  <a:srgbClr val="E9DDD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Итоги</a:t>
            </a:r>
            <a:endParaRPr lang="en-US" sz="630" dirty="0"/>
          </a:p>
        </p:txBody>
      </p:sp>
      <p:sp>
        <p:nvSpPr>
          <p:cNvPr id="5" name="Text 3"/>
          <p:cNvSpPr/>
          <p:nvPr/>
        </p:nvSpPr>
        <p:spPr>
          <a:xfrm>
            <a:off x="11868912" y="6565392"/>
            <a:ext cx="164592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650" dirty="0">
                <a:solidFill>
                  <a:srgbClr val="6A5A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19</a:t>
            </a:r>
            <a:endParaRPr lang="en-US" sz="650" dirty="0"/>
          </a:p>
        </p:txBody>
      </p:sp>
      <p:sp>
        <p:nvSpPr>
          <p:cNvPr id="6" name="Text 4"/>
          <p:cNvSpPr/>
          <p:nvPr/>
        </p:nvSpPr>
        <p:spPr>
          <a:xfrm>
            <a:off x="384048" y="475488"/>
            <a:ext cx="98755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2C25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Результаты и заключение</a:t>
            </a:r>
            <a:endParaRPr lang="en-US" sz="2500" dirty="0"/>
          </a:p>
        </p:txBody>
      </p:sp>
      <p:sp>
        <p:nvSpPr>
          <p:cNvPr id="7" name="Text 5"/>
          <p:cNvSpPr/>
          <p:nvPr/>
        </p:nvSpPr>
        <p:spPr>
          <a:xfrm>
            <a:off x="393192" y="859536"/>
            <a:ext cx="9875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A5A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Система Slop-Bakery реализует защищённую БД хлебозавода</a:t>
            </a:r>
            <a:endParaRPr lang="en-US" sz="950" dirty="0"/>
          </a:p>
        </p:txBody>
      </p:sp>
      <p:sp>
        <p:nvSpPr>
          <p:cNvPr id="8" name="Text 6"/>
          <p:cNvSpPr/>
          <p:nvPr/>
        </p:nvSpPr>
        <p:spPr>
          <a:xfrm>
            <a:off x="384048" y="1124712"/>
            <a:ext cx="1051560" cy="219456"/>
          </a:xfrm>
          <a:prstGeom prst="rect">
            <a:avLst/>
          </a:prstGeom>
          <a:solidFill>
            <a:srgbClr val="5A3C31"/>
          </a:solidFill>
          <a:ln>
            <a:solidFill>
              <a:srgbClr val="5A3C31"/>
            </a:solidFill>
          </a:ln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82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Итоги</a:t>
            </a:r>
            <a:endParaRPr lang="en-US" sz="820" dirty="0"/>
          </a:p>
        </p:txBody>
      </p:sp>
      <p:sp>
        <p:nvSpPr>
          <p:cNvPr id="9" name="Shape 7"/>
          <p:cNvSpPr/>
          <p:nvPr/>
        </p:nvSpPr>
        <p:spPr>
          <a:xfrm>
            <a:off x="777240" y="1554480"/>
            <a:ext cx="4846320" cy="3063240"/>
          </a:xfrm>
          <a:prstGeom prst="roundRect">
            <a:avLst>
              <a:gd name="adj" fmla="val 2388"/>
            </a:avLst>
          </a:prstGeom>
          <a:solidFill>
            <a:srgbClr val="FFFDF8"/>
          </a:solidFill>
          <a:ln w="12700">
            <a:solidFill>
              <a:srgbClr val="D8C9BB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905256" y="1645920"/>
            <a:ext cx="459028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50" b="1" dirty="0">
                <a:solidFill>
                  <a:srgbClr val="5A3C3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Результаты</a:t>
            </a:r>
            <a:endParaRPr lang="en-US" sz="1350" dirty="0"/>
          </a:p>
        </p:txBody>
      </p:sp>
      <p:sp>
        <p:nvSpPr>
          <p:cNvPr id="11" name="Text 9"/>
          <p:cNvSpPr/>
          <p:nvPr/>
        </p:nvSpPr>
        <p:spPr>
          <a:xfrm>
            <a:off x="905256" y="1938528"/>
            <a:ext cx="4590288" cy="26060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2C25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реализована PostgreSQL-схема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2C25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разделены роли и действия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2C25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настроены ограничения целостности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2C25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внедрён аудит действий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2C25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проверены негативные сценарии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6400800" y="1554480"/>
            <a:ext cx="4846320" cy="3063240"/>
          </a:xfrm>
          <a:prstGeom prst="roundRect">
            <a:avLst>
              <a:gd name="adj" fmla="val 2388"/>
            </a:avLst>
          </a:prstGeom>
          <a:solidFill>
            <a:srgbClr val="EFE5DA"/>
          </a:solidFill>
          <a:ln w="12700">
            <a:solidFill>
              <a:srgbClr val="D8C9BB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528816" y="1645920"/>
            <a:ext cx="459028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50" b="1" dirty="0">
                <a:solidFill>
                  <a:srgbClr val="5A3C3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Направления развития</a:t>
            </a:r>
            <a:endParaRPr lang="en-US" sz="1350" dirty="0"/>
          </a:p>
        </p:txBody>
      </p:sp>
      <p:sp>
        <p:nvSpPr>
          <p:cNvPr id="14" name="Text 12"/>
          <p:cNvSpPr/>
          <p:nvPr/>
        </p:nvSpPr>
        <p:spPr>
          <a:xfrm>
            <a:off x="6528816" y="1938528"/>
            <a:ext cx="4590288" cy="26060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2C25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sequences / IDENTITY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2C25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миграционная система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2C25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резервное копирование PostgreSQL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2C25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HTTPS при развёртывании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2C25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PDF-формы и автотесты</a:t>
            </a:r>
            <a:endParaRPr lang="en-US" sz="1250" dirty="0"/>
          </a:p>
        </p:txBody>
      </p:sp>
      <p:sp>
        <p:nvSpPr>
          <p:cNvPr id="15" name="Text 13"/>
          <p:cNvSpPr/>
          <p:nvPr/>
        </p:nvSpPr>
        <p:spPr>
          <a:xfrm>
            <a:off x="1417320" y="5285232"/>
            <a:ext cx="9281160" cy="457200"/>
          </a:xfrm>
          <a:prstGeom prst="rect">
            <a:avLst/>
          </a:prstGeom>
          <a:solidFill>
            <a:srgbClr val="F3E7C5"/>
          </a:solidFill>
          <a:ln>
            <a:solidFill>
              <a:srgbClr val="D8C9BB"/>
            </a:solidFill>
          </a:ln>
        </p:spPr>
        <p:txBody>
          <a:bodyPr wrap="square" lIns="1270" tIns="1270" rIns="1270" bIns="1270" rtlCol="0" anchor="ctr">
            <a:normAutofit/>
          </a:bodyPr>
          <a:lstStyle/>
          <a:p>
            <a:pPr algn="ctr" indent="0" marL="0">
              <a:buNone/>
            </a:pPr>
            <a:r>
              <a:rPr lang="en-US" sz="1220" dirty="0">
                <a:solidFill>
                  <a:srgbClr val="2C25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Итог: база данных защищена на уровне структуры, прав доступа, серверных правил и аудита.</a:t>
            </a:r>
            <a:endParaRPr lang="en-US" sz="122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rial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19</Slides>
  <Notes>19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19</vt:i4>
      </vt:variant>
    </vt:vector>
  </HeadingPairs>
  <TitlesOfParts>
    <vt:vector size="2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</vt:vector>
  </TitlesOfParts>
  <Company>МГТУ им. Н. Э. Баумана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Разработка защищённой БД информационной системы «Хлебозавод»</dc:title>
  <dc:subject>Курсовая работа по дисциплине «Безопасность систем баз данных»</dc:subject>
  <dc:creator>Е. Д. Девяткин</dc:creator>
  <cp:lastModifiedBy>Е. Д. Девяткин</cp:lastModifiedBy>
  <cp:revision>1</cp:revision>
  <dcterms:created xsi:type="dcterms:W3CDTF">2026-05-11T23:11:27Z</dcterms:created>
  <dcterms:modified xsi:type="dcterms:W3CDTF">2026-05-11T23:11:27Z</dcterms:modified>
</cp:coreProperties>
</file>