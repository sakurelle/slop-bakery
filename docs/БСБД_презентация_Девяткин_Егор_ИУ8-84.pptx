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85" r:id="rId12"/>
    <p:sldId id="273" r:id="rId13"/>
    <p:sldId id="274" r:id="rId14"/>
    <p:sldId id="275" r:id="rId15"/>
    <p:sldId id="276" r:id="rId16"/>
    <p:sldId id="283" r:id="rId17"/>
    <p:sldId id="277" r:id="rId18"/>
    <p:sldId id="279" r:id="rId19"/>
    <p:sldId id="280" r:id="rId20"/>
    <p:sldId id="269" r:id="rId21"/>
    <p:sldId id="270" r:id="rId22"/>
    <p:sldId id="271" r:id="rId2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6653"/>
    <a:srgbClr val="4A372D"/>
    <a:srgbClr val="3B27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4A372D"/>
          </a:solidFill>
          <a:ln w="12700">
            <a:solidFill>
              <a:srgbClr val="4A3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2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БСБД • Slop-Bakery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7DA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B271F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797685" y="2331847"/>
            <a:ext cx="8595360" cy="109728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271F"/>
                </a:solidFill>
                <a:latin typeface="Tahoma" panose="020B0604030504040204"/>
              </a:rPr>
              <a:t>Разработка защищенной БД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3B271F"/>
                </a:solidFill>
                <a:latin typeface="Tahoma" panose="020B0604030504040204"/>
              </a:rPr>
              <a:t>информационной системы «Хлебозавод»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1993265" y="3886200"/>
            <a:ext cx="7863840" cy="1275080"/>
          </a:xfrm>
          <a:prstGeom prst="roundRect">
            <a:avLst>
              <a:gd name="adj" fmla="val 6957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240280" y="4078859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3E32"/>
                </a:solidFill>
                <a:latin typeface="Tahoma" panose="020B0604030504040204"/>
              </a:rPr>
              <a:t>Slop-Bakery • PostgreSQL • FastAPI • Docker Compose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240280" y="4498975"/>
            <a:ext cx="7315200" cy="463550"/>
          </a:xfrm>
          <a:prstGeom prst="rect">
            <a:avLst/>
          </a:prstGeom>
          <a:solidFill>
            <a:srgbClr val="8A6653"/>
          </a:solidFill>
          <a:ln>
            <a:solidFill>
              <a:srgbClr val="8A665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ahoma" panose="020B0604030504040204"/>
              </a:rPr>
              <a:t>Е. Д. Девяткин, ИУ8-84 • Москва,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r>
              <a:rPr sz="3000" b="1">
                <a:solidFill>
                  <a:srgbClr val="3B271F"/>
                </a:solidFill>
                <a:latin typeface="Tahoma" panose="020B0604030504040204"/>
              </a:rPr>
              <a:t>Цель, задачи и структура</a:t>
            </a:r>
            <a:endParaRPr sz="3000" b="1">
              <a:solidFill>
                <a:srgbClr val="3B271F"/>
              </a:solidFill>
              <a:latin typeface="Tahoma" panose="020B060403050404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2341880"/>
            <a:ext cx="3749040" cy="3000000"/>
          </a:xfrm>
          <a:prstGeom prst="roundRect">
            <a:avLst>
              <a:gd name="adj" fmla="val 1951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61920"/>
            <a:ext cx="3017520" cy="32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B271F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372D"/>
                </a:solidFill>
                <a:latin typeface="Tahoma" panose="020B0604030504040204"/>
              </a:rPr>
              <a:t>Цель</a:t>
            </a:r>
            <a:endParaRPr lang="en-US" sz="26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3274568"/>
            <a:ext cx="2971800" cy="114300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381" tIns="381" rIns="381" bIns="381" rtlCol="0" anchor="ctr">
            <a:noAutofit/>
          </a:bodyPr>
          <a:lstStyle/>
          <a:p>
            <a:r>
              <a:rPr sz="1700">
                <a:solidFill>
                  <a:srgbClr val="5A3E32"/>
                </a:solidFill>
                <a:latin typeface="Tahoma" panose="020B0604030504040204"/>
              </a:rPr>
              <a:t>Разработать систему </a:t>
            </a:r>
            <a:r>
              <a:rPr lang="ru-RU" sz="1700">
                <a:solidFill>
                  <a:srgbClr val="5A3E32"/>
                </a:solidFill>
                <a:latin typeface="Tahoma" panose="020B0604030504040204"/>
              </a:rPr>
              <a:t>хлебозавода</a:t>
            </a:r>
            <a:r>
              <a:rPr sz="1700">
                <a:solidFill>
                  <a:srgbClr val="5A3E32"/>
                </a:solidFill>
                <a:latin typeface="Tahoma" panose="020B0604030504040204"/>
              </a:rPr>
              <a:t> с контролем доступа, целостности данных и защищённой обработкой бизнес-операций.</a:t>
            </a:r>
            <a:endParaRPr sz="170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2341880"/>
            <a:ext cx="6720840" cy="3000000"/>
          </a:xfrm>
          <a:prstGeom prst="roundRect">
            <a:avLst>
              <a:gd name="adj" fmla="val 1633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83480" y="2661920"/>
            <a:ext cx="3657600" cy="32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372D"/>
                </a:solidFill>
                <a:latin typeface="Tahoma" panose="020B0604030504040204"/>
              </a:rPr>
              <a:t>Задачи</a:t>
            </a:r>
            <a:endParaRPr lang="en-US" sz="26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74920" y="2981960"/>
            <a:ext cx="5669280" cy="246888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381" tIns="381" rIns="381" bIns="381" rtlCol="0" anchor="ctr">
            <a:normAutofit/>
          </a:bodyPr>
          <a:lstStyle/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построить модели предметной области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описать физическую модель PostgreSQL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реализовать веб-интерфейс и серверную логику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настроить роли, права и ограничения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показать примеры реализации защиты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структура: анализ → модели → реализация → защита → отчёты</a:t>
            </a:r>
            <a:endParaRPr>
              <a:solidFill>
                <a:srgbClr val="5A3E32"/>
              </a:solidFill>
              <a:latin typeface="Tahom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4A372D"/>
                </a:solidFill>
                <a:latin typeface="Tahoma" panose="020B0604030504040204"/>
              </a:rPr>
              <a:t>Предметная область</a:t>
            </a:r>
            <a:endParaRPr lang="en-US" sz="3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pic>
        <p:nvPicPr>
          <p:cNvPr id="6" name="Image 0" descr="/mnt/data/latest_report_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090" y="1747520"/>
            <a:ext cx="7216140" cy="2538730"/>
          </a:xfrm>
          <a:prstGeom prst="rect">
            <a:avLst/>
          </a:prstGeom>
        </p:spPr>
      </p:pic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594360" y="4653280"/>
            <a:ext cx="3337560" cy="1800000"/>
          </a:xfrm>
          <a:prstGeom prst="roundRect">
            <a:avLst>
              <a:gd name="adj" fmla="val 5161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868680" y="4881880"/>
            <a:ext cx="256032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372D"/>
                </a:solidFill>
                <a:latin typeface="Tahoma" panose="020B0604030504040204"/>
              </a:rPr>
              <a:t>Поставки</a:t>
            </a:r>
            <a:endParaRPr lang="en-US" sz="18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868680" y="5247640"/>
            <a:ext cx="2468880" cy="59436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• поставщик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• сырьё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• приёмка</a:t>
            </a:r>
            <a:endParaRPr lang="en-US" dirty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4434840" y="4653280"/>
            <a:ext cx="3337560" cy="1800000"/>
          </a:xfrm>
          <a:prstGeom prst="roundRect">
            <a:avLst>
              <a:gd name="adj" fmla="val 5161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4709160" y="4881880"/>
            <a:ext cx="256032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372D"/>
                </a:solidFill>
                <a:latin typeface="Tahoma" panose="020B0604030504040204"/>
              </a:rPr>
              <a:t>Производство</a:t>
            </a:r>
            <a:endParaRPr lang="en-US" sz="18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4709160" y="5247640"/>
            <a:ext cx="2468880" cy="59436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• техкарта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• партия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• качество</a:t>
            </a:r>
            <a:endParaRPr lang="en-US" dirty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8275320" y="4653280"/>
            <a:ext cx="3337560" cy="1800000"/>
          </a:xfrm>
          <a:prstGeom prst="roundRect">
            <a:avLst>
              <a:gd name="adj" fmla="val 5161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8549640" y="4881880"/>
            <a:ext cx="256032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372D"/>
                </a:solidFill>
                <a:latin typeface="Tahoma" panose="020B0604030504040204"/>
              </a:rPr>
              <a:t>Реализация</a:t>
            </a:r>
            <a:endParaRPr lang="en-US" sz="18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8549640" y="5247640"/>
            <a:ext cx="2468880" cy="59436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• заказ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• оплата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• отгрузка</a:t>
            </a:r>
            <a:endParaRPr lang="en-US" dirty="0">
              <a:solidFill>
                <a:srgbClr val="5A3E32"/>
              </a:solidFill>
              <a:latin typeface="Tahoma" panose="020B060403050404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Роли и интерфейс</a:t>
            </a:r>
            <a:endParaRPr sz="3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1920240" cy="2400000"/>
          </a:xfrm>
          <a:prstGeom prst="roundRect">
            <a:avLst>
              <a:gd name="adj" fmla="val 3810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3044952"/>
            <a:ext cx="1645920" cy="256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72D"/>
                </a:solidFill>
                <a:latin typeface="Tahoma" panose="020B0604030504040204"/>
              </a:rPr>
              <a:t>admin</a:t>
            </a:r>
            <a:endParaRPr lang="en-US" sz="2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1554480" cy="1051560"/>
          </a:xfrm>
          <a:prstGeom prst="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пользователи • аудит • статусы</a:t>
            </a:r>
            <a:endParaRPr lang="en-US" dirty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05840" y="3520440"/>
            <a:ext cx="1280160" cy="0"/>
          </a:xfrm>
          <a:prstGeom prst="line">
            <a:avLst/>
          </a:prstGeom>
          <a:noFill/>
          <a:ln w="15240">
            <a:solidFill>
              <a:srgbClr val="D2BAA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926080" y="2788920"/>
            <a:ext cx="1920240" cy="2400000"/>
          </a:xfrm>
          <a:prstGeom prst="roundRect">
            <a:avLst>
              <a:gd name="adj" fmla="val 3810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063240" y="3044952"/>
            <a:ext cx="1645920" cy="256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72D"/>
                </a:solidFill>
                <a:latin typeface="Tahoma" panose="020B0604030504040204"/>
              </a:rPr>
              <a:t>client</a:t>
            </a:r>
            <a:endParaRPr lang="en-US" sz="2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08960" y="3794760"/>
            <a:ext cx="1554480" cy="1051560"/>
          </a:xfrm>
          <a:prstGeom prst="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свои заказы • счета • отгрузки</a:t>
            </a:r>
            <a:endParaRPr lang="en-US" dirty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46120" y="3520440"/>
            <a:ext cx="1280160" cy="0"/>
          </a:xfrm>
          <a:prstGeom prst="line">
            <a:avLst/>
          </a:prstGeom>
          <a:noFill/>
          <a:ln w="15240">
            <a:solidFill>
              <a:srgbClr val="D2BAA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166360" y="2788920"/>
            <a:ext cx="1920240" cy="2400000"/>
          </a:xfrm>
          <a:prstGeom prst="roundRect">
            <a:avLst>
              <a:gd name="adj" fmla="val 3810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03520" y="3044952"/>
            <a:ext cx="1645920" cy="256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A372D"/>
                </a:solidFill>
                <a:latin typeface="Tahoma" panose="020B0604030504040204"/>
              </a:rPr>
              <a:t>technologist</a:t>
            </a:r>
            <a:endParaRPr lang="en-US" sz="19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49240" y="3794760"/>
            <a:ext cx="1554480" cy="1051560"/>
          </a:xfrm>
          <a:prstGeom prst="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техкарты • производство</a:t>
            </a:r>
            <a:endParaRPr lang="en-US" dirty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0" y="3520440"/>
            <a:ext cx="1280160" cy="0"/>
          </a:xfrm>
          <a:prstGeom prst="line">
            <a:avLst/>
          </a:prstGeom>
          <a:noFill/>
          <a:ln w="15240">
            <a:solidFill>
              <a:srgbClr val="D2BAA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06640" y="2788920"/>
            <a:ext cx="1920240" cy="2400000"/>
          </a:xfrm>
          <a:prstGeom prst="roundRect">
            <a:avLst>
              <a:gd name="adj" fmla="val 3810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43800" y="3044952"/>
            <a:ext cx="1645920" cy="256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72D"/>
                </a:solidFill>
                <a:latin typeface="Tahoma" panose="020B0604030504040204"/>
              </a:rPr>
              <a:t>warehouse</a:t>
            </a:r>
            <a:endParaRPr lang="en-US" sz="2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89520" y="3794760"/>
            <a:ext cx="1554480" cy="1051560"/>
          </a:xfrm>
          <a:prstGeom prst="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поставки • склад • отгрузки</a:t>
            </a:r>
            <a:endParaRPr lang="en-US" dirty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26680" y="3520440"/>
            <a:ext cx="1280160" cy="0"/>
          </a:xfrm>
          <a:prstGeom prst="line">
            <a:avLst/>
          </a:prstGeom>
          <a:noFill/>
          <a:ln w="15240">
            <a:solidFill>
              <a:srgbClr val="D2BAA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646920" y="2788920"/>
            <a:ext cx="1920240" cy="2400000"/>
          </a:xfrm>
          <a:prstGeom prst="roundRect">
            <a:avLst>
              <a:gd name="adj" fmla="val 3810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784080" y="3044952"/>
            <a:ext cx="1645920" cy="256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372D"/>
                </a:solidFill>
                <a:latin typeface="Tahoma" panose="020B0604030504040204"/>
              </a:rPr>
              <a:t>quality</a:t>
            </a:r>
            <a:endParaRPr lang="en-US" sz="2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29800" y="3794760"/>
            <a:ext cx="1554480" cy="1051560"/>
          </a:xfrm>
          <a:prstGeom prst="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проверки качества</a:t>
            </a:r>
            <a:endParaRPr lang="en-US" dirty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966960" y="3520440"/>
            <a:ext cx="1280160" cy="0"/>
          </a:xfrm>
          <a:prstGeom prst="line">
            <a:avLst/>
          </a:prstGeom>
          <a:noFill/>
          <a:ln w="15240">
            <a:solidFill>
              <a:srgbClr val="D2BAA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Угрозы и средства защиты</a:t>
            </a:r>
            <a:endParaRPr sz="3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822960" y="2298700"/>
            <a:ext cx="3154680" cy="2976880"/>
          </a:xfrm>
          <a:prstGeom prst="roundRect">
            <a:avLst>
              <a:gd name="adj" fmla="val 2319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1051560" y="2573020"/>
            <a:ext cx="2697480" cy="32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B271F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Доступ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280160" y="3078480"/>
            <a:ext cx="2286000" cy="141732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381" tIns="381" rIns="381" bIns="381" rtlCol="0" anchor="ctr">
            <a:normAutofit/>
          </a:bodyPr>
          <a:lstStyle/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НСД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прямые URL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подмена POST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→ роли, 403, action-level permissions</a:t>
            </a:r>
            <a:endParaRPr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4526280" y="2298700"/>
            <a:ext cx="3154680" cy="2976880"/>
          </a:xfrm>
          <a:prstGeom prst="roundRect">
            <a:avLst>
              <a:gd name="adj" fmla="val 2319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4754880" y="2573020"/>
            <a:ext cx="2697480" cy="32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Данные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4983480" y="3084830"/>
            <a:ext cx="2286000" cy="141732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381" tIns="381" rIns="381" bIns="381" rtlCol="0" anchor="ctr">
            <a:normAutofit/>
          </a:bodyPr>
          <a:lstStyle/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SQL-инъекции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подбор паролей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некорректный ввод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→ параметры, bcrypt, validation</a:t>
            </a:r>
            <a:endParaRPr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8229600" y="2298700"/>
            <a:ext cx="3154680" cy="2976880"/>
          </a:xfrm>
          <a:prstGeom prst="roundRect">
            <a:avLst>
              <a:gd name="adj" fmla="val 2319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8458200" y="2573020"/>
            <a:ext cx="2697480" cy="32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Целостность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8686800" y="3078480"/>
            <a:ext cx="2286000" cy="141732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381" tIns="381" rIns="381" bIns="381" rtlCol="0" anchor="ctr">
            <a:normAutofit lnSpcReduction="20000"/>
          </a:bodyPr>
          <a:lstStyle/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неверные статусы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отрицательные суммы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• дубли документов</a:t>
            </a:r>
            <a:endParaRPr>
              <a:solidFill>
                <a:srgbClr val="5A3E32"/>
              </a:solidFill>
              <a:latin typeface="Tahoma" panose="020B0604030504040204"/>
            </a:endParaRPr>
          </a:p>
          <a:p>
            <a:r>
              <a:rPr>
                <a:solidFill>
                  <a:srgbClr val="5A3E32"/>
                </a:solidFill>
                <a:latin typeface="Tahoma" panose="020B0604030504040204"/>
              </a:rPr>
              <a:t>→ PK/FK/CHECK, индексы, backup</a:t>
            </a:r>
            <a:endParaRPr>
              <a:solidFill>
                <a:srgbClr val="5A3E32"/>
              </a:solidFill>
              <a:latin typeface="Tahoma" panose="020B060403050404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Инфологическая модель</a:t>
            </a:r>
            <a:endParaRPr lang="en-US" sz="3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27050" y="1584960"/>
            <a:ext cx="5386070" cy="1467485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764032" y="1752346"/>
            <a:ext cx="4425696" cy="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Клиентский контур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4032" y="2145030"/>
            <a:ext cx="4425696" cy="182879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customers → customer_orders → order_items → invoices → shipments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187440" y="1584960"/>
            <a:ext cx="5249545" cy="1467485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6352032" y="1752346"/>
            <a:ext cx="4425696" cy="29260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Поставочный </a:t>
            </a:r>
            <a:endParaRPr sz="2000" b="1">
              <a:solidFill>
                <a:srgbClr val="FFFFFF"/>
              </a:solidFill>
              <a:latin typeface="Tahoma" panose="020B060403050404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52032" y="2145030"/>
            <a:ext cx="4425696" cy="182879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suppliers → supplier_materials → deliveries → raw_material_stock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50545" y="3209290"/>
            <a:ext cx="5362575" cy="160147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764032" y="3278759"/>
            <a:ext cx="4425696" cy="29260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Производственный контур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4032" y="3712083"/>
            <a:ext cx="4425696" cy="182879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products → tech_cards → recipe_items → production_batches → finished_goods_stock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87440" y="3209290"/>
            <a:ext cx="5249545" cy="158623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6351905" y="3336925"/>
            <a:ext cx="4890770" cy="292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Контур качества и безопасности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51905" y="3712210"/>
            <a:ext cx="4881245" cy="862965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quality_checks контролируют допуск партий; users, roles и audit_log фиксируют доступ и действия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524000" y="4921250"/>
            <a:ext cx="9144000" cy="162560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1688592" y="5049265"/>
            <a:ext cx="8814816" cy="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Главная идея модели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88592" y="5424170"/>
            <a:ext cx="8814816" cy="54864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Каждая операция привязана к документу и партии: заказ связан со счётом и отгрузкой, поставка — с поставщиком и сырьём, производство — с техкартой и контролем качества.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4A372D"/>
                </a:solidFill>
                <a:latin typeface="Tahoma" panose="020B0604030504040204"/>
              </a:rPr>
              <a:t>Логическая структура</a:t>
            </a:r>
            <a:endParaRPr lang="en-US" sz="3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6766560" cy="4566285"/>
          </a:xfrm>
          <a:prstGeom prst="roundRect">
            <a:avLst>
              <a:gd name="adj" fmla="val 2105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pic>
        <p:nvPicPr>
          <p:cNvPr id="6" name="Image 0" descr="/mnt/data/latest_report_media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240352"/>
            <a:ext cx="6547104" cy="29995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463040"/>
            <a:ext cx="3566160" cy="4565650"/>
          </a:xfrm>
          <a:prstGeom prst="roundRect">
            <a:avLst>
              <a:gd name="adj" fmla="val 2105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001000" y="1737360"/>
            <a:ext cx="292608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372D"/>
                </a:solidFill>
                <a:latin typeface="Tahoma" panose="020B0604030504040204"/>
              </a:rPr>
              <a:t>Роли уровней</a:t>
            </a:r>
            <a:endParaRPr lang="en-US" sz="2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8092440" y="2240280"/>
            <a:ext cx="2743200" cy="164592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• Jinja2: интерфейс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• FastAPI: бизнес-логика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• PostgreSQL: данные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A3E32"/>
                </a:solidFill>
                <a:latin typeface="Tahoma" panose="020B0604030504040204"/>
              </a:rPr>
              <a:t>• Docker: воспроизводимость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4A372D"/>
                </a:solidFill>
                <a:latin typeface="Tahoma" panose="020B0604030504040204"/>
              </a:rPr>
              <a:t>Физическая модель PostgreSQL</a:t>
            </a:r>
            <a:endParaRPr lang="en-US" sz="3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777240" y="1691640"/>
            <a:ext cx="4800600" cy="1078992"/>
          </a:xfrm>
          <a:prstGeom prst="roundRect">
            <a:avLst>
              <a:gd name="adj" fmla="val 6780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1005840" y="2107565"/>
            <a:ext cx="146304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372D"/>
                </a:solidFill>
                <a:latin typeface="Tahoma" panose="020B0604030504040204"/>
              </a:rPr>
              <a:t>Ключи</a:t>
            </a:r>
            <a:endParaRPr lang="en-US" sz="2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2514600" y="2167382"/>
            <a:ext cx="2743200" cy="219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A372D"/>
                </a:solidFill>
                <a:latin typeface="Tahoma" panose="020B0604030504040204"/>
              </a:rPr>
              <a:t>PK/FK для связей документов и партий</a:t>
            </a:r>
            <a:endParaRPr lang="en-US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6263640" y="1691640"/>
            <a:ext cx="4800600" cy="1078992"/>
          </a:xfrm>
          <a:prstGeom prst="roundRect">
            <a:avLst>
              <a:gd name="adj" fmla="val 6780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6492240" y="2167255"/>
            <a:ext cx="146304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372D"/>
                </a:solidFill>
                <a:latin typeface="Tahoma" panose="020B0604030504040204"/>
              </a:rPr>
              <a:t>Индексы</a:t>
            </a:r>
            <a:endParaRPr lang="en-US" sz="2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8001000" y="2112137"/>
            <a:ext cx="2743200" cy="219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A372D"/>
                </a:solidFill>
                <a:latin typeface="Tahoma" panose="020B0604030504040204"/>
              </a:rPr>
              <a:t>уникальность номеров и запрет дублей</a:t>
            </a:r>
            <a:endParaRPr lang="en-US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777240" y="3291840"/>
            <a:ext cx="4800600" cy="1078992"/>
          </a:xfrm>
          <a:prstGeom prst="roundRect">
            <a:avLst>
              <a:gd name="adj" fmla="val 6780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1005840" y="3749040"/>
            <a:ext cx="146304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372D"/>
                </a:solidFill>
                <a:latin typeface="Tahoma" panose="020B0604030504040204"/>
              </a:rPr>
              <a:t>CHECK</a:t>
            </a:r>
            <a:endParaRPr lang="en-US" sz="2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2514600" y="3749167"/>
            <a:ext cx="2743200" cy="219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A372D"/>
                </a:solidFill>
                <a:latin typeface="Tahoma" panose="020B0604030504040204"/>
              </a:rPr>
              <a:t>количества, даты, paid_at</a:t>
            </a:r>
            <a:endParaRPr lang="en-US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6263640" y="3291840"/>
            <a:ext cx="4800600" cy="1078992"/>
          </a:xfrm>
          <a:prstGeom prst="roundRect">
            <a:avLst>
              <a:gd name="adj" fmla="val 6780"/>
            </a:avLst>
          </a:prstGeom>
          <a:solidFill>
            <a:srgbClr val="FFFAF3"/>
          </a:solidFill>
          <a:ln w="10160">
            <a:solidFill>
              <a:srgbClr val="D2BAA4"/>
            </a:solidFill>
            <a:prstDash val="solid"/>
          </a:ln>
          <a:effectLst>
            <a:outerShdw blurRad="12700" dist="50800" dir="2700000" algn="bl" rotWithShape="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6492240" y="3749040"/>
            <a:ext cx="146304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372D"/>
                </a:solidFill>
                <a:latin typeface="Tahoma" panose="020B0604030504040204"/>
              </a:rPr>
              <a:t>JSONB</a:t>
            </a:r>
            <a:endParaRPr lang="en-US" sz="2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8001000" y="3749167"/>
            <a:ext cx="2743200" cy="219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A372D"/>
                </a:solidFill>
                <a:latin typeface="Tahoma" panose="020B0604030504040204"/>
              </a:rPr>
              <a:t>снимки old_data/new_data в аудите</a:t>
            </a:r>
            <a:endParaRPr lang="en-US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201168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372D"/>
                </a:solidFill>
                <a:latin typeface="Tahoma" panose="020B0604030504040204"/>
              </a:rPr>
              <a:t>Пример ограничения</a:t>
            </a:r>
            <a:endParaRPr lang="en-US" sz="2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26080" y="5056632"/>
            <a:ext cx="7772400" cy="274320"/>
          </a:xfrm>
          <a:prstGeom prst="rect">
            <a:avLst/>
          </a:prstGeom>
          <a:noFill/>
          <a:ln>
            <a:solidFill>
              <a:srgbClr val="D2BAA4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A3E32"/>
                </a:solidFill>
                <a:latin typeface="Tahoma" panose="020B06040305040402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UNIQUE invoice(order_id) WHERE status IN (issued, overdue, paid)</a:t>
            </a:r>
            <a:endParaRPr lang="en-US" sz="2000" dirty="0">
              <a:solidFill>
                <a:srgbClr val="5A3E32"/>
              </a:solidFill>
              <a:latin typeface="Tahoma" panose="020B06040305040402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50545"/>
            <a:ext cx="4218940" cy="168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4A372D"/>
                </a:solidFill>
                <a:latin typeface="Tahoma" panose="020B0604030504040204"/>
              </a:rPr>
              <a:t>Физическая модель PostgreSQL</a:t>
            </a:r>
            <a:endParaRPr lang="en-US" sz="3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pic>
        <p:nvPicPr>
          <p:cNvPr id="796812247" name="Picture 6" descr="A diagram of a company&#10;&#10;AI-generated content may be incorrect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95215" y="578485"/>
            <a:ext cx="7042785" cy="6279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21792"/>
            <a:ext cx="9966960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Авторизация пользователей</a:t>
            </a:r>
            <a:endParaRPr sz="3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5074920" cy="434340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92224"/>
            <a:ext cx="4480560" cy="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Что реализовано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2212848"/>
            <a:ext cx="4480560" cy="224028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пользователь проходит форму входа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сервер загружает запись из users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при ошибке вход не выполняется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успешный вход фиксируется в сессии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96112" y="4800600"/>
            <a:ext cx="4526280" cy="658368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/>
            <a:r>
              <a:rPr sz="1350" b="0">
                <a:solidFill>
                  <a:srgbClr val="5A3E32"/>
                </a:solidFill>
                <a:latin typeface="Tahoma" panose="020B0604030504040204"/>
              </a:rPr>
              <a:t>Показывает, что доступ к разделам невозможен без авторизации.</a:t>
            </a:r>
            <a:endParaRPr sz="1350" b="0">
              <a:solidFill>
                <a:srgbClr val="5A3E32"/>
              </a:solidFill>
              <a:latin typeface="Tahoma" panose="020B0604030504040204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8150" y="621665"/>
            <a:ext cx="5008245" cy="6087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21792"/>
            <a:ext cx="9966960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Хранение </a:t>
            </a:r>
            <a:r>
              <a:rPr sz="2700" b="1">
                <a:solidFill>
                  <a:srgbClr val="4A372D"/>
                </a:solidFill>
                <a:latin typeface="Tahoma" panose="020B0604030504040204"/>
              </a:rPr>
              <a:t>паролей</a:t>
            </a:r>
            <a:endParaRPr sz="27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495" y="1572895"/>
            <a:ext cx="10789920" cy="1962785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8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96112" y="1792224"/>
            <a:ext cx="4480560" cy="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Что реализовано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2212848"/>
            <a:ext cx="4480560" cy="102489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73152" rIns="73152">
            <a:spAutoFit/>
          </a:bodyPr>
          <a:lstStyle/>
          <a:p>
            <a:pPr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>
                <a:solidFill>
                  <a:srgbClr val="5A3E32"/>
                </a:solidFill>
                <a:latin typeface="Tahoma" panose="020B0604030504040204"/>
                <a:sym typeface="+mn-ea"/>
              </a:rPr>
              <a:t>• </a:t>
            </a:r>
            <a:r>
              <a:rPr lang="ru-RU" sz="1800" b="0">
                <a:solidFill>
                  <a:srgbClr val="5A3E32"/>
                </a:solidFill>
                <a:latin typeface="Tahoma" panose="020B0604030504040204"/>
              </a:rPr>
              <a:t>П</a:t>
            </a: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ароль преобразуется в bcrypt-хэш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 indent="0">
              <a:spcAft>
                <a:spcPts val="800"/>
              </a:spcAft>
              <a:buFont typeface="Arial" panose="020B0604020202020204" pitchFamily="34" charset="0"/>
              <a:buNone/>
            </a:pPr>
            <a:r>
              <a:rPr>
                <a:solidFill>
                  <a:srgbClr val="5A3E32"/>
                </a:solidFill>
                <a:latin typeface="Tahoma" panose="020B0604030504040204"/>
                <a:sym typeface="+mn-ea"/>
              </a:rPr>
              <a:t>• </a:t>
            </a:r>
            <a:r>
              <a:rPr lang="ru-RU" sz="1800" b="0">
                <a:solidFill>
                  <a:srgbClr val="5A3E32"/>
                </a:solidFill>
                <a:latin typeface="Tahoma" panose="020B0604030504040204"/>
              </a:rPr>
              <a:t>В</a:t>
            </a: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 users хранится только password_hash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</p:txBody>
      </p:sp>
      <p:pic>
        <p:nvPicPr>
          <p:cNvPr id="3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335" y="3989705"/>
            <a:ext cx="9624695" cy="22631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6"/>
          <p:cNvSpPr txBox="1"/>
          <p:nvPr/>
        </p:nvSpPr>
        <p:spPr>
          <a:xfrm>
            <a:off x="5756275" y="2212975"/>
            <a:ext cx="5274310" cy="74803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>
                <a:solidFill>
                  <a:srgbClr val="5A3E32"/>
                </a:solidFill>
                <a:latin typeface="Tahoma" panose="020B0604030504040204"/>
                <a:sym typeface="+mn-ea"/>
              </a:rPr>
              <a:t>• </a:t>
            </a:r>
            <a:r>
              <a:rPr lang="ru-RU">
                <a:solidFill>
                  <a:srgbClr val="5A3E32"/>
                </a:solidFill>
                <a:latin typeface="Tahoma" panose="020B0604030504040204"/>
                <a:sym typeface="+mn-ea"/>
              </a:rPr>
              <a:t>О</a:t>
            </a:r>
            <a:r>
              <a:rPr>
                <a:solidFill>
                  <a:srgbClr val="5A3E32"/>
                </a:solidFill>
                <a:latin typeface="Tahoma" panose="020B0604030504040204"/>
                <a:sym typeface="+mn-ea"/>
              </a:rPr>
              <a:t>динаковые пароли получают разные хэши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5A3E32"/>
                </a:solidFill>
                <a:latin typeface="Tahoma" panose="020B0604030504040204"/>
                <a:sym typeface="+mn-ea"/>
              </a:rPr>
              <a:t>• </a:t>
            </a:r>
            <a:r>
              <a:rPr lang="ru-RU">
                <a:solidFill>
                  <a:srgbClr val="5A3E32"/>
                </a:solidFill>
                <a:latin typeface="Tahoma" panose="020B0604030504040204"/>
                <a:sym typeface="+mn-ea"/>
              </a:rPr>
              <a:t>П</a:t>
            </a:r>
            <a:r>
              <a:rPr>
                <a:solidFill>
                  <a:srgbClr val="5A3E32"/>
                </a:solidFill>
                <a:latin typeface="Tahoma" panose="020B0604030504040204"/>
                <a:sym typeface="+mn-ea"/>
              </a:rPr>
              <a:t>роверка выполняется через verify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21792"/>
            <a:ext cx="9966960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Защита </a:t>
            </a:r>
            <a:r>
              <a:rPr sz="2700" b="1">
                <a:solidFill>
                  <a:srgbClr val="4A372D"/>
                </a:solidFill>
                <a:latin typeface="Tahoma" panose="020B0604030504040204"/>
              </a:rPr>
              <a:t>от SQL-инъекций</a:t>
            </a:r>
            <a:endParaRPr sz="27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5074920" cy="434340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92224"/>
            <a:ext cx="4480560" cy="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Что реализовано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2212848"/>
            <a:ext cx="4480560" cy="224028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SQL-текст и значения разделены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используются плейсхолдеры %s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выполнение идёт через cur.execute(query, params)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строка OR 1=1 не меняет логику запроса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96112" y="4800600"/>
            <a:ext cx="4526280" cy="658368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/>
            <a:r>
              <a:rPr sz="1350" b="0">
                <a:solidFill>
                  <a:srgbClr val="5A3E32"/>
                </a:solidFill>
                <a:latin typeface="Tahoma" panose="020B0604030504040204"/>
              </a:rPr>
              <a:t>Инъекция воспринимается как обычное значение поля формы.</a:t>
            </a:r>
            <a:endParaRPr sz="1350" b="0">
              <a:solidFill>
                <a:srgbClr val="5A3E32"/>
              </a:solidFill>
              <a:latin typeface="Tahoma" panose="020B0604030504040204"/>
            </a:endParaRPr>
          </a:p>
        </p:txBody>
      </p:sp>
      <p:pic>
        <p:nvPicPr>
          <p:cNvPr id="3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9730" y="621665"/>
            <a:ext cx="5080635" cy="6098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21792"/>
            <a:ext cx="9966960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Ролевая модель доступа</a:t>
            </a:r>
            <a:endParaRPr sz="3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495" y="1572895"/>
            <a:ext cx="10716895" cy="216535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92224"/>
            <a:ext cx="4480560" cy="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Что реализовано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2212848"/>
            <a:ext cx="4480560" cy="130175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используются роли admin, client, technologist, warehouse, quality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разделы скрываются по SECTION_RULES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5886577" y="2212848"/>
            <a:ext cx="4480560" cy="102489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критичные действия проверяются по ACTION_RULES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при прямом URL возвращается 403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</p:txBody>
      </p:sp>
      <p:pic>
        <p:nvPicPr>
          <p:cNvPr id="11" name="Изображение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4041775"/>
            <a:ext cx="8968740" cy="2179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21792"/>
            <a:ext cx="9966960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Ролевая модель доступа</a:t>
            </a:r>
            <a:endParaRPr sz="3000" b="1">
              <a:solidFill>
                <a:srgbClr val="4A372D"/>
              </a:solidFill>
              <a:latin typeface="Tahoma" panose="020B0604030504040204"/>
            </a:endParaRPr>
          </a:p>
        </p:txBody>
      </p:sp>
      <p:pic>
        <p:nvPicPr>
          <p:cNvPr id="4" name="Изображение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710" y="1309370"/>
            <a:ext cx="9188450" cy="2350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Изображение 8"/>
          <p:cNvPicPr>
            <a:picLocks noChangeAspect="1"/>
          </p:cNvPicPr>
          <p:nvPr/>
        </p:nvPicPr>
        <p:blipFill>
          <a:blip r:embed="rId2"/>
          <a:srcRect b="41982"/>
          <a:stretch>
            <a:fillRect/>
          </a:stretch>
        </p:blipFill>
        <p:spPr>
          <a:xfrm>
            <a:off x="1362710" y="3850005"/>
            <a:ext cx="9246235" cy="26009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Овал 8"/>
          <p:cNvSpPr/>
          <p:nvPr/>
        </p:nvSpPr>
        <p:spPr>
          <a:xfrm>
            <a:off x="1073150" y="1118870"/>
            <a:ext cx="5166360" cy="812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0" name="Овал 9"/>
          <p:cNvSpPr/>
          <p:nvPr/>
        </p:nvSpPr>
        <p:spPr>
          <a:xfrm>
            <a:off x="749300" y="3659505"/>
            <a:ext cx="9474200" cy="167386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21792"/>
            <a:ext cx="9966960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Ограничения целостности</a:t>
            </a:r>
            <a:endParaRPr sz="3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96723" y="1572768"/>
            <a:ext cx="5074920" cy="434340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4467" y="1792224"/>
            <a:ext cx="4480560" cy="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Что реализовано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4467" y="2212848"/>
            <a:ext cx="4480560" cy="224028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CHECK запрещает отрицательные суммы и неверные даты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FOREIGN KEY запрещает ссылки на несуществующие записи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UNIQUE предотвращает дубли документов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ограничения работают независимо от интерфейса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</p:txBody>
      </p:sp>
      <p:pic>
        <p:nvPicPr>
          <p:cNvPr id="3" name="Изображение 10"/>
          <p:cNvPicPr>
            <a:picLocks noChangeAspect="1"/>
          </p:cNvPicPr>
          <p:nvPr/>
        </p:nvPicPr>
        <p:blipFill>
          <a:blip r:embed="rId1"/>
          <a:srcRect r="62889"/>
          <a:stretch>
            <a:fillRect/>
          </a:stretch>
        </p:blipFill>
        <p:spPr>
          <a:xfrm>
            <a:off x="5452110" y="1262380"/>
            <a:ext cx="3693795" cy="2959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Изображение 11"/>
          <p:cNvPicPr>
            <a:picLocks noChangeAspect="1"/>
          </p:cNvPicPr>
          <p:nvPr/>
        </p:nvPicPr>
        <p:blipFill>
          <a:blip r:embed="rId2"/>
          <a:srcRect r="66777"/>
          <a:stretch>
            <a:fillRect/>
          </a:stretch>
        </p:blipFill>
        <p:spPr>
          <a:xfrm>
            <a:off x="8150860" y="3890010"/>
            <a:ext cx="3731895" cy="2715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21792"/>
            <a:ext cx="9966960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Аудит действий пользователей</a:t>
            </a:r>
            <a:endParaRPr sz="3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495" y="1413510"/>
            <a:ext cx="10904855" cy="193421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32839"/>
            <a:ext cx="4480560" cy="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Что реализовано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2053463"/>
            <a:ext cx="4480560" cy="130175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записываются INSERT, UPDATE, DELETE, LOGIN, LOGOUT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хранятся пользователь, время и таблица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6406007" y="2053463"/>
            <a:ext cx="4480560" cy="130175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old_data и new_data сохраняются в JSONB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аудит доступен только администратору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</p:txBody>
      </p:sp>
      <p:pic>
        <p:nvPicPr>
          <p:cNvPr id="13" name="Изображение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3642995"/>
            <a:ext cx="9345930" cy="30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21792"/>
            <a:ext cx="9966960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Резервное копирование</a:t>
            </a:r>
            <a:endParaRPr sz="3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495" y="1572895"/>
            <a:ext cx="10803255" cy="1856105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92224"/>
            <a:ext cx="4480560" cy="29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Что реализовано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2212848"/>
            <a:ext cx="4480560" cy="74803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используется команда pg_dump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сохраняются структура БД и данные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6319647" y="1935988"/>
            <a:ext cx="4480560" cy="130175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формируется файл .backup в формате custom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A3E32"/>
                </a:solidFill>
                <a:latin typeface="Tahoma" panose="020B0604030504040204"/>
              </a:rPr>
              <a:t>• резервная копия нужна для восстановления после сбоя</a:t>
            </a:r>
            <a:endParaRPr sz="1800" b="0">
              <a:solidFill>
                <a:srgbClr val="5A3E32"/>
              </a:solidFill>
              <a:latin typeface="Tahoma" panose="020B0604030504040204"/>
            </a:endParaRPr>
          </a:p>
        </p:txBody>
      </p:sp>
      <p:pic>
        <p:nvPicPr>
          <p:cNvPr id="14" name="Изображение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85" y="4055110"/>
            <a:ext cx="10257155" cy="1430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sz="3000" b="1">
                <a:solidFill>
                  <a:srgbClr val="3B271F"/>
                </a:solidFill>
                <a:latin typeface="Tahoma" panose="020B0604030504040204"/>
              </a:rPr>
              <a:t>Заказ и </a:t>
            </a:r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оплата</a:t>
            </a:r>
            <a:endParaRPr lang="en-US" sz="3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181100" y="2038985"/>
            <a:ext cx="2011680" cy="438912"/>
          </a:xfrm>
          <a:prstGeom prst="roundRect">
            <a:avLst/>
          </a:prstGeom>
          <a:solidFill>
            <a:srgbClr val="8A6653"/>
          </a:solidFill>
          <a:ln>
            <a:solidFill>
              <a:srgbClr val="8A6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homa" panose="020B0604030504040204"/>
              </a:rPr>
              <a:t>1. Каталог</a:t>
            </a:r>
            <a:endParaRPr sz="2000" b="1">
              <a:solidFill>
                <a:srgbClr val="FFFFFF"/>
              </a:solidFill>
              <a:latin typeface="Tahoma" panose="020B060403050404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81100" y="2606040"/>
            <a:ext cx="2011680" cy="968375"/>
          </a:xfrm>
          <a:prstGeom prst="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b="0">
                <a:solidFill>
                  <a:srgbClr val="5A3E32"/>
                </a:solidFill>
                <a:latin typeface="Tahoma" panose="020B0604030504040204"/>
              </a:rPr>
              <a:t>клиент выбирает активную продукцию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741420" y="2038985"/>
            <a:ext cx="2011680" cy="438912"/>
          </a:xfrm>
          <a:prstGeom prst="roundRect">
            <a:avLst/>
          </a:prstGeom>
          <a:solidFill>
            <a:srgbClr val="8A6653"/>
          </a:solidFill>
          <a:ln>
            <a:solidFill>
              <a:srgbClr val="8A6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homa" panose="020B0604030504040204"/>
              </a:rPr>
              <a:t>2. </a:t>
            </a:r>
            <a:r>
              <a:rPr lang="ru-RU" sz="2000" b="1">
                <a:solidFill>
                  <a:srgbClr val="FFFFFF"/>
                </a:solidFill>
                <a:latin typeface="Tahoma" panose="020B0604030504040204"/>
              </a:rPr>
              <a:t>Заказ</a:t>
            </a:r>
            <a:endParaRPr lang="ru-RU" sz="2000" b="1">
              <a:solidFill>
                <a:srgbClr val="FFFFFF"/>
              </a:solidFill>
              <a:latin typeface="Tahoma" panose="020B060403050404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41420" y="2606040"/>
            <a:ext cx="2011680" cy="944245"/>
          </a:xfrm>
          <a:prstGeom prst="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b="0">
                <a:solidFill>
                  <a:srgbClr val="5A3E32"/>
                </a:solidFill>
                <a:latin typeface="Tahoma" panose="020B0604030504040204"/>
              </a:rPr>
              <a:t>создаётся только для текущего клиента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301740" y="2038985"/>
            <a:ext cx="2011680" cy="438912"/>
          </a:xfrm>
          <a:prstGeom prst="roundRect">
            <a:avLst/>
          </a:prstGeom>
          <a:solidFill>
            <a:srgbClr val="8A6653"/>
          </a:solidFill>
          <a:ln>
            <a:solidFill>
              <a:srgbClr val="8A6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homa" panose="020B0604030504040204"/>
              </a:rPr>
              <a:t>3. Счёт</a:t>
            </a:r>
            <a:endParaRPr sz="2000" b="1">
              <a:solidFill>
                <a:srgbClr val="FFFFFF"/>
              </a:solidFill>
              <a:latin typeface="Tahoma" panose="020B060403050404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1740" y="2606040"/>
            <a:ext cx="2011680" cy="952500"/>
          </a:xfrm>
          <a:prstGeom prst="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b="0">
                <a:solidFill>
                  <a:srgbClr val="5A3E32"/>
                </a:solidFill>
                <a:latin typeface="Tahoma" panose="020B0604030504040204"/>
              </a:rPr>
              <a:t>сумма считается по позициям заказа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862060" y="2038985"/>
            <a:ext cx="2011680" cy="438912"/>
          </a:xfrm>
          <a:prstGeom prst="roundRect">
            <a:avLst/>
          </a:prstGeom>
          <a:solidFill>
            <a:srgbClr val="8A6653"/>
          </a:solidFill>
          <a:ln>
            <a:solidFill>
              <a:srgbClr val="8A6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homa" panose="020B0604030504040204"/>
              </a:rPr>
              <a:t>4. Оплата</a:t>
            </a:r>
            <a:endParaRPr sz="2000" b="1">
              <a:solidFill>
                <a:srgbClr val="FFFFFF"/>
              </a:solidFill>
              <a:latin typeface="Tahoma" panose="020B060403050404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62060" y="2606040"/>
            <a:ext cx="2011680" cy="944245"/>
          </a:xfrm>
          <a:prstGeom prst="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b="0">
                <a:solidFill>
                  <a:srgbClr val="5A3E32"/>
                </a:solidFill>
                <a:latin typeface="Tahoma" panose="020B0604030504040204"/>
              </a:rPr>
              <a:t>paid_at заполняется при оплате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39395" y="3881755"/>
            <a:ext cx="3786505" cy="1707515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15" y="4010025"/>
            <a:ext cx="3360420" cy="391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Защита от подмены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1015" y="4384675"/>
            <a:ext cx="3360420" cy="73406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customer_id, status_code и unit_price игнорируются или назначаются сервером.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202430" y="3881755"/>
            <a:ext cx="3786505" cy="1707515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4050" y="4010025"/>
            <a:ext cx="3360420" cy="391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Целостность счёта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64050" y="4384675"/>
            <a:ext cx="3360420" cy="73406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второй активный счёт по заказу блокируется индексом и проверкой приложения.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165465" y="3881755"/>
            <a:ext cx="3786505" cy="1707515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27085" y="4010025"/>
            <a:ext cx="3360420" cy="391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Доступ клиента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427085" y="4384675"/>
            <a:ext cx="3360420" cy="73406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оплата разрешена только для собственного issued или overdue invoice.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Поставки и производство</a:t>
            </a:r>
            <a:endParaRPr lang="en-US" sz="3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26" name="Rounded Rectangle 25"/>
          <p:cNvSpPr/>
          <p:nvPr>
            <p:custDataLst>
              <p:tags r:id="rId1"/>
            </p:custDataLst>
          </p:nvPr>
        </p:nvSpPr>
        <p:spPr>
          <a:xfrm>
            <a:off x="587375" y="1727835"/>
            <a:ext cx="3467100" cy="211201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2"/>
            </p:custDataLst>
          </p:nvPr>
        </p:nvSpPr>
        <p:spPr>
          <a:xfrm>
            <a:off x="795020" y="1856105"/>
            <a:ext cx="3094990" cy="43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Поставка сырья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28" name="TextBox 27"/>
          <p:cNvSpPr txBox="1"/>
          <p:nvPr>
            <p:custDataLst>
              <p:tags r:id="rId3"/>
            </p:custDataLst>
          </p:nvPr>
        </p:nvSpPr>
        <p:spPr>
          <a:xfrm>
            <a:off x="795020" y="2230755"/>
            <a:ext cx="3094990" cy="1226185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Сырьё добавляется только если оно закреплено за поставщиком. Цена и срок поставки берутся из supplier_materials.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29" name="Rounded Rectangle 28"/>
          <p:cNvSpPr/>
          <p:nvPr>
            <p:custDataLst>
              <p:tags r:id="rId4"/>
            </p:custDataLst>
          </p:nvPr>
        </p:nvSpPr>
        <p:spPr>
          <a:xfrm>
            <a:off x="4340860" y="1727835"/>
            <a:ext cx="3467100" cy="211201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5"/>
            </p:custDataLst>
          </p:nvPr>
        </p:nvSpPr>
        <p:spPr>
          <a:xfrm>
            <a:off x="4548505" y="1856105"/>
            <a:ext cx="3094990" cy="43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Склад сырья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31" name="TextBox 30"/>
          <p:cNvSpPr txBox="1"/>
          <p:nvPr>
            <p:custDataLst>
              <p:tags r:id="rId6"/>
            </p:custDataLst>
          </p:nvPr>
        </p:nvSpPr>
        <p:spPr>
          <a:xfrm>
            <a:off x="4548505" y="2230755"/>
            <a:ext cx="3094990" cy="1226185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planned-поставка не увеличивает остатки; партия появляется после приёмки и расчёта срока годности.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2" name="Rounded Rectangle 31"/>
          <p:cNvSpPr/>
          <p:nvPr>
            <p:custDataLst>
              <p:tags r:id="rId7"/>
            </p:custDataLst>
          </p:nvPr>
        </p:nvSpPr>
        <p:spPr>
          <a:xfrm>
            <a:off x="8137525" y="1727835"/>
            <a:ext cx="3467100" cy="211201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>
            <p:custDataLst>
              <p:tags r:id="rId8"/>
            </p:custDataLst>
          </p:nvPr>
        </p:nvSpPr>
        <p:spPr>
          <a:xfrm>
            <a:off x="8345170" y="1856105"/>
            <a:ext cx="3094990" cy="43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Производство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34" name="TextBox 33"/>
          <p:cNvSpPr txBox="1"/>
          <p:nvPr>
            <p:custDataLst>
              <p:tags r:id="rId9"/>
            </p:custDataLst>
          </p:nvPr>
        </p:nvSpPr>
        <p:spPr>
          <a:xfrm>
            <a:off x="8345170" y="2230755"/>
            <a:ext cx="3094990" cy="1226185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Запуск возможен только по active tech card и при достаточном объёме проверенного сырья.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94995" y="4083685"/>
            <a:ext cx="5072380" cy="1839595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3910" y="4211955"/>
            <a:ext cx="4699000" cy="43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Зачем это нужно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3910" y="4586605"/>
            <a:ext cx="4699000" cy="953135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Исключаются поставки неподходящего сырья, ручная подмена цены и производство без реального сырьевого обеспечения.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532245" y="4083685"/>
            <a:ext cx="5072380" cy="1839595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41160" y="4211955"/>
            <a:ext cx="4699000" cy="43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Результат операции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741160" y="4586605"/>
            <a:ext cx="4699000" cy="953135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После completed-производства списывается сырьё и создаётся партия готовой продукции, доступная для контроля качества.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sz="3000" b="1">
                <a:solidFill>
                  <a:srgbClr val="4A372D"/>
                </a:solidFill>
                <a:latin typeface="Tahoma" panose="020B0604030504040204"/>
              </a:rPr>
              <a:t>Качество и отгрузка</a:t>
            </a:r>
            <a:endParaRPr lang="en-US" sz="3000" b="1" dirty="0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28320" y="1508760"/>
            <a:ext cx="2611755" cy="2670175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395" y="1637030"/>
            <a:ext cx="2228215" cy="494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sz="1900" b="1">
                <a:solidFill>
                  <a:srgbClr val="4A372D"/>
                </a:solidFill>
                <a:latin typeface="Tahoma" panose="020B0604030504040204"/>
              </a:rPr>
              <a:t>1. Проверка качества</a:t>
            </a:r>
            <a:endParaRPr sz="19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7395" y="2011680"/>
            <a:ext cx="2228215" cy="1416050"/>
          </a:xfrm>
          <a:prstGeom prst="rect">
            <a:avLst/>
          </a:prstGeom>
          <a:solidFill>
            <a:srgbClr val="FFFAF3"/>
          </a:solidFill>
          <a:ln w="10160">
            <a:noFill/>
          </a:ln>
        </p:spPr>
        <p:txBody>
          <a:bodyPr wrap="square">
            <a:norm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passed quality check обязателен для сырья и готовой продукции.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07410" y="1517015"/>
            <a:ext cx="2611755" cy="266192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6485" y="1645285"/>
            <a:ext cx="2228215" cy="494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2. Оплата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26485" y="2019935"/>
            <a:ext cx="2228215" cy="100330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rm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заказ нельзя отгрузить без paid invoice.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86500" y="1508760"/>
            <a:ext cx="2611755" cy="266192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5575" y="1637030"/>
            <a:ext cx="2228215" cy="494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3. Склад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05575" y="2011680"/>
            <a:ext cx="2228215" cy="100330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учитываются только непросроченные партии с положительным остатком.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165590" y="1517015"/>
            <a:ext cx="2611755" cy="263398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4665" y="1645285"/>
            <a:ext cx="2228215" cy="494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4. Отгрузка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84665" y="2019935"/>
            <a:ext cx="2228215" cy="100330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shipment item списывает finished_goods_stock транзакционно.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97840" y="4415790"/>
            <a:ext cx="5276850" cy="2194560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915" y="4544060"/>
            <a:ext cx="4893310" cy="494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Серверные проверки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16915" y="4918710"/>
            <a:ext cx="4893310" cy="92583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rm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нельзя отгрузить больше заказанного, выбрать партию другого продукта или провести shipment без покрытия позиций.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500495" y="4444365"/>
            <a:ext cx="5276850" cy="2135505"/>
          </a:xfrm>
          <a:prstGeom prst="roundRect">
            <a:avLst/>
          </a:prstGeom>
          <a:solidFill>
            <a:srgbClr val="FFFAF3"/>
          </a:solidFill>
          <a:ln w="10160">
            <a:solidFill>
              <a:srgbClr val="D2B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19570" y="4572635"/>
            <a:ext cx="4893310" cy="494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8A6653"/>
                </a:solidFill>
              </a14:hiddenFill>
            </a:ext>
          </a:extLst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4A372D"/>
                </a:solidFill>
                <a:latin typeface="Tahoma" panose="020B0604030504040204"/>
              </a:rPr>
              <a:t>Печатная форма</a:t>
            </a:r>
            <a:endParaRPr sz="2000" b="1">
              <a:solidFill>
                <a:srgbClr val="4A372D"/>
              </a:solidFill>
              <a:latin typeface="Tahoma" panose="020B060403050404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719570" y="4947285"/>
            <a:ext cx="4893310" cy="92583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AF3"/>
                </a:solidFill>
              </a14:hiddenFill>
            </a:ext>
          </a:extLst>
        </p:spPr>
        <p:txBody>
          <a:bodyPr wrap="square">
            <a:normAutofit/>
          </a:bodyPr>
          <a:lstStyle/>
          <a:p>
            <a:pPr algn="l"/>
            <a:r>
              <a:rPr b="0">
                <a:solidFill>
                  <a:srgbClr val="5A3E32"/>
                </a:solidFill>
                <a:latin typeface="Tahoma" panose="020B0604030504040204"/>
              </a:rPr>
              <a:t>отчёт по конкретной отгрузке доступен складу, администратору и клиенту только для своих данных.</a:t>
            </a:r>
            <a:endParaRPr b="0">
              <a:solidFill>
                <a:srgbClr val="5A3E32"/>
              </a:solidFill>
              <a:latin typeface="Tahoma" panose="020B060403050404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1.7322834645669,&quot;left&quot;:46.8,&quot;top&quot;:366.4,&quot;width&quot;:867.6}"/>
</p:tagLst>
</file>

<file path=ppt/tags/tag2.xml><?xml version="1.0" encoding="utf-8"?>
<p:tagLst xmlns:p="http://schemas.openxmlformats.org/presentationml/2006/main">
  <p:tag name="KSO_WM_DIAGRAM_VIRTUALLY_FRAME" val="{&quot;height&quot;:141.7322834645669,&quot;left&quot;:46.8,&quot;top&quot;:366.4,&quot;width&quot;:867.6}"/>
</p:tagLst>
</file>

<file path=ppt/tags/tag3.xml><?xml version="1.0" encoding="utf-8"?>
<p:tagLst xmlns:p="http://schemas.openxmlformats.org/presentationml/2006/main">
  <p:tag name="KSO_WM_DIAGRAM_VIRTUALLY_FRAME" val="{&quot;height&quot;:141.7322834645669,&quot;left&quot;:46.8,&quot;top&quot;:366.4,&quot;width&quot;:867.6}"/>
</p:tagLst>
</file>

<file path=ppt/tags/tag4.xml><?xml version="1.0" encoding="utf-8"?>
<p:tagLst xmlns:p="http://schemas.openxmlformats.org/presentationml/2006/main">
  <p:tag name="KSO_WM_DIAGRAM_VIRTUALLY_FRAME" val="{&quot;height&quot;:141.7322834645669,&quot;left&quot;:46.8,&quot;top&quot;:366.4,&quot;width&quot;:867.6}"/>
</p:tagLst>
</file>

<file path=ppt/tags/tag5.xml><?xml version="1.0" encoding="utf-8"?>
<p:tagLst xmlns:p="http://schemas.openxmlformats.org/presentationml/2006/main">
  <p:tag name="KSO_WM_DIAGRAM_VIRTUALLY_FRAME" val="{&quot;height&quot;:141.7322834645669,&quot;left&quot;:46.8,&quot;top&quot;:366.4,&quot;width&quot;:867.6}"/>
</p:tagLst>
</file>

<file path=ppt/tags/tag6.xml><?xml version="1.0" encoding="utf-8"?>
<p:tagLst xmlns:p="http://schemas.openxmlformats.org/presentationml/2006/main">
  <p:tag name="KSO_WM_DIAGRAM_VIRTUALLY_FRAME" val="{&quot;height&quot;:141.7322834645669,&quot;left&quot;:46.8,&quot;top&quot;:366.4,&quot;width&quot;:867.6}"/>
</p:tagLst>
</file>

<file path=ppt/tags/tag7.xml><?xml version="1.0" encoding="utf-8"?>
<p:tagLst xmlns:p="http://schemas.openxmlformats.org/presentationml/2006/main">
  <p:tag name="KSO_WM_DIAGRAM_VIRTUALLY_FRAME" val="{&quot;height&quot;:141.7322834645669,&quot;left&quot;:46.8,&quot;top&quot;:366.4,&quot;width&quot;:867.6}"/>
</p:tagLst>
</file>

<file path=ppt/tags/tag8.xml><?xml version="1.0" encoding="utf-8"?>
<p:tagLst xmlns:p="http://schemas.openxmlformats.org/presentationml/2006/main">
  <p:tag name="KSO_WM_DIAGRAM_VIRTUALLY_FRAME" val="{&quot;height&quot;:141.7322834645669,&quot;left&quot;:46.8,&quot;top&quot;:366.4,&quot;width&quot;:867.6}"/>
</p:tagLst>
</file>

<file path=ppt/tags/tag9.xml><?xml version="1.0" encoding="utf-8"?>
<p:tagLst xmlns:p="http://schemas.openxmlformats.org/presentationml/2006/main">
  <p:tag name="KSO_WM_DIAGRAM_VIRTUALLY_FRAME" val="{&quot;height&quot;:141.7322834645669,&quot;left&quot;:46.8,&quot;top&quot;:366.4,&quot;width&quot;:867.6}"/>
</p:tagLst>
</file>

<file path=ppt/tags/tag10.xml><?xml version="1.0" encoding="utf-8"?>
<p:tagLst xmlns:p="http://schemas.openxmlformats.org/presentationml/2006/main">
  <p:tag name="KSO_WM_DIAGRAM_VIRTUALLY_FRAME" val="{&quot;height&quot;:242.4,&quot;left&quot;:64.8,&quot;top&quot;:181,&quot;width&quot;:831.6}"/>
</p:tagLst>
</file>

<file path=ppt/tags/tag11.xml><?xml version="1.0" encoding="utf-8"?>
<p:tagLst xmlns:p="http://schemas.openxmlformats.org/presentationml/2006/main">
  <p:tag name="KSO_WM_DIAGRAM_VIRTUALLY_FRAME" val="{&quot;height&quot;:242.4,&quot;left&quot;:64.8,&quot;top&quot;:181,&quot;width&quot;:831.6}"/>
</p:tagLst>
</file>

<file path=ppt/tags/tag12.xml><?xml version="1.0" encoding="utf-8"?>
<p:tagLst xmlns:p="http://schemas.openxmlformats.org/presentationml/2006/main">
  <p:tag name="KSO_WM_DIAGRAM_VIRTUALLY_FRAME" val="{&quot;height&quot;:242.4,&quot;left&quot;:64.8,&quot;top&quot;:181,&quot;width&quot;:831.6}"/>
</p:tagLst>
</file>

<file path=ppt/tags/tag13.xml><?xml version="1.0" encoding="utf-8"?>
<p:tagLst xmlns:p="http://schemas.openxmlformats.org/presentationml/2006/main">
  <p:tag name="KSO_WM_DIAGRAM_VIRTUALLY_FRAME" val="{&quot;height&quot;:242.4,&quot;left&quot;:64.8,&quot;top&quot;:181,&quot;width&quot;:831.6}"/>
</p:tagLst>
</file>

<file path=ppt/tags/tag14.xml><?xml version="1.0" encoding="utf-8"?>
<p:tagLst xmlns:p="http://schemas.openxmlformats.org/presentationml/2006/main">
  <p:tag name="KSO_WM_DIAGRAM_VIRTUALLY_FRAME" val="{&quot;height&quot;:242.4,&quot;left&quot;:64.8,&quot;top&quot;:181,&quot;width&quot;:831.6}"/>
</p:tagLst>
</file>

<file path=ppt/tags/tag15.xml><?xml version="1.0" encoding="utf-8"?>
<p:tagLst xmlns:p="http://schemas.openxmlformats.org/presentationml/2006/main">
  <p:tag name="KSO_WM_DIAGRAM_VIRTUALLY_FRAME" val="{&quot;height&quot;:242.4,&quot;left&quot;:64.8,&quot;top&quot;:181,&quot;width&quot;:831.6}"/>
</p:tagLst>
</file>

<file path=ppt/tags/tag16.xml><?xml version="1.0" encoding="utf-8"?>
<p:tagLst xmlns:p="http://schemas.openxmlformats.org/presentationml/2006/main">
  <p:tag name="KSO_WM_DIAGRAM_VIRTUALLY_FRAME" val="{&quot;height&quot;:242.4,&quot;left&quot;:64.8,&quot;top&quot;:181,&quot;width&quot;:831.6}"/>
</p:tagLst>
</file>

<file path=ppt/tags/tag17.xml><?xml version="1.0" encoding="utf-8"?>
<p:tagLst xmlns:p="http://schemas.openxmlformats.org/presentationml/2006/main">
  <p:tag name="KSO_WM_DIAGRAM_VIRTUALLY_FRAME" val="{&quot;height&quot;:242.4,&quot;left&quot;:64.8,&quot;top&quot;:181,&quot;width&quot;:831.6}"/>
</p:tagLst>
</file>

<file path=ppt/tags/tag18.xml><?xml version="1.0" encoding="utf-8"?>
<p:tagLst xmlns:p="http://schemas.openxmlformats.org/presentationml/2006/main">
  <p:tag name="KSO_WM_DIAGRAM_VIRTUALLY_FRAME" val="{&quot;height&quot;:242.4,&quot;left&quot;:64.8,&quot;top&quot;:181,&quot;width&quot;:831.6}"/>
</p:tagLst>
</file>

<file path=ppt/tags/tag19.xml><?xml version="1.0" encoding="utf-8"?>
<p:tagLst xmlns:p="http://schemas.openxmlformats.org/presentationml/2006/main">
  <p:tag name="KSO_WM_DIAGRAM_VIRTUALLY_FRAME" val="{&quot;height&quot;:210.95999999999998,&quot;left&quot;:61.2,&quot;top&quot;:133.2,&quot;width&quot;:810}"/>
</p:tagLst>
</file>

<file path=ppt/tags/tag20.xml><?xml version="1.0" encoding="utf-8"?>
<p:tagLst xmlns:p="http://schemas.openxmlformats.org/presentationml/2006/main">
  <p:tag name="KSO_WM_DIAGRAM_VIRTUALLY_FRAME" val="{&quot;height&quot;:210.95999999999998,&quot;left&quot;:61.2,&quot;top&quot;:133.2,&quot;width&quot;:810}"/>
</p:tagLst>
</file>

<file path=ppt/tags/tag21.xml><?xml version="1.0" encoding="utf-8"?>
<p:tagLst xmlns:p="http://schemas.openxmlformats.org/presentationml/2006/main">
  <p:tag name="KSO_WM_DIAGRAM_VIRTUALLY_FRAME" val="{&quot;height&quot;:210.95999999999998,&quot;left&quot;:61.2,&quot;top&quot;:133.2,&quot;width&quot;:810}"/>
</p:tagLst>
</file>

<file path=ppt/tags/tag22.xml><?xml version="1.0" encoding="utf-8"?>
<p:tagLst xmlns:p="http://schemas.openxmlformats.org/presentationml/2006/main">
  <p:tag name="KSO_WM_DIAGRAM_VIRTUALLY_FRAME" val="{&quot;height&quot;:210.95999999999998,&quot;left&quot;:61.2,&quot;top&quot;:133.2,&quot;width&quot;:810}"/>
</p:tagLst>
</file>

<file path=ppt/tags/tag23.xml><?xml version="1.0" encoding="utf-8"?>
<p:tagLst xmlns:p="http://schemas.openxmlformats.org/presentationml/2006/main">
  <p:tag name="KSO_WM_DIAGRAM_VIRTUALLY_FRAME" val="{&quot;height&quot;:210.95999999999998,&quot;left&quot;:61.2,&quot;top&quot;:133.2,&quot;width&quot;:810}"/>
</p:tagLst>
</file>

<file path=ppt/tags/tag24.xml><?xml version="1.0" encoding="utf-8"?>
<p:tagLst xmlns:p="http://schemas.openxmlformats.org/presentationml/2006/main">
  <p:tag name="KSO_WM_DIAGRAM_VIRTUALLY_FRAME" val="{&quot;height&quot;:210.95999999999998,&quot;left&quot;:61.2,&quot;top&quot;:133.2,&quot;width&quot;:810}"/>
</p:tagLst>
</file>

<file path=ppt/tags/tag25.xml><?xml version="1.0" encoding="utf-8"?>
<p:tagLst xmlns:p="http://schemas.openxmlformats.org/presentationml/2006/main">
  <p:tag name="KSO_WM_DIAGRAM_VIRTUALLY_FRAME" val="{&quot;height&quot;:210.95999999999998,&quot;left&quot;:61.2,&quot;top&quot;:133.2,&quot;width&quot;:810}"/>
</p:tagLst>
</file>

<file path=ppt/tags/tag26.xml><?xml version="1.0" encoding="utf-8"?>
<p:tagLst xmlns:p="http://schemas.openxmlformats.org/presentationml/2006/main">
  <p:tag name="KSO_WM_DIAGRAM_VIRTUALLY_FRAME" val="{&quot;height&quot;:210.95999999999998,&quot;left&quot;:61.2,&quot;top&quot;:133.2,&quot;width&quot;:810}"/>
</p:tagLst>
</file>

<file path=ppt/tags/tag27.xml><?xml version="1.0" encoding="utf-8"?>
<p:tagLst xmlns:p="http://schemas.openxmlformats.org/presentationml/2006/main">
  <p:tag name="KSO_WM_DIAGRAM_VIRTUALLY_FRAME" val="{&quot;height&quot;:210.95999999999998,&quot;left&quot;:61.2,&quot;top&quot;:133.2,&quot;width&quot;:810}"/>
</p:tagLst>
</file>

<file path=ppt/tags/tag28.xml><?xml version="1.0" encoding="utf-8"?>
<p:tagLst xmlns:p="http://schemas.openxmlformats.org/presentationml/2006/main">
  <p:tag name="KSO_WM_DIAGRAM_VIRTUALLY_FRAME" val="{&quot;height&quot;:210.95999999999998,&quot;left&quot;:61.2,&quot;top&quot;:133.2,&quot;width&quot;:810}"/>
</p:tagLst>
</file>

<file path=ppt/tags/tag29.xml><?xml version="1.0" encoding="utf-8"?>
<p:tagLst xmlns:p="http://schemas.openxmlformats.org/presentationml/2006/main">
  <p:tag name="KSO_WM_DIAGRAM_VIRTUALLY_FRAME" val="{&quot;height&quot;:210.95999999999998,&quot;left&quot;:61.2,&quot;top&quot;:133.2,&quot;width&quot;:810}"/>
</p:tagLst>
</file>

<file path=ppt/tags/tag30.xml><?xml version="1.0" encoding="utf-8"?>
<p:tagLst xmlns:p="http://schemas.openxmlformats.org/presentationml/2006/main">
  <p:tag name="KSO_WM_DIAGRAM_VIRTUALLY_FRAME" val="{&quot;height&quot;:210.95999999999998,&quot;left&quot;:61.2,&quot;top&quot;:133.2,&quot;width&quot;:810}"/>
</p:tagLst>
</file>

<file path=ppt/tags/tag31.xml><?xml version="1.0" encoding="utf-8"?>
<p:tagLst xmlns:p="http://schemas.openxmlformats.org/presentationml/2006/main">
  <p:tag name="KSO_WM_DIAGRAM_VIRTUALLY_FRAME" val="{&quot;height&quot;:165.6,&quot;left&quot;:46.8,&quot;top&quot;:111.6,&quot;width&quot;:803.5}"/>
</p:tagLst>
</file>

<file path=ppt/tags/tag32.xml><?xml version="1.0" encoding="utf-8"?>
<p:tagLst xmlns:p="http://schemas.openxmlformats.org/presentationml/2006/main">
  <p:tag name="KSO_WM_DIAGRAM_VIRTUALLY_FRAME" val="{&quot;height&quot;:165.6,&quot;left&quot;:46.8,&quot;top&quot;:111.6,&quot;width&quot;:803.5}"/>
</p:tagLst>
</file>

<file path=ppt/tags/tag33.xml><?xml version="1.0" encoding="utf-8"?>
<p:tagLst xmlns:p="http://schemas.openxmlformats.org/presentationml/2006/main">
  <p:tag name="KSO_WM_DIAGRAM_VIRTUALLY_FRAME" val="{&quot;height&quot;:165.6,&quot;left&quot;:46.8,&quot;top&quot;:111.6,&quot;width&quot;:803.5}"/>
</p:tagLst>
</file>

<file path=ppt/tags/tag34.xml><?xml version="1.0" encoding="utf-8"?>
<p:tagLst xmlns:p="http://schemas.openxmlformats.org/presentationml/2006/main">
  <p:tag name="KSO_WM_DIAGRAM_VIRTUALLY_FRAME" val="{&quot;height&quot;:165.6,&quot;left&quot;:46.8,&quot;top&quot;:111.6,&quot;width&quot;:803.5}"/>
</p:tagLst>
</file>

<file path=ppt/tags/tag35.xml><?xml version="1.0" encoding="utf-8"?>
<p:tagLst xmlns:p="http://schemas.openxmlformats.org/presentationml/2006/main">
  <p:tag name="KSO_WM_DIAGRAM_VIRTUALLY_FRAME" val="{&quot;height&quot;:165.6,&quot;left&quot;:46.8,&quot;top&quot;:111.6,&quot;width&quot;:803.5}"/>
</p:tagLst>
</file>

<file path=ppt/tags/tag36.xml><?xml version="1.0" encoding="utf-8"?>
<p:tagLst xmlns:p="http://schemas.openxmlformats.org/presentationml/2006/main">
  <p:tag name="KSO_WM_DIAGRAM_VIRTUALLY_FRAME" val="{&quot;height&quot;:165.6,&quot;left&quot;:46.8,&quot;top&quot;:111.6,&quot;width&quot;:803.5}"/>
</p:tagLst>
</file>

<file path=ppt/tags/tag37.xml><?xml version="1.0" encoding="utf-8"?>
<p:tagLst xmlns:p="http://schemas.openxmlformats.org/presentationml/2006/main">
  <p:tag name="KSO_WM_DIAGRAM_VIRTUALLY_FRAME" val="{&quot;height&quot;:165.6,&quot;left&quot;:46.8,&quot;top&quot;:111.6,&quot;width&quot;:803.5}"/>
</p:tagLst>
</file>

<file path=ppt/tags/tag38.xml><?xml version="1.0" encoding="utf-8"?>
<p:tagLst xmlns:p="http://schemas.openxmlformats.org/presentationml/2006/main">
  <p:tag name="KSO_WM_DIAGRAM_VIRTUALLY_FRAME" val="{&quot;height&quot;:165.6,&quot;left&quot;:46.8,&quot;top&quot;:111.6,&quot;width&quot;:803.5}"/>
</p:tagLst>
</file>

<file path=ppt/tags/tag39.xml><?xml version="1.0" encoding="utf-8"?>
<p:tagLst xmlns:p="http://schemas.openxmlformats.org/presentationml/2006/main">
  <p:tag name="KSO_WM_DIAGRAM_VIRTUALLY_FRAME" val="{&quot;height&quot;:165.6,&quot;left&quot;:46.8,&quot;top&quot;:111.6,&quot;width&quot;:803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5295</Words>
  <Application>WPS Presentation</Application>
  <PresentationFormat>On-screen Show (16:9)</PresentationFormat>
  <Paragraphs>293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SimSun</vt:lpstr>
      <vt:lpstr>Wingdings</vt:lpstr>
      <vt:lpstr>Arial</vt:lpstr>
      <vt:lpstr>Arial</vt:lpstr>
      <vt:lpstr>Tahoma</vt:lpstr>
      <vt:lpstr>Arial</vt:lpstr>
      <vt:lpstr>Tahoma</vt:lpstr>
      <vt:lpstr>Courier New</vt:lpstr>
      <vt:lpstr>Courier New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МГТУ им. Н.Э. Баумана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защищенной БД информационной системы «Хлебозавод»</dc:title>
  <dc:creator>OpenAI</dc:creator>
  <dc:subject>БСБД — презентация</dc:subject>
  <cp:lastModifiedBy>Егор Девяткин</cp:lastModifiedBy>
  <cp:revision>14</cp:revision>
  <dcterms:created xsi:type="dcterms:W3CDTF">2026-05-11T22:26:00Z</dcterms:created>
  <dcterms:modified xsi:type="dcterms:W3CDTF">2026-05-12T23:17:18Z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981F026117294CB684CA26D8262BD3D1_13</vt:lpwstr>
  </property>
  <property fmtid="{D5CDD505-2E9C-101B-9397-08002B2CF9AE}" pid="3" name="KSOProductBuildVer">
    <vt:lpwstr>1049-12.2.0.23149</vt:lpwstr>
  </property>
</Properties>
</file>