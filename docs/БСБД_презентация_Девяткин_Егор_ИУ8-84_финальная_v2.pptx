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4A372D"/>
          </a:solidFill>
          <a:ln w="12700">
            <a:solidFill>
              <a:srgbClr val="4A37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3716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F2E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БСБД • Slop-Bakery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2EA"/>
          </a:solidFill>
          <a:ln w="12700">
            <a:solidFill>
              <a:srgbClr val="F8F2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372D"/>
          </a:solidFill>
          <a:ln w="12700">
            <a:solidFill>
              <a:srgbClr val="4A372D"/>
            </a:solidFill>
            <a:prstDash val="solid"/>
          </a:ln>
        </p:spPr>
      </p:sp>
      <p:pic>
        <p:nvPicPr>
          <p:cNvPr id="4" name="Image 0" descr="/mnt/data/latest_report_media/image1.jpe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759" y="1554480"/>
            <a:ext cx="1132202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65960" y="1627632"/>
            <a:ext cx="8595360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4A372D"/>
                </a:solidFill>
              </a:rPr>
              <a:t>Разработка защищенной БД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4A372D"/>
                </a:solidFill>
              </a:rPr>
              <a:t>информационной системы «Хлебозавод»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993392" y="2889504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5B53"/>
                </a:solidFill>
              </a:rPr>
              <a:t>Курсовая работа по дисциплине «Безопасность систем баз данных»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993392" y="3886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240280" y="4169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Slop-Bakery • PostgreSQL • FastAPI • Docker Compose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240280" y="449884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65B53"/>
                </a:solidFill>
              </a:rPr>
              <a:t>Е. Д. Девяткин, ИУ8-84 • Москва, 2026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Структура работы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Ключевые разделы курсовой работы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БД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3429000" cy="3234690"/>
          </a:xfrm>
          <a:prstGeom prst="roundRect">
            <a:avLst>
              <a:gd name="adj" fmla="val 2133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Проектирование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0000" y="2331720"/>
            <a:ext cx="2900000" cy="224028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1A17"/>
                </a:solidFill>
              </a:rPr>
              <a:t>• Предметная область и роли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1A17"/>
                </a:solidFill>
              </a:rPr>
              <a:t>• Инфологическая и физ. модели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1A17"/>
                </a:solidFill>
              </a:rPr>
              <a:t>• Ограничения и CHECK-правила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1A17"/>
                </a:solidFill>
              </a:rPr>
              <a:t>• SQL-запросы и отчёты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1F1A17"/>
                </a:solidFill>
              </a:rPr>
              <a:t>• Средства защиты, апробация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7178040" cy="321183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828800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Реализация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617720" y="233172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45973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1A17"/>
                </a:solidFill>
              </a:rPr>
              <a:t>Архитектура: FastAPI + Jinja2 + PostgreSQL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17720" y="315468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28269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1A17"/>
                </a:solidFill>
              </a:rPr>
              <a:t>Роли: admin, client, technologist, warehouse, quality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410565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1A17"/>
                </a:solidFill>
              </a:rPr>
              <a:t>Полный цикл: заказ → производство → отгрузка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955280" y="233172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245973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1A17"/>
                </a:solidFill>
              </a:rPr>
              <a:t>Исследование: 6 негативных сценариев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955280" y="315468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2440" y="328269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1A17"/>
                </a:solidFill>
              </a:rPr>
              <a:t>Развёртывание: Docker Compose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55280" y="397764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92440" y="4105656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1A17"/>
                </a:solidFill>
              </a:rPr>
              <a:t>Апробация: демонстрационный сценарий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Цель и задачи проекта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Защищённая база данных для автоматизации хлебозавода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Цель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3749040" cy="3000000"/>
          </a:xfrm>
          <a:prstGeom prst="roundRect">
            <a:avLst>
              <a:gd name="adj" fmla="val 1951"/>
            </a:avLst>
          </a:prstGeom>
          <a:solidFill>
            <a:srgbClr val="4A372D"/>
          </a:solidFill>
          <a:ln w="12700">
            <a:solidFill>
              <a:srgbClr val="4A372D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87452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Цель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71800" cy="114300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Разработать систему Slop-Bakery с контролем доступа, целостности данных и бизнес-операций.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6720840" cy="3000000"/>
          </a:xfrm>
          <a:prstGeom prst="roundRect">
            <a:avLst>
              <a:gd name="adj" fmla="val 1633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A372D"/>
                </a:solidFill>
              </a:rPr>
              <a:t>Задачи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74920" y="2423160"/>
            <a:ext cx="5669280" cy="246888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r>
              <a:t>• построить модели предметной области</a:t>
            </a:r>
          </a:p>
          <a:p>
            <a:r>
              <a:t>• реализовать PostgreSQL-схему</a:t>
            </a:r>
          </a:p>
          <a:p>
            <a:r>
              <a:t>• создать веб-интерфейс</a:t>
            </a:r>
          </a:p>
          <a:p>
            <a:r>
              <a:t>• настроить роли и права</a:t>
            </a:r>
          </a:p>
          <a:p>
            <a:r>
              <a:t>• проверить негативные сценарии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Предметная область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Полный цикл движения сырья, продукции и документов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Анализ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110185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pic>
        <p:nvPicPr>
          <p:cNvPr id="6" name="Image 0" descr="/mnt/data/latest_report_media/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1805" y="1618488"/>
            <a:ext cx="5223630" cy="18379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3840480"/>
            <a:ext cx="3337560" cy="1800000"/>
          </a:xfrm>
          <a:prstGeom prst="roundRect">
            <a:avLst>
              <a:gd name="adj" fmla="val 5161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069080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372D"/>
                </a:solidFill>
              </a:rPr>
              <a:t>Поставки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4434840"/>
            <a:ext cx="2468880" cy="5943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поставщик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сырьё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приёмка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434840" y="3840480"/>
            <a:ext cx="3337560" cy="1800000"/>
          </a:xfrm>
          <a:prstGeom prst="roundRect">
            <a:avLst>
              <a:gd name="adj" fmla="val 5161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09160" y="4069080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372D"/>
                </a:solidFill>
              </a:rPr>
              <a:t>Производство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709160" y="4434840"/>
            <a:ext cx="2468880" cy="5943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техкарта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партия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качество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75320" y="3840480"/>
            <a:ext cx="3337560" cy="1800000"/>
          </a:xfrm>
          <a:prstGeom prst="roundRect">
            <a:avLst>
              <a:gd name="adj" fmla="val 5161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549640" y="4069080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372D"/>
                </a:solidFill>
              </a:rPr>
              <a:t>Реализация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549640" y="4434840"/>
            <a:ext cx="2468880" cy="5943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заказ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оплата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1A17"/>
                </a:solidFill>
              </a:rPr>
              <a:t>• отгрузка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Роли пользователей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Интерфейс и действия разделены по зонам ответственности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Доступ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1920240" cy="2400000"/>
          </a:xfrm>
          <a:prstGeom prst="roundRect">
            <a:avLst>
              <a:gd name="adj" fmla="val 381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9339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admin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1554480" cy="10515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1A17"/>
                </a:solidFill>
              </a:rPr>
              <a:t>пользователи • аудит • статусы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737360"/>
            <a:ext cx="1920240" cy="24000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63240" y="199339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client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108960" y="2743200"/>
            <a:ext cx="1554480" cy="10515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1A17"/>
                </a:solidFill>
              </a:rPr>
              <a:t>свои заказы • счета • отгрузки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6360" y="1737360"/>
            <a:ext cx="1920240" cy="24000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199339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technologist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49240" y="2743200"/>
            <a:ext cx="1554480" cy="10515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1A17"/>
                </a:solidFill>
              </a:rPr>
              <a:t>техкарты • производство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1737360"/>
            <a:ext cx="1920240" cy="24000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43800" y="199339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warehouse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0" y="2743200"/>
            <a:ext cx="1554480" cy="10515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1A17"/>
                </a:solidFill>
              </a:rPr>
              <a:t>поставки • склад • отгрузки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2668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46920" y="1737360"/>
            <a:ext cx="1920240" cy="24000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784080" y="199339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quality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829800" y="2743200"/>
            <a:ext cx="1554480" cy="105156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1A17"/>
                </a:solidFill>
              </a:rPr>
              <a:t>проверки качества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96696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11680" y="5715000"/>
            <a:ext cx="8046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4A372D"/>
                </a:solidFill>
              </a:rPr>
              <a:t>Проверяется не только раздел, но и конкретное действие</a:t>
            </a:r>
            <a:endParaRPr lang="en-US" sz="16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Модель угроз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Защита от НСД, ошибок пользователя и нарушения целостности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Угрозы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154680" cy="2976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87452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Внутренние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697480"/>
            <a:ext cx="2286000" cy="14173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превышение прав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прямые URL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подмена POST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444752" y="4050200"/>
            <a:ext cx="1874520" cy="347472"/>
          </a:xfrm>
          <a:prstGeom prst="roundRect">
            <a:avLst>
              <a:gd name="adj" fmla="val 18421"/>
            </a:avLst>
          </a:prstGeom>
          <a:solidFill>
            <a:srgbClr val="9A6B4F"/>
          </a:solidFill>
          <a:ln w="12700">
            <a:solidFill>
              <a:srgbClr val="9A6B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4123352"/>
            <a:ext cx="172821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access control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26280" y="1600200"/>
            <a:ext cx="3154680" cy="2976880"/>
          </a:xfrm>
          <a:prstGeom prst="roundRect">
            <a:avLst>
              <a:gd name="adj" fmla="val 2319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87452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Внешние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83480" y="2697480"/>
            <a:ext cx="2286000" cy="14173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SQL-инъекции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подбор паролей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сканирование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48072" y="4050200"/>
            <a:ext cx="1874520" cy="347472"/>
          </a:xfrm>
          <a:prstGeom prst="roundRect">
            <a:avLst>
              <a:gd name="adj" fmla="val 18421"/>
            </a:avLst>
          </a:prstGeom>
          <a:solidFill>
            <a:srgbClr val="526B7E"/>
          </a:solidFill>
          <a:ln w="12700">
            <a:solidFill>
              <a:srgbClr val="526B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1224" y="4123352"/>
            <a:ext cx="172821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validation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0" y="1600200"/>
            <a:ext cx="3154680" cy="2976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8200" y="187452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Целостность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686800" y="2697480"/>
            <a:ext cx="2286000" cy="14173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ошибочные статусы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отрицательные остатки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дубли документов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1392" y="4050200"/>
            <a:ext cx="1874520" cy="347472"/>
          </a:xfrm>
          <a:prstGeom prst="roundRect">
            <a:avLst>
              <a:gd name="adj" fmla="val 18421"/>
            </a:avLst>
          </a:prstGeom>
          <a:solidFill>
            <a:srgbClr val="9A6B4F"/>
          </a:solidFill>
          <a:ln w="12700">
            <a:solidFill>
              <a:srgbClr val="9A6B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24544" y="4123352"/>
            <a:ext cx="172821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constraints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400" b="0">
                <a:solidFill>
                  <a:srgbClr val="4A372D"/>
                </a:solidFill>
                <a:latin typeface="Arial" panose="020B0604020202020204"/>
              </a:rPr>
              <a:t>Инфологическая модель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300" b="0">
                <a:solidFill>
                  <a:srgbClr val="665B53"/>
                </a:solidFill>
                <a:latin typeface="Arial" panose="020B0604020202020204"/>
              </a:rPr>
              <a:t>Схема предметной области описана через четыре связанных контура данных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rial" panose="020B0604020202020204"/>
              </a:rPr>
              <a:t>Модель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94360" y="1417320"/>
            <a:ext cx="4754880" cy="99822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Клиентский контур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8952" y="1920240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customers → customer_orders → order_items → invoices → shipments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623560" y="1417320"/>
            <a:ext cx="4754880" cy="99822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Поставочный контур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88152" y="1920240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suppliers → supplier_materials → deliveries → raw_material_stock → supplier_invoices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94360" y="2487295"/>
            <a:ext cx="4754880" cy="104521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261518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Производственный контур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8952" y="2990088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products → tech_cards → recipe_items → production_batches → finished_goods_stock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623560" y="2487295"/>
            <a:ext cx="4754880" cy="1051560"/>
          </a:xfrm>
          <a:prstGeom prst="roundRect">
            <a:avLst/>
          </a:prstGeom>
          <a:solidFill>
            <a:srgbClr val="F6D7DA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88152" y="261518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Контур качества и безопасности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88152" y="2990088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quality_checks контролируют допуск партий; users, roles и audit_log фиксируют доступ и действия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960120" y="3703320"/>
            <a:ext cx="9144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3831335"/>
            <a:ext cx="881481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Главная идея модели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24712" y="4206240"/>
            <a:ext cx="881481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42220"/>
                </a:solidFill>
                <a:latin typeface="Arial" panose="020B0604020202020204"/>
              </a:rPr>
              <a:t>Каждая операция привязана к документу и партии: заказ связан со счётом и отгрузкой, поставка — с поставщиком и сырьём, производство — с техкартой и контролем качества.</a:t>
            </a:r>
            <a:endParaRPr sz="14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103120" y="5230368"/>
            <a:ext cx="7132320" cy="411480"/>
          </a:xfrm>
          <a:prstGeom prst="roundRect">
            <a:avLst/>
          </a:prstGeom>
          <a:solidFill>
            <a:srgbClr val="4A372D"/>
          </a:solidFill>
          <a:ln>
            <a:solidFill>
              <a:srgbClr val="4A3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модель обеспечивает трассируемость: пользователь → действие → документ → партия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Логическая структура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Трёхуровневая архитектура с изолированным запуском через Docker Compose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Архитектура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67665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pic>
        <p:nvPicPr>
          <p:cNvPr id="6" name="Image 0" descr="/mnt/data/latest_report_media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00602"/>
            <a:ext cx="6547104" cy="29995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26680" y="146304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001000" y="17373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Роли уровней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092440" y="2240280"/>
            <a:ext cx="2743200" cy="16459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1F1A17"/>
                </a:solidFill>
              </a:rPr>
              <a:t>• Jinja2: интерфейс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1F1A17"/>
                </a:solidFill>
              </a:rPr>
              <a:t>• FastAPI: бизнес-логика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1F1A17"/>
                </a:solidFill>
              </a:rPr>
              <a:t>• PostgreSQL: данные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1F1A17"/>
                </a:solidFill>
              </a:rPr>
              <a:t>• Docker: воспроизводимость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94360" y="5212080"/>
            <a:ext cx="10698480" cy="566928"/>
          </a:xfrm>
          <a:prstGeom prst="roundRect">
            <a:avLst>
              <a:gd name="adj" fmla="val 12903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394960"/>
            <a:ext cx="102412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F1A17"/>
                </a:solidFill>
              </a:rPr>
              <a:t>Параметризованные SQL-запросы и серверная валидация разделяют данные, логику и представление.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Физическая модель PostgreSQL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Схема БД опирается на ключи, индексы, CHECK и статусные справочники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БД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92024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Ключи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514600" y="19476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1A17"/>
                </a:solidFill>
              </a:rPr>
              <a:t>PK/FK для связей документов и партий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2024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Индексы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01000" y="19476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1A17"/>
                </a:solidFill>
              </a:rPr>
              <a:t>уникальность номеров и запрет дублей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05840" y="352044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CHECK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14600" y="35478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1A17"/>
                </a:solidFill>
              </a:rPr>
              <a:t>количества, даты, paid_at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263640" y="32918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352044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372D"/>
                </a:solidFill>
              </a:rPr>
              <a:t>JSONB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01000" y="35478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F1A17"/>
                </a:solidFill>
              </a:rPr>
              <a:t>снимки old_data/new_data в аудите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50749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A372D"/>
                </a:solidFill>
              </a:rPr>
              <a:t>Пример ограничения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926080" y="505663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526B7E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UNIQUE invoice(order_id) WHERE status IN (issued, overdue, paid)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Жизненные циклы документов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Переходы статусов ограничены матрицами на сервере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Статусы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pic>
        <p:nvPicPr>
          <p:cNvPr id="6" name="Image 0" descr="/mnt/data/latest_report_media/image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4520"/>
            <a:ext cx="5349240" cy="1100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09360" y="1645920"/>
            <a:ext cx="5257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pic>
        <p:nvPicPr>
          <p:cNvPr id="8" name="Image 1" descr="/mnt/data/latest_report_media/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160" y="1924520"/>
            <a:ext cx="3066960" cy="100641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352044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pic>
        <p:nvPicPr>
          <p:cNvPr id="10" name="Image 2" descr="/mnt/data/latest_report_media/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60" y="3800000"/>
            <a:ext cx="2992120" cy="10000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09360" y="3520440"/>
            <a:ext cx="5257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pic>
        <p:nvPicPr>
          <p:cNvPr id="12" name="Image 3" descr="/mnt/data/latest_report_media/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200" y="3800000"/>
            <a:ext cx="2992120" cy="10000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5623560"/>
            <a:ext cx="96926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4A372D"/>
                </a:solidFill>
              </a:rPr>
              <a:t>Статус нельзя изменить “в обход” формы: проверка выполняется в обработчике действия.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101" name="Label_Order"/>
          <p:cNvSpPr/>
          <p:nvPr/>
        </p:nvSpPr>
        <p:spPr>
          <a:xfrm>
            <a:off x="640080" y="1645920"/>
            <a:ext cx="5440680" cy="228600"/>
          </a:xfrm>
          <a:prstGeom prst="rect">
            <a:avLst/>
          </a:prstGeom>
          <a:noFill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4A372D"/>
                </a:solidFill>
              </a:rPr>
              <a:t>Заказ клиента</a:t>
            </a:r>
            <a:endParaRPr lang="ru-RU" sz="1100" b="1" dirty="0">
              <a:solidFill>
                <a:srgbClr val="4A372D"/>
              </a:solidFill>
            </a:endParaRPr>
          </a:p>
        </p:txBody>
      </p:sp>
      <p:sp>
        <p:nvSpPr>
          <p:cNvPr id="102" name="Label_Delivery"/>
          <p:cNvSpPr/>
          <p:nvPr/>
        </p:nvSpPr>
        <p:spPr>
          <a:xfrm>
            <a:off x="6309360" y="1645920"/>
            <a:ext cx="5257800" cy="228600"/>
          </a:xfrm>
          <a:prstGeom prst="rect">
            <a:avLst/>
          </a:prstGeom>
          <a:noFill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4A372D"/>
                </a:solidFill>
              </a:rPr>
              <a:t>Поставка сырья</a:t>
            </a:r>
            <a:endParaRPr lang="ru-RU" sz="1100" b="1" dirty="0">
              <a:solidFill>
                <a:srgbClr val="4A372D"/>
              </a:solidFill>
            </a:endParaRPr>
          </a:p>
        </p:txBody>
      </p:sp>
      <p:sp>
        <p:nvSpPr>
          <p:cNvPr id="103" name="Label_Production"/>
          <p:cNvSpPr/>
          <p:nvPr/>
        </p:nvSpPr>
        <p:spPr>
          <a:xfrm>
            <a:off x="640080" y="3520440"/>
            <a:ext cx="5440680" cy="228600"/>
          </a:xfrm>
          <a:prstGeom prst="rect">
            <a:avLst/>
          </a:prstGeom>
          <a:noFill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4A372D"/>
                </a:solidFill>
              </a:rPr>
              <a:t>Производственная партия</a:t>
            </a:r>
            <a:endParaRPr lang="ru-RU" sz="1100" b="1" dirty="0">
              <a:solidFill>
                <a:srgbClr val="4A372D"/>
              </a:solidFill>
            </a:endParaRPr>
          </a:p>
        </p:txBody>
      </p:sp>
      <p:sp>
        <p:nvSpPr>
          <p:cNvPr id="104" name="Label_Shipment"/>
          <p:cNvSpPr/>
          <p:nvPr/>
        </p:nvSpPr>
        <p:spPr>
          <a:xfrm>
            <a:off x="6309360" y="3520440"/>
            <a:ext cx="5257800" cy="228600"/>
          </a:xfrm>
          <a:prstGeom prst="rect">
            <a:avLst/>
          </a:prstGeom>
          <a:noFill/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4A372D"/>
                </a:solidFill>
              </a:rPr>
              <a:t>Отгрузка</a:t>
            </a:r>
            <a:endParaRPr lang="ru-RU" sz="1100" b="1" dirty="0">
              <a:solidFill>
                <a:srgbClr val="4A372D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Выбор инструментов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Стек выбран для воспроизводимой реализации защищённой БД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Стек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154680" cy="12000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11680"/>
            <a:ext cx="2788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PostgreSQL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5915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5B53"/>
                </a:solidFill>
              </a:rPr>
              <a:t>ограничения • транзакции • роли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154680" cy="1200000"/>
          </a:xfrm>
          <a:prstGeom prst="roundRect">
            <a:avLst>
              <a:gd name="adj" fmla="val 7619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011680"/>
            <a:ext cx="2788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FastAPI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3440" y="235915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5B53"/>
                </a:solidFill>
              </a:rPr>
              <a:t>роутеры • middleware •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2440" y="1828800"/>
            <a:ext cx="3154680" cy="12000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5320" y="2011680"/>
            <a:ext cx="2788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Jinja2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21040" y="235915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5B53"/>
                </a:solidFill>
              </a:rPr>
              <a:t>серверный HTML-интерфейс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51760" y="4217640"/>
            <a:ext cx="3154680" cy="1200000"/>
          </a:xfrm>
          <a:prstGeom prst="roundRect">
            <a:avLst>
              <a:gd name="adj" fmla="val 7619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34640" y="4400520"/>
            <a:ext cx="2788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Docker Compose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880360" y="47479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5B53"/>
                </a:solidFill>
              </a:rPr>
              <a:t>db + web + healthcheck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92240" y="4217640"/>
            <a:ext cx="3154680" cy="12000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4400520"/>
            <a:ext cx="2788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372D"/>
                </a:solidFill>
              </a:rPr>
              <a:t>PowerShell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20840" y="47479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65B53"/>
                </a:solidFill>
              </a:rPr>
              <a:t>reset_db.ps1 • start_web.ps1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Средства защиты БД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Защита реализована на уровне СУБД и прикладной логики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Защита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3337560" cy="260000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8745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СУБД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2560320" cy="155448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SQL-роли и GRANT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PK/FK/CHECK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аудит через JSONB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337560" cy="2600000"/>
          </a:xfrm>
          <a:prstGeom prst="roundRect">
            <a:avLst>
              <a:gd name="adj" fmla="val 219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09160" y="18745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Приложение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09160" y="2560320"/>
            <a:ext cx="2560320" cy="155448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action-level permissions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object-level checks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обработка 403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83880" y="1600200"/>
            <a:ext cx="3337560" cy="260000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58200" y="18745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Данные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58200" y="2560320"/>
            <a:ext cx="2560320" cy="155448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bcrypt-хэши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параметризованный SQL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1A17"/>
                </a:solidFill>
              </a:rPr>
              <a:t>• валидация форм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400" b="0">
                <a:solidFill>
                  <a:srgbClr val="4A372D"/>
                </a:solidFill>
                <a:latin typeface="Arial" panose="020B0604020202020204"/>
              </a:rPr>
              <a:t>Интерфейс по ролям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300" b="0">
                <a:solidFill>
                  <a:srgbClr val="665B53"/>
                </a:solidFill>
                <a:latin typeface="Arial" panose="020B0604020202020204"/>
              </a:rPr>
              <a:t>Экранные формы показывают только те действия, которые нужны конкретному пользователю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rial" panose="020B0604020202020204"/>
              </a:rPr>
              <a:t>UI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94360" y="1417320"/>
            <a:ext cx="4754880" cy="120904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Клиент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8952" y="1920240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Личный кабинет, каталог продукции, собственные заказы, счета и отгрузки. Внутренняя статистика и аудит скрыты.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623560" y="1417320"/>
            <a:ext cx="4754880" cy="1204595"/>
          </a:xfrm>
          <a:prstGeom prst="roundRect">
            <a:avLst/>
          </a:prstGeom>
          <a:solidFill>
            <a:srgbClr val="F2E7DA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Администратор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88152" y="1920240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Полный контроль пользователей, статусов, счетов, отчётов и журнала аудита в рамках бизнес-правил.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94360" y="2761488"/>
            <a:ext cx="4754880" cy="105156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288950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Технолог и ОТК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8952" y="3264408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Техкарты, производство и проверки качества разделены по зонам ответственности.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623560" y="2761488"/>
            <a:ext cx="4754880" cy="105156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88152" y="288950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Склад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88152" y="3264408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Поставки, складские остатки, закрепление сырья за поставщиками и отгрузки клиентам.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1188720" y="4297680"/>
            <a:ext cx="8595360" cy="107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3312" y="4425696"/>
            <a:ext cx="82661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Назначение интерфейса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353312" y="4800600"/>
            <a:ext cx="8266176" cy="274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42220"/>
                </a:solidFill>
                <a:latin typeface="Arial" panose="020B0604020202020204"/>
              </a:rPr>
              <a:t>Интерфейс не является единственным уровнем защиты: все критичные операции дополнительно проверяются на сервере.</a:t>
            </a:r>
            <a:endParaRPr sz="1400" b="0">
              <a:solidFill>
                <a:srgbClr val="24222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400" b="0">
                <a:solidFill>
                  <a:srgbClr val="4A372D"/>
                </a:solidFill>
                <a:latin typeface="Arial" panose="020B0604020202020204"/>
              </a:rPr>
              <a:t>Заказ и оплата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300" b="0">
                <a:solidFill>
                  <a:srgbClr val="665B53"/>
                </a:solidFill>
                <a:latin typeface="Arial" panose="020B0604020202020204"/>
              </a:rPr>
              <a:t>Клиентский контур построен так, чтобы цена и статус не задавались пользователем вручную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rial" panose="020B0604020202020204"/>
              </a:rPr>
              <a:t>Заказ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1. Каталог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8580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клиент выбирает активную продукцию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24612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2. Draft-заказ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4612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создаётся только для текущего клиента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644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3. Счёт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80644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сумма считается по позициям заказа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36676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 panose="020B0604020202020204"/>
              </a:rPr>
              <a:t>4. Оплата</a:t>
            </a:r>
            <a:endParaRPr sz="13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36676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paid_at заполняется при оплате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85800" y="3337560"/>
            <a:ext cx="2926080" cy="127635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3465576"/>
            <a:ext cx="25968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Защита от подмены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0392" y="3840480"/>
            <a:ext cx="25968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customer_id, status_code и unit_price игнорируются или назначаются сервером.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3977640" y="3337560"/>
            <a:ext cx="2926080" cy="127635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1" y="3465576"/>
            <a:ext cx="25968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Целостность счёта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142231" y="3840480"/>
            <a:ext cx="25968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второй активный счёт по заказу блокируется индексом и проверкой приложения.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269480" y="3337560"/>
            <a:ext cx="2926080" cy="127635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34072" y="3465576"/>
            <a:ext cx="25968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Доступ клиента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434072" y="3840480"/>
            <a:ext cx="25968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оплата разрешена только для собственного issued или overdue invoice.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400" b="0">
                <a:solidFill>
                  <a:srgbClr val="4A372D"/>
                </a:solidFill>
                <a:latin typeface="Arial" panose="020B0604020202020204"/>
              </a:rPr>
              <a:t>Поставки и производство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300" b="0">
                <a:solidFill>
                  <a:srgbClr val="665B53"/>
                </a:solidFill>
                <a:latin typeface="Arial" panose="020B0604020202020204"/>
              </a:rPr>
              <a:t>Материальный поток контролируется через поставщика, качество, техкарту и складские остатки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rial" panose="020B0604020202020204"/>
              </a:rPr>
              <a:t>Процессы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94360" y="1417320"/>
            <a:ext cx="3063240" cy="141732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545336"/>
            <a:ext cx="273405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Поставка сырья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8952" y="1920240"/>
            <a:ext cx="2734056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Сырьё добавляется только если оно закреплено за поставщиком. Цена и срок поставки берутся из supplier_materials.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886200" y="1417320"/>
            <a:ext cx="3063240" cy="141732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50791" y="1545336"/>
            <a:ext cx="273405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Склад сырья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050791" y="1920240"/>
            <a:ext cx="2734056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planned-поставка не увеличивает остатки; партия появляется после приёмки и расчёта срока годности.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178040" y="1417320"/>
            <a:ext cx="3063240" cy="141732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42631" y="1545336"/>
            <a:ext cx="273405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Производство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42631" y="1920240"/>
            <a:ext cx="2734056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 panose="020B0604020202020204"/>
              </a:rPr>
              <a:t>Запуск возможен только по active tech card и при достаточном объёме проверенного сырья.</a:t>
            </a:r>
            <a:endParaRPr sz="130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914400" y="3337560"/>
            <a:ext cx="4480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2" y="3465576"/>
            <a:ext cx="41513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Зачем это нужно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78992" y="3840480"/>
            <a:ext cx="4151376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 panose="020B0604020202020204"/>
              </a:rPr>
              <a:t>Исключаются поставки неподходящего сырья, ручная подмена цены и производство без реального сырьевого обеспечения.</a:t>
            </a:r>
            <a:endParaRPr sz="13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5715000" y="3337560"/>
            <a:ext cx="4480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9592" y="3465576"/>
            <a:ext cx="41513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Результат операции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879592" y="3840480"/>
            <a:ext cx="4151376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 panose="020B0604020202020204"/>
              </a:rPr>
              <a:t>После completed-производства списывается сырьё и создаётся партия готовой продукции, доступная для контроля качества.</a:t>
            </a:r>
            <a:endParaRPr sz="13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920240" y="5074920"/>
            <a:ext cx="8138160" cy="411480"/>
          </a:xfrm>
          <a:prstGeom prst="roundRect">
            <a:avLst/>
          </a:prstGeom>
          <a:solidFill>
            <a:srgbClr val="4A372D"/>
          </a:solidFill>
          <a:ln>
            <a:solidFill>
              <a:srgbClr val="4A3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поставка → качество сырья → производство → качество готовой продукции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400" b="0">
                <a:solidFill>
                  <a:srgbClr val="4A372D"/>
                </a:solidFill>
                <a:latin typeface="Arial" panose="020B0604020202020204"/>
              </a:rPr>
              <a:t>Качество и отгрузка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300" b="0">
                <a:solidFill>
                  <a:srgbClr val="665B53"/>
                </a:solidFill>
                <a:latin typeface="Arial" panose="020B0604020202020204"/>
              </a:rPr>
              <a:t>Отгрузка разрешается только после оплаты, проверки качества и наличия остатка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rial" panose="020B0604020202020204"/>
              </a:rPr>
              <a:t>Контроль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508760"/>
            <a:ext cx="2240280" cy="1581785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1. Проверка качества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50392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passed quality check обязателен для сырья и готовой продукции.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246120" y="1508760"/>
            <a:ext cx="2240280" cy="1576705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10712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2. Оплата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10712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заказ нельзя отгрузить без paid invoice.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806440" y="1508760"/>
            <a:ext cx="2240280" cy="1576705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1031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3. Склад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71031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учитываются только непросроченные партии с положительным остатком.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366760" y="1508760"/>
            <a:ext cx="2240280" cy="1560195"/>
          </a:xfrm>
          <a:prstGeom prst="roundRect">
            <a:avLst/>
          </a:prstGeom>
          <a:solidFill>
            <a:srgbClr val="F6D7DA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31352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4. Отгрузка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531352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 panose="020B0604020202020204"/>
              </a:rPr>
              <a:t>shipment item списывает finished_goods_stock транзакционно.</a:t>
            </a:r>
            <a:endParaRPr sz="12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68680" y="3246120"/>
            <a:ext cx="4526280" cy="12998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1" y="3374136"/>
            <a:ext cx="4197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Серверные проверки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33271" y="3749039"/>
            <a:ext cx="41970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 panose="020B0604020202020204"/>
              </a:rPr>
              <a:t>нельзя отгрузить больше заказанного, выбрать партию другого продукта или провести shipment без покрытия позиций.</a:t>
            </a:r>
            <a:endParaRPr sz="13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715000" y="3246120"/>
            <a:ext cx="4526280" cy="126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79592" y="3374136"/>
            <a:ext cx="4197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 panose="020B0604020202020204"/>
              </a:rPr>
              <a:t>Печатная форма</a:t>
            </a:r>
            <a:endParaRPr sz="1500" b="1">
              <a:solidFill>
                <a:srgbClr val="4A372D"/>
              </a:solidFill>
              <a:latin typeface="Arial" panose="020B06040202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879592" y="3749039"/>
            <a:ext cx="41970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 panose="020B0604020202020204"/>
              </a:rPr>
              <a:t>отчёт по конкретной отгрузке доступен складу, администратору и клиенту только для своих данных.</a:t>
            </a:r>
            <a:endParaRPr sz="1350" b="0">
              <a:solidFill>
                <a:srgbClr val="242220"/>
              </a:solidFill>
              <a:latin typeface="Arial" panose="020B0604020202020204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1645920" y="5074920"/>
            <a:ext cx="8595360" cy="411480"/>
          </a:xfrm>
          <a:prstGeom prst="roundRect">
            <a:avLst/>
          </a:prstGeom>
          <a:solidFill>
            <a:srgbClr val="4A372D"/>
          </a:solidFill>
          <a:ln>
            <a:solidFill>
              <a:srgbClr val="4A3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ready + paid invoice + passed quality + sufficient stock = shipment allowed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Запросы и отчёты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Реализованы операции ввода, выборки, группировки и отчётные формы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Отчёты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5120640" cy="2800000"/>
          </a:xfrm>
          <a:prstGeom prst="roundRect">
            <a:avLst>
              <a:gd name="adj" fmla="val 1633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SQL-запросы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4343400" cy="16459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3 запроса ввода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DISTINCT и сортировки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группировка и агрегаты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дата и строковые функции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55080" y="1508760"/>
            <a:ext cx="4892040" cy="2800000"/>
          </a:xfrm>
          <a:prstGeom prst="roundRect">
            <a:avLst>
              <a:gd name="adj" fmla="val 1633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29400" y="1783080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372D"/>
                </a:solidFill>
              </a:rPr>
              <a:t>Отчёты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0" y="2514600"/>
            <a:ext cx="4023360" cy="1645920"/>
          </a:xfrm>
          <a:prstGeom prst="rect">
            <a:avLst/>
          </a:prstGeom>
          <a:noFill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склад сырья и ГП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заказы и продажи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производство и качество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F1A17"/>
                </a:solidFill>
              </a:rPr>
              <a:t>• отгрузка и аудит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Исследование защищённости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65B53"/>
                </a:solidFill>
              </a:rPr>
              <a:t>Негативные сценарии подтверждают работу ограничений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2E7DA"/>
                </a:solidFill>
              </a:rPr>
              <a:t>Тесты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773936"/>
            <a:ext cx="30632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A17"/>
                </a:solidFill>
              </a:rPr>
              <a:t>client → /audit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97680" y="1773936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B7C64"/>
                </a:solidFill>
              </a:rPr>
              <a:t>403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2962656"/>
            <a:ext cx="30632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A17"/>
                </a:solidFill>
              </a:rPr>
              <a:t>unit_price в POST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135120" y="2962910"/>
            <a:ext cx="1305560" cy="19621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 lnSpcReduction="10000"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B7C64"/>
                </a:solidFill>
              </a:rPr>
              <a:t>игнорируется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393192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4151376"/>
            <a:ext cx="30632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A17"/>
                </a:solidFill>
              </a:rPr>
              <a:t>отгрузка без оплаты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4151376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B7C64"/>
                </a:solidFill>
              </a:rPr>
              <a:t>запрещена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0" y="15544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9400" y="1773936"/>
            <a:ext cx="30632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A17"/>
                </a:solidFill>
              </a:rPr>
              <a:t>сырьё без QC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875520" y="1773936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B7C64"/>
                </a:solidFill>
              </a:rPr>
              <a:t>запрещено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0" y="274320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2962656"/>
            <a:ext cx="30632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A17"/>
                </a:solidFill>
              </a:rPr>
              <a:t>дубль invoice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692005" y="2962910"/>
            <a:ext cx="1326515" cy="20955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B7C64"/>
                </a:solidFill>
              </a:rPr>
              <a:t>блокируется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0" y="393192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blurRad="12700" dist="50800" dir="2700000" algn="bl" rotWithShape="0">
              <a:srgbClr val="A89483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29400" y="4151376"/>
            <a:ext cx="30632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F1A17"/>
                </a:solidFill>
              </a:rPr>
              <a:t>нет supplier_materials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875520" y="4151376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B7C64"/>
                </a:solidFill>
              </a:rPr>
              <a:t>ошибка формы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7095</Words>
  <Application>WPS Presentation</Application>
  <PresentationFormat>On-screen Show (16:9)</PresentationFormat>
  <Paragraphs>478</Paragraphs>
  <Slides>18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SimSun</vt:lpstr>
      <vt:lpstr>Wingdings</vt:lpstr>
      <vt:lpstr>Arial</vt:lpstr>
      <vt:lpstr>Arial</vt:lpstr>
      <vt:lpstr>Arial</vt:lpstr>
      <vt:lpstr>Courier New</vt:lpstr>
      <vt:lpstr>Courier New</vt:lpstr>
      <vt:lpstr>Courier New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МГТУ им. Н.Э. Баумана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защищенной БД информационной системы «Хлебозавод»</dc:title>
  <dc:creator>OpenAI</dc:creator>
  <dc:subject>БСБД — презентация</dc:subject>
  <cp:lastModifiedBy>Егор Девяткин</cp:lastModifiedBy>
  <cp:revision>2</cp:revision>
  <dcterms:created xsi:type="dcterms:W3CDTF">2026-05-11T22:26:00Z</dcterms:created>
  <dcterms:modified xsi:type="dcterms:W3CDTF">2026-05-12T08:49:00Z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1A07CB6F6C1A4023863FD4D703AE9E43_12</vt:lpwstr>
  </property>
  <property fmtid="{D5CDD505-2E9C-101B-9397-08002B2CF9AE}" pid="3" name="KSOProductBuildVer">
    <vt:lpwstr>1049-12.1.0.25862</vt:lpwstr>
  </property>
</Properties>
</file>